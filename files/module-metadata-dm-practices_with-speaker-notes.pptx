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y="5143500" cx="9144000"/>
  <p:notesSz cx="6858000" cy="9144000"/>
  <p:embeddedFontLst>
    <p:embeddedFont>
      <p:font typeface="Ubuntu"/>
      <p:regular r:id="rId72"/>
      <p:bold r:id="rId73"/>
      <p:italic r:id="rId74"/>
      <p:boldItalic r:id="rId75"/>
    </p:embeddedFont>
    <p:embeddedFont>
      <p:font typeface="Lato"/>
      <p:regular r:id="rId76"/>
      <p:bold r:id="rId77"/>
      <p:italic r:id="rId78"/>
      <p:boldItalic r:id="rId79"/>
    </p:embeddedFont>
    <p:embeddedFont>
      <p:font typeface="Helvetica Neue"/>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73BEFA-F1CF-4FF6-B1F8-6D50A9DD7A5A}">
  <a:tblStyle styleId="{0A73BEFA-F1CF-4FF6-B1F8-6D50A9DD7A5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schemas.openxmlformats.org/officeDocument/2006/relationships/font" Target="fonts/HelveticaNeue-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HelveticaNeue-regular.fntdata"/><Relationship Id="rId82" Type="http://schemas.openxmlformats.org/officeDocument/2006/relationships/font" Target="fonts/HelveticaNeue-italic.fntdata"/><Relationship Id="rId81" Type="http://schemas.openxmlformats.org/officeDocument/2006/relationships/font" Target="fonts/HelveticaNeu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Ubuntu-bold.fntdata"/><Relationship Id="rId72" Type="http://schemas.openxmlformats.org/officeDocument/2006/relationships/font" Target="fonts/Ubuntu-regular.fntdata"/><Relationship Id="rId31" Type="http://schemas.openxmlformats.org/officeDocument/2006/relationships/slide" Target="slides/slide25.xml"/><Relationship Id="rId75" Type="http://schemas.openxmlformats.org/officeDocument/2006/relationships/font" Target="fonts/Ubuntu-boldItalic.fntdata"/><Relationship Id="rId30" Type="http://schemas.openxmlformats.org/officeDocument/2006/relationships/slide" Target="slides/slide24.xml"/><Relationship Id="rId74" Type="http://schemas.openxmlformats.org/officeDocument/2006/relationships/font" Target="fonts/Ubuntu-italic.fntdata"/><Relationship Id="rId33" Type="http://schemas.openxmlformats.org/officeDocument/2006/relationships/slide" Target="slides/slide27.xml"/><Relationship Id="rId77" Type="http://schemas.openxmlformats.org/officeDocument/2006/relationships/font" Target="fonts/Lato-bold.fntdata"/><Relationship Id="rId32" Type="http://schemas.openxmlformats.org/officeDocument/2006/relationships/slide" Target="slides/slide26.xml"/><Relationship Id="rId76" Type="http://schemas.openxmlformats.org/officeDocument/2006/relationships/font" Target="fonts/Lato-regular.fntdata"/><Relationship Id="rId35" Type="http://schemas.openxmlformats.org/officeDocument/2006/relationships/slide" Target="slides/slide29.xml"/><Relationship Id="rId79" Type="http://schemas.openxmlformats.org/officeDocument/2006/relationships/font" Target="fonts/Lato-boldItalic.fntdata"/><Relationship Id="rId34" Type="http://schemas.openxmlformats.org/officeDocument/2006/relationships/slide" Target="slides/slide28.xml"/><Relationship Id="rId78" Type="http://schemas.openxmlformats.org/officeDocument/2006/relationships/font" Target="fonts/Lato-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bisweden.github.io/module-metadata-dm-practices/files/samples_metadata_lesson.csv"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bi.ac.uk/ols/ontologies/hp"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bi.ac.uk/ols/ontologies/bto"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ublincore.org/specifications/dublin-core/dce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bi.ac.uk/ena/browser/view/ERC000033"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bisweden.github.io/module-metadata-dm-practices/files/samples_metadata_lesson.csv"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bisweden.github.io/module-metadata-dm-practices/04-data-dictionary/01-what-is-the-problem"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bi.ac.uk/ena/browser/checklists"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fairsharing.org/" TargetMode="External"/><Relationship Id="rId3" Type="http://schemas.openxmlformats.org/officeDocument/2006/relationships/hyperlink" Target="https://www.ebi.ac.uk/" TargetMode="External"/><Relationship Id="rId4" Type="http://schemas.openxmlformats.org/officeDocument/2006/relationships/hyperlink" Target="https://www.ebi.ac.uk/spot/ontology/" TargetMode="External"/><Relationship Id="rId5" Type="http://schemas.openxmlformats.org/officeDocument/2006/relationships/hyperlink" Target="https://www.ebi.ac.uk/spot/zooma/" TargetMode="External"/><Relationship Id="rId6" Type="http://schemas.openxmlformats.org/officeDocument/2006/relationships/hyperlink" Target="https://www.ebi.ac.uk/ols/index"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bisweden.github.io/module-metadata-dm-practices/files/samples_metadata_lesson.csv"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lipart.org/detail/216996/computer" TargetMode="External"/><Relationship Id="rId3" Type="http://schemas.openxmlformats.org/officeDocument/2006/relationships/hyperlink" Target="https://openclipart.org/detail/300668/spreadsheet-document-icon-with-no-text" TargetMode="External"/><Relationship Id="rId4" Type="http://schemas.openxmlformats.org/officeDocument/2006/relationships/hyperlink" Target="https://www.cdc.gov/other/agencymaterials.html" TargetMode="External"/><Relationship Id="rId5" Type="http://schemas.openxmlformats.org/officeDocument/2006/relationships/hyperlink" Target="https://www.cdc.gov/coronavirus/2019-ncov/lab/guidelines-clinical-specimens.html" TargetMode="External"/><Relationship Id="rId6" Type="http://schemas.openxmlformats.org/officeDocument/2006/relationships/hyperlink" Target="http://www.cdc.gov/coronavirus/2019-ncov/downloads/lab/NP-Specimen-Collection-Infographic.pdf"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f6a3a447e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f6a3a447e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bd6759ae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bd6759ae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To understand how the data you produce has been generated, it is important to document descriptions of this, so that you, your collaborators, and someone else can understand it later on.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Actually, you yourself is the most likely recipient of this information, because “it is the doom of men that they forget”, as someone said.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bd6759aef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bd6759aef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This - “the data about the data (or anything really)” - is what we call metadata.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However, it might not always be straightforward to draw a line between data and metadata. It depends on the particular research interest and focus of the person looking at the data and metadata. </a:t>
            </a:r>
            <a:br>
              <a:rPr lang="en-GB" sz="1050">
                <a:solidFill>
                  <a:srgbClr val="333333"/>
                </a:solidFill>
                <a:highlight>
                  <a:srgbClr val="FFFFFF"/>
                </a:highlight>
                <a:latin typeface="Helvetica Neue"/>
                <a:ea typeface="Helvetica Neue"/>
                <a:cs typeface="Helvetica Neue"/>
                <a:sym typeface="Helvetica Neue"/>
              </a:rPr>
            </a:b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“One </a:t>
            </a:r>
            <a:r>
              <a:rPr lang="en-GB" sz="1050">
                <a:solidFill>
                  <a:srgbClr val="333333"/>
                </a:solidFill>
                <a:highlight>
                  <a:srgbClr val="FFFFFF"/>
                </a:highlight>
                <a:latin typeface="Helvetica Neue"/>
                <a:ea typeface="Helvetica Neue"/>
                <a:cs typeface="Helvetica Neue"/>
                <a:sym typeface="Helvetica Neue"/>
              </a:rPr>
              <a:t>person's</a:t>
            </a:r>
            <a:r>
              <a:rPr lang="en-GB" sz="1050">
                <a:solidFill>
                  <a:srgbClr val="333333"/>
                </a:solidFill>
                <a:highlight>
                  <a:srgbClr val="FFFFFF"/>
                </a:highlight>
                <a:latin typeface="Helvetica Neue"/>
                <a:ea typeface="Helvetica Neue"/>
                <a:cs typeface="Helvetica Neue"/>
                <a:sym typeface="Helvetica Neue"/>
              </a:rPr>
              <a:t> metadata, is another </a:t>
            </a:r>
            <a:r>
              <a:rPr lang="en-GB" sz="1050">
                <a:solidFill>
                  <a:srgbClr val="333333"/>
                </a:solidFill>
                <a:highlight>
                  <a:srgbClr val="FFFFFF"/>
                </a:highlight>
                <a:latin typeface="Helvetica Neue"/>
                <a:ea typeface="Helvetica Neue"/>
                <a:cs typeface="Helvetica Neue"/>
                <a:sym typeface="Helvetica Neue"/>
              </a:rPr>
              <a:t>person's</a:t>
            </a:r>
            <a:r>
              <a:rPr lang="en-GB" sz="1050">
                <a:solidFill>
                  <a:srgbClr val="333333"/>
                </a:solidFill>
                <a:highlight>
                  <a:srgbClr val="FFFFFF"/>
                </a:highlight>
                <a:latin typeface="Helvetica Neue"/>
                <a:ea typeface="Helvetica Neue"/>
                <a:cs typeface="Helvetica Neue"/>
                <a:sym typeface="Helvetica Neue"/>
              </a:rPr>
              <a:t> data”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bd6759aef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bd6759aef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Some of this information might describe the particulars of a whole study. Some of it will describe detailed particulars of the different components of a study or experiment. Such as, for example:</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i="1" lang="en-GB" sz="1050">
                <a:solidFill>
                  <a:srgbClr val="333333"/>
                </a:solidFill>
                <a:highlight>
                  <a:srgbClr val="FFFFFF"/>
                </a:highlight>
                <a:latin typeface="Helvetica Neue"/>
                <a:ea typeface="Helvetica Neue"/>
                <a:cs typeface="Helvetica Neue"/>
                <a:sym typeface="Helvetica Neue"/>
              </a:rPr>
              <a:t>See slide</a:t>
            </a:r>
            <a:endParaRPr i="1" sz="105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0f4c8541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0f4c8541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Metadata touches all of the stages of the data lifecycle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0f4c8541c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0f4c8541c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Metadata is central to the FAIR principles. Your data can not be FAIR without good metadata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bd6759aef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bd6759aef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50800" marR="50800" rtl="0" algn="l">
              <a:lnSpc>
                <a:spcPct val="115000"/>
              </a:lnSpc>
              <a:spcBef>
                <a:spcPts val="400"/>
              </a:spcBef>
              <a:spcAft>
                <a:spcPts val="0"/>
              </a:spcAft>
              <a:buClr>
                <a:schemeClr val="dk1"/>
              </a:buClr>
              <a:buSzPts val="1100"/>
              <a:buFont typeface="Arial"/>
              <a:buNone/>
            </a:pPr>
            <a:r>
              <a:rPr lang="en-GB" sz="1050">
                <a:solidFill>
                  <a:srgbClr val="333333"/>
                </a:solidFill>
                <a:latin typeface="Helvetica Neue"/>
                <a:ea typeface="Helvetica Neue"/>
                <a:cs typeface="Helvetica Neue"/>
                <a:sym typeface="Helvetica Neue"/>
              </a:rPr>
              <a:t>If you have not done so already, create a folder on your computer for the course</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Clr>
                <a:schemeClr val="dk1"/>
              </a:buClr>
              <a:buSzPts val="1100"/>
              <a:buFont typeface="Arial"/>
              <a:buNone/>
            </a:pPr>
            <a:r>
              <a:rPr lang="en-GB" sz="1050">
                <a:solidFill>
                  <a:srgbClr val="333333"/>
                </a:solidFill>
                <a:latin typeface="Helvetica Neue"/>
                <a:ea typeface="Helvetica Neue"/>
                <a:cs typeface="Helvetica Neue"/>
                <a:sym typeface="Helvetica Neue"/>
              </a:rPr>
              <a:t>Download the example datafile </a:t>
            </a:r>
            <a:r>
              <a:rPr lang="en-GB" sz="1050">
                <a:solidFill>
                  <a:srgbClr val="204A6F"/>
                </a:solidFill>
                <a:uFill>
                  <a:noFill/>
                </a:uFill>
                <a:latin typeface="Helvetica Neue"/>
                <a:ea typeface="Helvetica Neue"/>
                <a:cs typeface="Helvetica Neue"/>
                <a:sym typeface="Helvetica Neue"/>
                <a:hlinkClick r:id="rId2">
                  <a:extLst>
                    <a:ext uri="{A12FA001-AC4F-418D-AE19-62706E023703}">
                      <ahyp:hlinkClr val="tx"/>
                    </a:ext>
                  </a:extLst>
                </a:hlinkClick>
              </a:rPr>
              <a:t>samples_metadata_lesson.csv</a:t>
            </a:r>
            <a:r>
              <a:rPr lang="en-GB" sz="1050">
                <a:solidFill>
                  <a:srgbClr val="333333"/>
                </a:solidFill>
                <a:latin typeface="Helvetica Neue"/>
                <a:ea typeface="Helvetica Neue"/>
                <a:cs typeface="Helvetica Neue"/>
                <a:sym typeface="Helvetica Neue"/>
              </a:rPr>
              <a:t>, and save it the folder for the course on your computer.</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40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This is a so called CSV (Comma Separated Values) file. A CSV file is a text file that contains tabular data, where the content for different columns is separated by commas (,) and often enclosed by quotes (‘ or “).</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CSV files can be opened by text editor programs, as well as by spreadsheet programs such as e.g. Microsoft Excel, LibreOffice Calc, or Google Spreadsheet. Viewing the content of a CSV file will in many cases be easier in a spreadsheet program than in a text editor.</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800"/>
              </a:spcBef>
              <a:spcAft>
                <a:spcPts val="0"/>
              </a:spcAft>
              <a:buClr>
                <a:schemeClr val="dk1"/>
              </a:buClr>
              <a:buSzPts val="1100"/>
              <a:buFont typeface="Arial"/>
              <a:buNone/>
            </a:pPr>
            <a:r>
              <a:rPr lang="en-GB" sz="1050">
                <a:solidFill>
                  <a:srgbClr val="333333"/>
                </a:solidFill>
                <a:latin typeface="Helvetica Neue"/>
                <a:ea typeface="Helvetica Neue"/>
                <a:cs typeface="Helvetica Neue"/>
                <a:sym typeface="Helvetica Neue"/>
              </a:rPr>
              <a:t>Open the samples_metadata_lesson.csv file in a program of choice.</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40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The first line of the file contains the headers for the different columns. The rest of the lines contain information about a number of samples from a study.</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800"/>
              </a:spcBef>
              <a:spcAft>
                <a:spcPts val="0"/>
              </a:spcAft>
              <a:buClr>
                <a:schemeClr val="dk1"/>
              </a:buClr>
              <a:buSzPts val="1100"/>
              <a:buFont typeface="Arial"/>
              <a:buNone/>
            </a:pPr>
            <a:r>
              <a:rPr lang="en-GB" sz="1050">
                <a:solidFill>
                  <a:srgbClr val="333333"/>
                </a:solidFill>
                <a:latin typeface="Helvetica Neue"/>
                <a:ea typeface="Helvetica Neue"/>
                <a:cs typeface="Helvetica Neue"/>
                <a:sym typeface="Helvetica Neue"/>
              </a:rPr>
              <a:t>Look at the content of the file and discuss with your neighbour</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40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What are some of the problems you see with the descriptions of the samples?</a:t>
            </a:r>
            <a:endParaRPr sz="1050">
              <a:solidFill>
                <a:srgbClr val="333333"/>
              </a:solidFill>
              <a:latin typeface="Helvetica Neue"/>
              <a:ea typeface="Helvetica Neue"/>
              <a:cs typeface="Helvetica Neue"/>
              <a:sym typeface="Helvetica Neue"/>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d6759aef6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d6759aef6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bd6759aef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bd6759aef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To be properly useful, the metadata should be understandable over time - for you and others.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And to follow the FAIR principles, others means computer programs as well as humans.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You also need to be consistent when describing metadata, e.g. do not mix different date formats, or use synonyms for the same phenomena.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bd6759aef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bd6759aef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How much metadata should you document? You can look at this at different levels.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The minimal level is the metadata necessary for you to do your particular analysis.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A further level is the metadata necessary for someone to understand the data.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Going further, documenting all the metadata you have might allow future analysis (by you or others) outside of the scope of your original study.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 good principle can be “how can I make this dataset as useful as possible for others?”.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We will discuss this more in the Metadata standards part of this lesson.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bd6759aef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bd6759aef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050">
                <a:solidFill>
                  <a:srgbClr val="333333"/>
                </a:solidFill>
                <a:highlight>
                  <a:srgbClr val="FFFFFF"/>
                </a:highlight>
                <a:latin typeface="Helvetica Neue"/>
                <a:ea typeface="Helvetica Neue"/>
                <a:cs typeface="Helvetica Neue"/>
                <a:sym typeface="Helvetica Neue"/>
              </a:rPr>
              <a:t>02. Controlled vocabularies &amp; ontologies</a:t>
            </a:r>
            <a:endParaRPr b="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Someone once said “A biologist would rather share a toothbrush with another biologist than share a gene name”. This is probably true for other domains of research too.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If we all stick to our own devices and name things as we see fit without regarding our fellow researchers we run the risk of being inconsistent and unclear.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To help with consistency when describing our data, we can use standardized term collections -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Controlled vocabularies,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Ontologies,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Thesauruses, and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Taxonomies.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i="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i="1" lang="en-GB" sz="1050">
                <a:solidFill>
                  <a:srgbClr val="333333"/>
                </a:solidFill>
                <a:highlight>
                  <a:srgbClr val="FFFFFF"/>
                </a:highlight>
                <a:latin typeface="Helvetica Neue"/>
                <a:ea typeface="Helvetica Neue"/>
                <a:cs typeface="Helvetica Neue"/>
                <a:sym typeface="Helvetica Neue"/>
              </a:rPr>
              <a:t>The names for these different types of collections are often used interchangeably</a:t>
            </a:r>
            <a:r>
              <a:rPr lang="en-GB" sz="1050">
                <a:solidFill>
                  <a:srgbClr val="333333"/>
                </a:solidFill>
                <a:highlight>
                  <a:srgbClr val="FFFFFF"/>
                </a:highlight>
                <a:latin typeface="Helvetica Neue"/>
                <a:ea typeface="Helvetica Neue"/>
                <a:cs typeface="Helvetica Neue"/>
                <a:sym typeface="Helvetica Neue"/>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bd6759aef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bd6759aef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Discuss with your neighbour about how many different medical conditions you think this list of terms describes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bd6759aef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bd6759aef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MeSH (Medical Subject Headings) lists the following synonyms</a:t>
            </a:r>
            <a:endParaRPr sz="1050">
              <a:solidFill>
                <a:srgbClr val="333333"/>
              </a:solidFill>
              <a:latin typeface="Helvetica Neue"/>
              <a:ea typeface="Helvetica Neue"/>
              <a:cs typeface="Helvetica Neue"/>
              <a:sym typeface="Helvetica Neue"/>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bd6759aef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bd6759aef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 </a:t>
            </a:r>
            <a:r>
              <a:rPr b="1" lang="en-GB" sz="1050">
                <a:solidFill>
                  <a:srgbClr val="333333"/>
                </a:solidFill>
                <a:highlight>
                  <a:srgbClr val="FFFFFF"/>
                </a:highlight>
                <a:latin typeface="Helvetica Neue"/>
                <a:ea typeface="Helvetica Neue"/>
                <a:cs typeface="Helvetica Neue"/>
                <a:sym typeface="Helvetica Neue"/>
              </a:rPr>
              <a:t>Controlled vocabulary</a:t>
            </a:r>
            <a:r>
              <a:rPr lang="en-GB" sz="1050">
                <a:solidFill>
                  <a:srgbClr val="333333"/>
                </a:solidFill>
                <a:highlight>
                  <a:srgbClr val="FFFFFF"/>
                </a:highlight>
                <a:latin typeface="Helvetica Neue"/>
                <a:ea typeface="Helvetica Neue"/>
                <a:cs typeface="Helvetica Neue"/>
                <a:sym typeface="Helvetica Neue"/>
              </a:rPr>
              <a:t> is a list of terms that describes a certain domain of knowledge.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In the controlled vocabulary you only use one term to describe one particular phenomenon, excluding all other synonyms.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The vocabulary should provide a </a:t>
            </a:r>
            <a:r>
              <a:rPr i="1" lang="en-GB" sz="1050">
                <a:solidFill>
                  <a:srgbClr val="333333"/>
                </a:solidFill>
                <a:highlight>
                  <a:srgbClr val="FFFFFF"/>
                </a:highlight>
                <a:latin typeface="Helvetica Neue"/>
                <a:ea typeface="Helvetica Neue"/>
                <a:cs typeface="Helvetica Neue"/>
                <a:sym typeface="Helvetica Neue"/>
              </a:rPr>
              <a:t>definition</a:t>
            </a:r>
            <a:r>
              <a:rPr lang="en-GB" sz="1050">
                <a:solidFill>
                  <a:srgbClr val="333333"/>
                </a:solidFill>
                <a:highlight>
                  <a:srgbClr val="FFFFFF"/>
                </a:highlight>
                <a:latin typeface="Helvetica Neue"/>
                <a:ea typeface="Helvetica Neue"/>
                <a:cs typeface="Helvetica Neue"/>
                <a:sym typeface="Helvetica Neue"/>
              </a:rPr>
              <a:t> for the term, and any </a:t>
            </a:r>
            <a:r>
              <a:rPr i="1" lang="en-GB" sz="1050">
                <a:solidFill>
                  <a:srgbClr val="333333"/>
                </a:solidFill>
                <a:highlight>
                  <a:srgbClr val="FFFFFF"/>
                </a:highlight>
                <a:latin typeface="Helvetica Neue"/>
                <a:ea typeface="Helvetica Neue"/>
                <a:cs typeface="Helvetica Neue"/>
                <a:sym typeface="Helvetica Neue"/>
              </a:rPr>
              <a:t>synonyms</a:t>
            </a:r>
            <a:r>
              <a:rPr lang="en-GB" sz="1050">
                <a:solidFill>
                  <a:srgbClr val="333333"/>
                </a:solidFill>
                <a:highlight>
                  <a:srgbClr val="FFFFFF"/>
                </a:highlight>
                <a:latin typeface="Helvetica Neue"/>
                <a:ea typeface="Helvetica Neue"/>
                <a:cs typeface="Helvetica Neue"/>
                <a:sym typeface="Helvetica Neue"/>
              </a:rPr>
              <a:t>.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In a publicly managed controlled vocabulary, the terms should also have unique </a:t>
            </a:r>
            <a:r>
              <a:rPr i="1" lang="en-GB" sz="1050">
                <a:solidFill>
                  <a:srgbClr val="333333"/>
                </a:solidFill>
                <a:highlight>
                  <a:srgbClr val="FFFFFF"/>
                </a:highlight>
                <a:latin typeface="Helvetica Neue"/>
                <a:ea typeface="Helvetica Neue"/>
                <a:cs typeface="Helvetica Neue"/>
                <a:sym typeface="Helvetica Neue"/>
              </a:rPr>
              <a:t>identifiers</a:t>
            </a:r>
            <a:r>
              <a:rPr lang="en-GB" sz="1050">
                <a:solidFill>
                  <a:srgbClr val="333333"/>
                </a:solidFill>
                <a:highlight>
                  <a:srgbClr val="FFFFFF"/>
                </a:highlight>
                <a:latin typeface="Helvetica Neue"/>
                <a:ea typeface="Helvetica Neue"/>
                <a:cs typeface="Helvetica Neue"/>
                <a:sym typeface="Helvetica Neue"/>
              </a:rPr>
              <a:t>, so that they can be referenced.</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Go through the example of the MeSH entry for Sepsis</a:t>
            </a:r>
            <a:endParaRPr sz="105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d6759aef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d6759aef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An </a:t>
            </a:r>
            <a:r>
              <a:rPr b="1" lang="en-GB" sz="1050">
                <a:solidFill>
                  <a:srgbClr val="333333"/>
                </a:solidFill>
                <a:highlight>
                  <a:srgbClr val="FFFFFF"/>
                </a:highlight>
                <a:latin typeface="Helvetica Neue"/>
                <a:ea typeface="Helvetica Neue"/>
                <a:cs typeface="Helvetica Neue"/>
                <a:sym typeface="Helvetica Neue"/>
              </a:rPr>
              <a:t>ontology</a:t>
            </a:r>
            <a:r>
              <a:rPr lang="en-GB" sz="1050">
                <a:solidFill>
                  <a:srgbClr val="333333"/>
                </a:solidFill>
                <a:highlight>
                  <a:srgbClr val="FFFFFF"/>
                </a:highlight>
                <a:latin typeface="Helvetica Neue"/>
                <a:ea typeface="Helvetica Neue"/>
                <a:cs typeface="Helvetica Neue"/>
                <a:sym typeface="Helvetica Neue"/>
              </a:rPr>
              <a:t> (in this context) is a controlled vocabulary, that </a:t>
            </a:r>
            <a:r>
              <a:rPr lang="en-GB" sz="1050">
                <a:solidFill>
                  <a:srgbClr val="333333"/>
                </a:solidFill>
                <a:highlight>
                  <a:srgbClr val="FFFFFF"/>
                </a:highlight>
                <a:latin typeface="Helvetica Neue"/>
                <a:ea typeface="Helvetica Neue"/>
                <a:cs typeface="Helvetica Neue"/>
                <a:sym typeface="Helvetica Neue"/>
              </a:rPr>
              <a:t>apart</a:t>
            </a:r>
            <a:r>
              <a:rPr lang="en-GB" sz="1050">
                <a:solidFill>
                  <a:srgbClr val="333333"/>
                </a:solidFill>
                <a:highlight>
                  <a:srgbClr val="FFFFFF"/>
                </a:highlight>
                <a:latin typeface="Helvetica Neue"/>
                <a:ea typeface="Helvetica Neue"/>
                <a:cs typeface="Helvetica Neue"/>
                <a:sym typeface="Helvetica Neue"/>
              </a:rPr>
              <a:t> from being a list of agreed terms, also captures </a:t>
            </a:r>
            <a:r>
              <a:rPr b="1" lang="en-GB" sz="1050">
                <a:solidFill>
                  <a:srgbClr val="333333"/>
                </a:solidFill>
                <a:highlight>
                  <a:srgbClr val="FFFFFF"/>
                </a:highlight>
                <a:latin typeface="Helvetica Neue"/>
                <a:ea typeface="Helvetica Neue"/>
                <a:cs typeface="Helvetica Neue"/>
                <a:sym typeface="Helvetica Neue"/>
              </a:rPr>
              <a:t>relationships</a:t>
            </a:r>
            <a:r>
              <a:rPr lang="en-GB" sz="1050">
                <a:solidFill>
                  <a:srgbClr val="333333"/>
                </a:solidFill>
                <a:highlight>
                  <a:srgbClr val="FFFFFF"/>
                </a:highlight>
                <a:latin typeface="Helvetica Neue"/>
                <a:ea typeface="Helvetica Neue"/>
                <a:cs typeface="Helvetica Neue"/>
                <a:sym typeface="Helvetica Neue"/>
              </a:rPr>
              <a:t> between these terms.</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Some common examples of relationships are: is a, part of, contained in, produced by.</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Terms are organised in hierarchies / trees.</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Note that a term can be in several places in the hierarchy.</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 couple of examples: </a:t>
            </a:r>
            <a:r>
              <a:rPr b="1" lang="en-GB" sz="1050">
                <a:solidFill>
                  <a:srgbClr val="333333"/>
                </a:solidFill>
                <a:highlight>
                  <a:srgbClr val="FFFFFF"/>
                </a:highlight>
                <a:latin typeface="Helvetica Neue"/>
                <a:ea typeface="Helvetica Neue"/>
                <a:cs typeface="Helvetica Neue"/>
                <a:sym typeface="Helvetica Neue"/>
              </a:rPr>
              <a:t>next slide</a:t>
            </a:r>
            <a:endParaRPr b="1" sz="105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bd6759aef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bd6759aef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In the </a:t>
            </a:r>
            <a:r>
              <a:rPr lang="en-GB" sz="1050">
                <a:solidFill>
                  <a:srgbClr val="204A6F"/>
                </a:solidFill>
                <a:highlight>
                  <a:srgbClr val="FFFFFF"/>
                </a:highlight>
                <a:uFill>
                  <a:noFill/>
                </a:uFill>
                <a:latin typeface="Helvetica Neue"/>
                <a:ea typeface="Helvetica Neue"/>
                <a:cs typeface="Helvetica Neue"/>
                <a:sym typeface="Helvetica Neue"/>
                <a:hlinkClick r:id="rId2">
                  <a:extLst>
                    <a:ext uri="{A12FA001-AC4F-418D-AE19-62706E023703}">
                      <ahyp:hlinkClr val="tx"/>
                    </a:ext>
                  </a:extLst>
                </a:hlinkClick>
              </a:rPr>
              <a:t>Human Phenotype Ontology</a:t>
            </a:r>
            <a:r>
              <a:rPr lang="en-GB" sz="1050">
                <a:solidFill>
                  <a:srgbClr val="333333"/>
                </a:solidFill>
                <a:highlight>
                  <a:srgbClr val="FFFFFF"/>
                </a:highlight>
                <a:latin typeface="Helvetica Neue"/>
                <a:ea typeface="Helvetica Neue"/>
                <a:cs typeface="Helvetica Neue"/>
                <a:sym typeface="Helvetica Neue"/>
              </a:rPr>
              <a:t>, </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None/>
            </a:pPr>
            <a:r>
              <a:rPr lang="en-GB" sz="1050">
                <a:solidFill>
                  <a:srgbClr val="333333"/>
                </a:solidFill>
                <a:highlight>
                  <a:srgbClr val="FFFFFF"/>
                </a:highlight>
                <a:latin typeface="Helvetica Neue"/>
                <a:ea typeface="Helvetica Neue"/>
                <a:cs typeface="Helvetica Neue"/>
                <a:sym typeface="Helvetica Neue"/>
              </a:rPr>
              <a:t>Looking at the term </a:t>
            </a:r>
            <a:r>
              <a:rPr b="1" lang="en-GB" sz="1050">
                <a:solidFill>
                  <a:srgbClr val="333333"/>
                </a:solidFill>
                <a:highlight>
                  <a:srgbClr val="FFFFFF"/>
                </a:highlight>
                <a:latin typeface="Helvetica Neue"/>
                <a:ea typeface="Helvetica Neue"/>
                <a:cs typeface="Helvetica Neue"/>
                <a:sym typeface="Helvetica Neue"/>
              </a:rPr>
              <a:t>Myocardial infarction,</a:t>
            </a:r>
            <a:r>
              <a:rPr lang="en-GB" sz="1050">
                <a:solidFill>
                  <a:srgbClr val="333333"/>
                </a:solidFill>
                <a:highlight>
                  <a:srgbClr val="FFFFFF"/>
                </a:highlight>
                <a:latin typeface="Helvetica Neue"/>
                <a:ea typeface="Helvetica Neue"/>
                <a:cs typeface="Helvetica Neue"/>
                <a:sym typeface="Helvetica Neue"/>
              </a:rPr>
              <a:t> </a:t>
            </a:r>
            <a:r>
              <a:rPr lang="en-GB" sz="1050">
                <a:solidFill>
                  <a:srgbClr val="333333"/>
                </a:solidFill>
                <a:highlight>
                  <a:srgbClr val="FFFFFF"/>
                </a:highlight>
                <a:latin typeface="Helvetica Neue"/>
                <a:ea typeface="Helvetica Neue"/>
                <a:cs typeface="Helvetica Neue"/>
                <a:sym typeface="Helvetica Neue"/>
              </a:rPr>
              <a:t>we can see that it </a:t>
            </a:r>
            <a:r>
              <a:rPr lang="en-GB" sz="1050">
                <a:solidFill>
                  <a:srgbClr val="333333"/>
                </a:solidFill>
                <a:highlight>
                  <a:srgbClr val="FFFFFF"/>
                </a:highlight>
                <a:latin typeface="Helvetica Neue"/>
                <a:ea typeface="Helvetica Neue"/>
                <a:cs typeface="Helvetica Neue"/>
                <a:sym typeface="Helvetica Neue"/>
              </a:rPr>
              <a:t>is a </a:t>
            </a:r>
            <a:r>
              <a:rPr i="1" lang="en-GB" sz="1050">
                <a:solidFill>
                  <a:srgbClr val="333333"/>
                </a:solidFill>
                <a:highlight>
                  <a:srgbClr val="FFFFFF"/>
                </a:highlight>
                <a:latin typeface="Helvetica Neue"/>
                <a:ea typeface="Helvetica Neue"/>
                <a:cs typeface="Helvetica Neue"/>
                <a:sym typeface="Helvetica Neue"/>
              </a:rPr>
              <a:t>type</a:t>
            </a:r>
            <a:r>
              <a:rPr lang="en-GB" sz="1050">
                <a:solidFill>
                  <a:srgbClr val="333333"/>
                </a:solidFill>
                <a:highlight>
                  <a:srgbClr val="FFFFFF"/>
                </a:highlight>
                <a:latin typeface="Helvetica Neue"/>
                <a:ea typeface="Helvetica Neue"/>
                <a:cs typeface="Helvetica Neue"/>
                <a:sym typeface="Helvetica Neue"/>
              </a:rPr>
              <a:t> of </a:t>
            </a:r>
            <a:r>
              <a:rPr b="1" lang="en-GB" sz="1050">
                <a:solidFill>
                  <a:srgbClr val="333333"/>
                </a:solidFill>
                <a:highlight>
                  <a:srgbClr val="FFFFFF"/>
                </a:highlight>
                <a:latin typeface="Helvetica Neue"/>
                <a:ea typeface="Helvetica Neue"/>
                <a:cs typeface="Helvetica Neue"/>
                <a:sym typeface="Helvetica Neue"/>
              </a:rPr>
              <a:t>Abnormal cardiovascular system physiology</a:t>
            </a:r>
            <a:r>
              <a:rPr lang="en-GB" sz="1050">
                <a:solidFill>
                  <a:srgbClr val="333333"/>
                </a:solidFill>
                <a:highlight>
                  <a:srgbClr val="FFFFFF"/>
                </a:highlight>
                <a:latin typeface="Helvetica Neue"/>
                <a:ea typeface="Helvetica Neue"/>
                <a:cs typeface="Helvetica Neue"/>
                <a:sym typeface="Helvetica Neue"/>
              </a:rPr>
              <a:t> is a </a:t>
            </a:r>
            <a:r>
              <a:rPr i="1" lang="en-GB" sz="1050">
                <a:solidFill>
                  <a:srgbClr val="333333"/>
                </a:solidFill>
                <a:highlight>
                  <a:srgbClr val="FFFFFF"/>
                </a:highlight>
                <a:latin typeface="Helvetica Neue"/>
                <a:ea typeface="Helvetica Neue"/>
                <a:cs typeface="Helvetica Neue"/>
                <a:sym typeface="Helvetica Neue"/>
              </a:rPr>
              <a:t>type</a:t>
            </a:r>
            <a:r>
              <a:rPr lang="en-GB" sz="1050">
                <a:solidFill>
                  <a:srgbClr val="333333"/>
                </a:solidFill>
                <a:highlight>
                  <a:srgbClr val="FFFFFF"/>
                </a:highlight>
                <a:latin typeface="Helvetica Neue"/>
                <a:ea typeface="Helvetica Neue"/>
                <a:cs typeface="Helvetica Neue"/>
                <a:sym typeface="Helvetica Neue"/>
              </a:rPr>
              <a:t> of </a:t>
            </a:r>
            <a:r>
              <a:rPr b="1" lang="en-GB" sz="1050">
                <a:solidFill>
                  <a:srgbClr val="333333"/>
                </a:solidFill>
                <a:highlight>
                  <a:srgbClr val="FFFFFF"/>
                </a:highlight>
                <a:latin typeface="Helvetica Neue"/>
                <a:ea typeface="Helvetica Neue"/>
                <a:cs typeface="Helvetica Neue"/>
                <a:sym typeface="Helvetica Neue"/>
              </a:rPr>
              <a:t>Abnormality of the cardiovascular system</a:t>
            </a:r>
            <a:r>
              <a:rPr lang="en-GB" sz="1050">
                <a:solidFill>
                  <a:srgbClr val="333333"/>
                </a:solidFill>
                <a:highlight>
                  <a:srgbClr val="FFFFFF"/>
                </a:highlight>
                <a:latin typeface="Helvetica Neue"/>
                <a:ea typeface="Helvetica Neue"/>
                <a:cs typeface="Helvetica Neue"/>
                <a:sym typeface="Helvetica Neue"/>
              </a:rPr>
              <a:t> is a </a:t>
            </a:r>
            <a:r>
              <a:rPr i="1" lang="en-GB" sz="1050">
                <a:solidFill>
                  <a:srgbClr val="333333"/>
                </a:solidFill>
                <a:highlight>
                  <a:srgbClr val="FFFFFF"/>
                </a:highlight>
                <a:latin typeface="Helvetica Neue"/>
                <a:ea typeface="Helvetica Neue"/>
                <a:cs typeface="Helvetica Neue"/>
                <a:sym typeface="Helvetica Neue"/>
              </a:rPr>
              <a:t>type</a:t>
            </a:r>
            <a:r>
              <a:rPr lang="en-GB" sz="1050">
                <a:solidFill>
                  <a:srgbClr val="333333"/>
                </a:solidFill>
                <a:highlight>
                  <a:srgbClr val="FFFFFF"/>
                </a:highlight>
                <a:latin typeface="Helvetica Neue"/>
                <a:ea typeface="Helvetica Neue"/>
                <a:cs typeface="Helvetica Neue"/>
                <a:sym typeface="Helvetica Neue"/>
              </a:rPr>
              <a:t> of </a:t>
            </a:r>
            <a:r>
              <a:rPr b="1" lang="en-GB" sz="1050">
                <a:solidFill>
                  <a:srgbClr val="333333"/>
                </a:solidFill>
                <a:highlight>
                  <a:srgbClr val="FFFFFF"/>
                </a:highlight>
                <a:latin typeface="Helvetica Neue"/>
                <a:ea typeface="Helvetica Neue"/>
                <a:cs typeface="Helvetica Neue"/>
                <a:sym typeface="Helvetica Neue"/>
              </a:rPr>
              <a:t>Phenotypic abnormality</a:t>
            </a:r>
            <a:r>
              <a:rPr lang="en-GB" sz="1050">
                <a:solidFill>
                  <a:srgbClr val="333333"/>
                </a:solidFill>
                <a:highlight>
                  <a:srgbClr val="FFFFFF"/>
                </a:highlight>
                <a:latin typeface="Helvetica Neue"/>
                <a:ea typeface="Helvetica Neue"/>
                <a:cs typeface="Helvetica Neue"/>
                <a:sym typeface="Helvetica Neue"/>
              </a:rPr>
              <a:t>.</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None/>
            </a:pPr>
            <a:r>
              <a:rPr lang="en-GB" sz="1050">
                <a:solidFill>
                  <a:srgbClr val="333333"/>
                </a:solidFill>
                <a:highlight>
                  <a:srgbClr val="FFFFFF"/>
                </a:highlight>
                <a:latin typeface="Helvetica Neue"/>
                <a:ea typeface="Helvetica Neue"/>
                <a:cs typeface="Helvetica Neue"/>
                <a:sym typeface="Helvetica Neue"/>
              </a:rPr>
              <a:t>We can also see the definition, synonyms, id. It also has cross references to corresponding terms in other ontologies</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bd6759aef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bd6759aef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in the </a:t>
            </a:r>
            <a:r>
              <a:rPr lang="en-GB" sz="1050">
                <a:solidFill>
                  <a:srgbClr val="204A6F"/>
                </a:solidFill>
                <a:highlight>
                  <a:srgbClr val="FFFFFF"/>
                </a:highlight>
                <a:uFill>
                  <a:noFill/>
                </a:uFill>
                <a:latin typeface="Helvetica Neue"/>
                <a:ea typeface="Helvetica Neue"/>
                <a:cs typeface="Helvetica Neue"/>
                <a:sym typeface="Helvetica Neue"/>
                <a:hlinkClick r:id="rId2">
                  <a:extLst>
                    <a:ext uri="{A12FA001-AC4F-418D-AE19-62706E023703}">
                      <ahyp:hlinkClr val="tx"/>
                    </a:ext>
                  </a:extLst>
                </a:hlinkClick>
              </a:rPr>
              <a:t>BRENDA Tissue Ontology</a:t>
            </a:r>
            <a:r>
              <a:rPr lang="en-GB" sz="1050">
                <a:solidFill>
                  <a:srgbClr val="333333"/>
                </a:solidFill>
                <a:highlight>
                  <a:srgbClr val="FFFFFF"/>
                </a:highlight>
                <a:latin typeface="Helvetica Neue"/>
                <a:ea typeface="Helvetica Neue"/>
                <a:cs typeface="Helvetica Neue"/>
                <a:sym typeface="Helvetica Neue"/>
              </a:rPr>
              <a:t>, the </a:t>
            </a:r>
            <a:r>
              <a:rPr b="1" lang="en-GB" sz="1050">
                <a:solidFill>
                  <a:srgbClr val="333333"/>
                </a:solidFill>
                <a:highlight>
                  <a:srgbClr val="FFFFFF"/>
                </a:highlight>
                <a:latin typeface="Helvetica Neue"/>
                <a:ea typeface="Helvetica Neue"/>
                <a:cs typeface="Helvetica Neue"/>
                <a:sym typeface="Helvetica Neue"/>
              </a:rPr>
              <a:t>heart valve</a:t>
            </a:r>
            <a:r>
              <a:rPr lang="en-GB" sz="1050">
                <a:solidFill>
                  <a:srgbClr val="333333"/>
                </a:solidFill>
                <a:highlight>
                  <a:srgbClr val="FFFFFF"/>
                </a:highlight>
                <a:latin typeface="Helvetica Neue"/>
                <a:ea typeface="Helvetica Neue"/>
                <a:cs typeface="Helvetica Neue"/>
                <a:sym typeface="Helvetica Neue"/>
              </a:rPr>
              <a:t> is a </a:t>
            </a:r>
            <a:r>
              <a:rPr i="1" lang="en-GB" sz="1050">
                <a:solidFill>
                  <a:srgbClr val="333333"/>
                </a:solidFill>
                <a:highlight>
                  <a:srgbClr val="FFFFFF"/>
                </a:highlight>
                <a:latin typeface="Helvetica Neue"/>
                <a:ea typeface="Helvetica Neue"/>
                <a:cs typeface="Helvetica Neue"/>
                <a:sym typeface="Helvetica Neue"/>
              </a:rPr>
              <a:t>part</a:t>
            </a:r>
            <a:r>
              <a:rPr lang="en-GB" sz="1050">
                <a:solidFill>
                  <a:srgbClr val="333333"/>
                </a:solidFill>
                <a:highlight>
                  <a:srgbClr val="FFFFFF"/>
                </a:highlight>
                <a:latin typeface="Helvetica Neue"/>
                <a:ea typeface="Helvetica Neue"/>
                <a:cs typeface="Helvetica Neue"/>
                <a:sym typeface="Helvetica Neue"/>
              </a:rPr>
              <a:t> of the </a:t>
            </a:r>
            <a:r>
              <a:rPr b="1" lang="en-GB" sz="1050">
                <a:solidFill>
                  <a:srgbClr val="333333"/>
                </a:solidFill>
                <a:highlight>
                  <a:srgbClr val="FFFFFF"/>
                </a:highlight>
                <a:latin typeface="Helvetica Neue"/>
                <a:ea typeface="Helvetica Neue"/>
                <a:cs typeface="Helvetica Neue"/>
                <a:sym typeface="Helvetica Neue"/>
              </a:rPr>
              <a:t>heart</a:t>
            </a:r>
            <a:r>
              <a:rPr lang="en-GB" sz="1050">
                <a:solidFill>
                  <a:srgbClr val="333333"/>
                </a:solidFill>
                <a:highlight>
                  <a:srgbClr val="FFFFFF"/>
                </a:highlight>
                <a:latin typeface="Helvetica Neue"/>
                <a:ea typeface="Helvetica Neue"/>
                <a:cs typeface="Helvetica Neue"/>
                <a:sym typeface="Helvetica Neue"/>
              </a:rPr>
              <a:t> is a </a:t>
            </a:r>
            <a:r>
              <a:rPr i="1" lang="en-GB" sz="1050">
                <a:solidFill>
                  <a:srgbClr val="333333"/>
                </a:solidFill>
                <a:highlight>
                  <a:srgbClr val="FFFFFF"/>
                </a:highlight>
                <a:latin typeface="Helvetica Neue"/>
                <a:ea typeface="Helvetica Neue"/>
                <a:cs typeface="Helvetica Neue"/>
                <a:sym typeface="Helvetica Neue"/>
              </a:rPr>
              <a:t>part</a:t>
            </a:r>
            <a:r>
              <a:rPr lang="en-GB" sz="1050">
                <a:solidFill>
                  <a:srgbClr val="333333"/>
                </a:solidFill>
                <a:highlight>
                  <a:srgbClr val="FFFFFF"/>
                </a:highlight>
                <a:latin typeface="Helvetica Neue"/>
                <a:ea typeface="Helvetica Neue"/>
                <a:cs typeface="Helvetica Neue"/>
                <a:sym typeface="Helvetica Neue"/>
              </a:rPr>
              <a:t> of the </a:t>
            </a:r>
            <a:r>
              <a:rPr b="1" lang="en-GB" sz="1050">
                <a:solidFill>
                  <a:srgbClr val="333333"/>
                </a:solidFill>
                <a:highlight>
                  <a:srgbClr val="FFFFFF"/>
                </a:highlight>
                <a:latin typeface="Helvetica Neue"/>
                <a:ea typeface="Helvetica Neue"/>
                <a:cs typeface="Helvetica Neue"/>
                <a:sym typeface="Helvetica Neue"/>
              </a:rPr>
              <a:t>cardiovascular system</a:t>
            </a:r>
            <a:r>
              <a:rPr lang="en-GB" sz="1050">
                <a:solidFill>
                  <a:srgbClr val="333333"/>
                </a:solidFill>
                <a:highlight>
                  <a:srgbClr val="FFFFFF"/>
                </a:highlight>
                <a:latin typeface="Helvetica Neue"/>
                <a:ea typeface="Helvetica Neue"/>
                <a:cs typeface="Helvetica Neue"/>
                <a:sym typeface="Helvetica Neue"/>
              </a:rPr>
              <a:t> is a </a:t>
            </a:r>
            <a:r>
              <a:rPr i="1" lang="en-GB" sz="1050">
                <a:solidFill>
                  <a:srgbClr val="333333"/>
                </a:solidFill>
                <a:highlight>
                  <a:srgbClr val="FFFFFF"/>
                </a:highlight>
                <a:latin typeface="Helvetica Neue"/>
                <a:ea typeface="Helvetica Neue"/>
                <a:cs typeface="Helvetica Neue"/>
                <a:sym typeface="Helvetica Neue"/>
              </a:rPr>
              <a:t>part</a:t>
            </a:r>
            <a:r>
              <a:rPr lang="en-GB" sz="1050">
                <a:solidFill>
                  <a:srgbClr val="333333"/>
                </a:solidFill>
                <a:highlight>
                  <a:srgbClr val="FFFFFF"/>
                </a:highlight>
                <a:latin typeface="Helvetica Neue"/>
                <a:ea typeface="Helvetica Neue"/>
                <a:cs typeface="Helvetica Neue"/>
                <a:sym typeface="Helvetica Neue"/>
              </a:rPr>
              <a:t> of the whole body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d6759aef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d6759aef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As you see, depending on the way you look at reality, the domains of knowledge have to be structured in several different ways.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b="1" lang="en-GB" sz="1050">
                <a:solidFill>
                  <a:srgbClr val="333333"/>
                </a:solidFill>
                <a:highlight>
                  <a:srgbClr val="FFFFFF"/>
                </a:highlight>
                <a:latin typeface="Helvetica Neue"/>
                <a:ea typeface="Helvetica Neue"/>
                <a:cs typeface="Helvetica Neue"/>
                <a:sym typeface="Helvetica Neue"/>
              </a:rPr>
              <a:t>There is no all-encompassing ontology that captures everything. </a:t>
            </a:r>
            <a:endParaRPr b="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You will have to rely on several different ontologies to describe your research. The question is which ontologies to choose.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d6759aef6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d6759aef6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You can decide to make your own controlled vocabularies.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It might seem like less work than finding good ones that already exist.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In the long run, you are better off using publicly managed vocabularies and lists, as much of the thinking about describing different domains has already been done.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Another important aspects is that it will support the machine-readability aspect of FAIR. With unique identifiers for terms that describes your data (and their relationships), it can be possible for computer code to generate knowledge descriptions from data.</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bd6759aef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bd6759aef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050">
                <a:solidFill>
                  <a:srgbClr val="333333"/>
                </a:solidFill>
                <a:highlight>
                  <a:srgbClr val="FFFFFF"/>
                </a:highlight>
                <a:latin typeface="Helvetica Neue"/>
                <a:ea typeface="Helvetica Neue"/>
                <a:cs typeface="Helvetica Neue"/>
                <a:sym typeface="Helvetica Neue"/>
              </a:rPr>
              <a:t>03. Metadata standards</a:t>
            </a:r>
            <a:endParaRPr b="1"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None/>
            </a:pPr>
            <a:r>
              <a:rPr lang="en-GB" sz="1050">
                <a:solidFill>
                  <a:srgbClr val="333333"/>
                </a:solidFill>
                <a:highlight>
                  <a:srgbClr val="FFFFFF"/>
                </a:highlight>
                <a:latin typeface="Helvetica Neue"/>
                <a:ea typeface="Helvetica Neue"/>
                <a:cs typeface="Helvetica Neue"/>
                <a:sym typeface="Helvetica Neue"/>
              </a:rPr>
              <a:t>A metadata standard could be described as a collection of metadata fields or elements that are of relevance for the particular type of scientific study data that is to be documented. </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None/>
            </a:pPr>
            <a:r>
              <a:rPr lang="en-GB" sz="1050">
                <a:solidFill>
                  <a:srgbClr val="333333"/>
                </a:solidFill>
                <a:highlight>
                  <a:srgbClr val="FFFFFF"/>
                </a:highlight>
                <a:latin typeface="Helvetica Neue"/>
                <a:ea typeface="Helvetica Neue"/>
                <a:cs typeface="Helvetica Neue"/>
                <a:sym typeface="Helvetica Neue"/>
              </a:rPr>
              <a:t>Such standards will often consist of some </a:t>
            </a:r>
            <a:r>
              <a:rPr b="1" lang="en-GB" sz="1050">
                <a:solidFill>
                  <a:srgbClr val="333333"/>
                </a:solidFill>
                <a:highlight>
                  <a:srgbClr val="FFFFFF"/>
                </a:highlight>
                <a:latin typeface="Helvetica Neue"/>
                <a:ea typeface="Helvetica Neue"/>
                <a:cs typeface="Helvetica Neue"/>
                <a:sym typeface="Helvetica Neue"/>
              </a:rPr>
              <a:t>elements</a:t>
            </a:r>
            <a:r>
              <a:rPr lang="en-GB" sz="1050">
                <a:solidFill>
                  <a:srgbClr val="333333"/>
                </a:solidFill>
                <a:highlight>
                  <a:srgbClr val="FFFFFF"/>
                </a:highlight>
                <a:latin typeface="Helvetica Neue"/>
                <a:ea typeface="Helvetica Neue"/>
                <a:cs typeface="Helvetica Neue"/>
                <a:sym typeface="Helvetica Neue"/>
              </a:rPr>
              <a:t> that are </a:t>
            </a:r>
            <a:r>
              <a:rPr i="1" lang="en-GB" sz="1050">
                <a:solidFill>
                  <a:srgbClr val="333333"/>
                </a:solidFill>
                <a:highlight>
                  <a:srgbClr val="FFFFFF"/>
                </a:highlight>
                <a:latin typeface="Helvetica Neue"/>
                <a:ea typeface="Helvetica Neue"/>
                <a:cs typeface="Helvetica Neue"/>
                <a:sym typeface="Helvetica Neue"/>
              </a:rPr>
              <a:t>mandatory</a:t>
            </a:r>
            <a:r>
              <a:rPr lang="en-GB" sz="1050">
                <a:solidFill>
                  <a:srgbClr val="333333"/>
                </a:solidFill>
                <a:highlight>
                  <a:srgbClr val="FFFFFF"/>
                </a:highlight>
                <a:latin typeface="Helvetica Neue"/>
                <a:ea typeface="Helvetica Neue"/>
                <a:cs typeface="Helvetica Neue"/>
                <a:sym typeface="Helvetica Neue"/>
              </a:rPr>
              <a:t>, some </a:t>
            </a:r>
            <a:r>
              <a:rPr i="1" lang="en-GB" sz="1050">
                <a:solidFill>
                  <a:srgbClr val="333333"/>
                </a:solidFill>
                <a:highlight>
                  <a:srgbClr val="FFFFFF"/>
                </a:highlight>
                <a:latin typeface="Helvetica Neue"/>
                <a:ea typeface="Helvetica Neue"/>
                <a:cs typeface="Helvetica Neue"/>
                <a:sym typeface="Helvetica Neue"/>
              </a:rPr>
              <a:t>recommended</a:t>
            </a:r>
            <a:r>
              <a:rPr lang="en-GB" sz="1050">
                <a:solidFill>
                  <a:srgbClr val="333333"/>
                </a:solidFill>
                <a:highlight>
                  <a:srgbClr val="FFFFFF"/>
                </a:highlight>
                <a:latin typeface="Helvetica Neue"/>
                <a:ea typeface="Helvetica Neue"/>
                <a:cs typeface="Helvetica Neue"/>
                <a:sym typeface="Helvetica Neue"/>
              </a:rPr>
              <a:t>, and some that are </a:t>
            </a:r>
            <a:r>
              <a:rPr i="1" lang="en-GB" sz="1050">
                <a:solidFill>
                  <a:srgbClr val="333333"/>
                </a:solidFill>
                <a:highlight>
                  <a:srgbClr val="FFFFFF"/>
                </a:highlight>
                <a:latin typeface="Helvetica Neue"/>
                <a:ea typeface="Helvetica Neue"/>
                <a:cs typeface="Helvetica Neue"/>
                <a:sym typeface="Helvetica Neue"/>
              </a:rPr>
              <a:t>optional</a:t>
            </a:r>
            <a:r>
              <a:rPr lang="en-GB" sz="1050">
                <a:solidFill>
                  <a:srgbClr val="333333"/>
                </a:solidFill>
                <a:highlight>
                  <a:srgbClr val="FFFFFF"/>
                </a:highlight>
                <a:latin typeface="Helvetica Neue"/>
                <a:ea typeface="Helvetica Neue"/>
                <a:cs typeface="Helvetica Neue"/>
                <a:sym typeface="Helvetica Neue"/>
              </a:rPr>
              <a:t>. </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None/>
            </a:pPr>
            <a:r>
              <a:rPr lang="en-GB" sz="1050">
                <a:solidFill>
                  <a:srgbClr val="333333"/>
                </a:solidFill>
                <a:highlight>
                  <a:srgbClr val="FFFFFF"/>
                </a:highlight>
                <a:latin typeface="Helvetica Neue"/>
                <a:ea typeface="Helvetica Neue"/>
                <a:cs typeface="Helvetica Neue"/>
                <a:sym typeface="Helvetica Neue"/>
              </a:rPr>
              <a:t>They will (at least should) define what </a:t>
            </a:r>
            <a:r>
              <a:rPr b="1" lang="en-GB" sz="1050">
                <a:solidFill>
                  <a:srgbClr val="333333"/>
                </a:solidFill>
                <a:highlight>
                  <a:srgbClr val="FFFFFF"/>
                </a:highlight>
                <a:latin typeface="Helvetica Neue"/>
                <a:ea typeface="Helvetica Neue"/>
                <a:cs typeface="Helvetica Neue"/>
                <a:sym typeface="Helvetica Neue"/>
              </a:rPr>
              <a:t>type of input values</a:t>
            </a:r>
            <a:r>
              <a:rPr lang="en-GB" sz="1050">
                <a:solidFill>
                  <a:srgbClr val="333333"/>
                </a:solidFill>
                <a:highlight>
                  <a:srgbClr val="FFFFFF"/>
                </a:highlight>
                <a:latin typeface="Helvetica Neue"/>
                <a:ea typeface="Helvetica Neue"/>
                <a:cs typeface="Helvetica Neue"/>
                <a:sym typeface="Helvetica Neue"/>
              </a:rPr>
              <a:t> are expected for each element, e.g.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80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free text,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date in a specific format,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geographical positions,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numerical values, and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controlled vocabularies or ontologies. </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None/>
            </a:pPr>
            <a:r>
              <a:rPr lang="en-GB" sz="1050">
                <a:solidFill>
                  <a:srgbClr val="333333"/>
                </a:solidFill>
                <a:highlight>
                  <a:srgbClr val="FFFFFF"/>
                </a:highlight>
                <a:latin typeface="Helvetica Neue"/>
                <a:ea typeface="Helvetica Neue"/>
                <a:cs typeface="Helvetica Neue"/>
                <a:sym typeface="Helvetica Neue"/>
              </a:rPr>
              <a:t>Sometimes the element name itself is a specified ontology term. The further we go on being strict about defining the elements and values the more we open up for increasing the FAIRness aspects of the data from a computational point of view.</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Standards range from the very generic to the very specific. Let’s have a look at a couple of examples: </a:t>
            </a:r>
            <a:r>
              <a:rPr b="1" lang="en-GB" sz="1050">
                <a:solidFill>
                  <a:srgbClr val="333333"/>
                </a:solidFill>
                <a:highlight>
                  <a:srgbClr val="FFFFFF"/>
                </a:highlight>
                <a:latin typeface="Helvetica Neue"/>
                <a:ea typeface="Helvetica Neue"/>
                <a:cs typeface="Helvetica Neue"/>
                <a:sym typeface="Helvetica Neue"/>
              </a:rPr>
              <a:t>Next slide</a:t>
            </a:r>
            <a:endParaRPr b="1" sz="1050">
              <a:solidFill>
                <a:srgbClr val="333333"/>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bd6759aef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bd6759aef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[Option to go to the page on the web]</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The </a:t>
            </a:r>
            <a:r>
              <a:rPr lang="en-GB" sz="1050">
                <a:solidFill>
                  <a:srgbClr val="204A6F"/>
                </a:solidFill>
                <a:highlight>
                  <a:srgbClr val="FFFFFF"/>
                </a:highlight>
                <a:uFill>
                  <a:noFill/>
                </a:uFill>
                <a:latin typeface="Helvetica Neue"/>
                <a:ea typeface="Helvetica Neue"/>
                <a:cs typeface="Helvetica Neue"/>
                <a:sym typeface="Helvetica Neue"/>
                <a:hlinkClick r:id="rId2">
                  <a:extLst>
                    <a:ext uri="{A12FA001-AC4F-418D-AE19-62706E023703}">
                      <ahyp:hlinkClr val="tx"/>
                    </a:ext>
                  </a:extLst>
                </a:hlinkClick>
              </a:rPr>
              <a:t>Dublin Core</a:t>
            </a:r>
            <a:r>
              <a:rPr lang="en-GB" sz="1050">
                <a:solidFill>
                  <a:srgbClr val="333333"/>
                </a:solidFill>
                <a:highlight>
                  <a:srgbClr val="FFFFFF"/>
                </a:highlight>
                <a:latin typeface="Helvetica Neue"/>
                <a:ea typeface="Helvetica Neue"/>
                <a:cs typeface="Helvetica Neue"/>
                <a:sym typeface="Helvetica Neue"/>
              </a:rPr>
              <a:t> is a generic standard for describing digital and physical resources. In its basic form it specifies 15 elements, such as Creator, Title, Description, Date,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[Show the </a:t>
            </a:r>
            <a:r>
              <a:rPr lang="en-GB"/>
              <a:t>different</a:t>
            </a:r>
            <a:r>
              <a:rPr lang="en-GB"/>
              <a:t> elements and value types]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d6759aef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d6759aef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[Option to go to the page on the web]</a:t>
            </a:r>
            <a:endParaRPr>
              <a:solidFill>
                <a:schemeClr val="dk1"/>
              </a:solidFill>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An example of a more specific standard is the </a:t>
            </a:r>
            <a:r>
              <a:rPr lang="en-GB" sz="1050">
                <a:solidFill>
                  <a:srgbClr val="204A6F"/>
                </a:solidFill>
                <a:highlight>
                  <a:srgbClr val="FFFFFF"/>
                </a:highlight>
                <a:uFill>
                  <a:noFill/>
                </a:uFill>
                <a:latin typeface="Helvetica Neue"/>
                <a:ea typeface="Helvetica Neue"/>
                <a:cs typeface="Helvetica Neue"/>
                <a:sym typeface="Helvetica Neue"/>
                <a:hlinkClick r:id="rId2">
                  <a:extLst>
                    <a:ext uri="{A12FA001-AC4F-418D-AE19-62706E023703}">
                      <ahyp:hlinkClr val="tx"/>
                    </a:ext>
                  </a:extLst>
                </a:hlinkClick>
              </a:rPr>
              <a:t>ENA virus pathogen reporting standard checklist</a:t>
            </a:r>
            <a:r>
              <a:rPr lang="en-GB" sz="1050">
                <a:solidFill>
                  <a:srgbClr val="333333"/>
                </a:solidFill>
                <a:highlight>
                  <a:srgbClr val="FFFFFF"/>
                </a:highlight>
                <a:latin typeface="Helvetica Neue"/>
                <a:ea typeface="Helvetica Neue"/>
                <a:cs typeface="Helvetica Neue"/>
                <a:sym typeface="Helvetica Neue"/>
              </a:rPr>
              <a:t>, for reporting metadata of virus pathogen samples associated with genomic data to the European Nucleotide Archive.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It has 35 elements, of which 9 are mandatory and 15 recommended.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Example of elements are geographic location, host scientific name, host health state, collection date, etc.</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GB">
                <a:solidFill>
                  <a:schemeClr val="dk1"/>
                </a:solidFill>
              </a:rPr>
              <a:t>[</a:t>
            </a:r>
            <a:r>
              <a:rPr lang="en-GB">
                <a:solidFill>
                  <a:schemeClr val="dk1"/>
                </a:solidFill>
              </a:rPr>
              <a:t>Show the different elements and value types. Point out that value types are often very free]</a:t>
            </a:r>
            <a:endParaRPr sz="105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bd6759aef6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bd6759aef6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Given that reality is hard to categorise, and that different types of research investigate their subject matter from various different angles, there has emerged numerous different ontologies and metadata standards.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In Life Science alone there are currently more than hundreds of standards. So how do I know what to use? </a:t>
            </a:r>
            <a:r>
              <a:rPr b="1" lang="en-GB" sz="1050">
                <a:solidFill>
                  <a:srgbClr val="333333"/>
                </a:solidFill>
                <a:highlight>
                  <a:srgbClr val="FFFFFF"/>
                </a:highlight>
                <a:latin typeface="Helvetica Neue"/>
                <a:ea typeface="Helvetica Neue"/>
                <a:cs typeface="Helvetica Neue"/>
                <a:sym typeface="Helvetica Neue"/>
              </a:rPr>
              <a:t>-&gt; Next slide (episode)</a:t>
            </a:r>
            <a:endParaRPr b="1"/>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bd6759aef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bd6759aef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050">
                <a:solidFill>
                  <a:srgbClr val="333333"/>
                </a:solidFill>
                <a:highlight>
                  <a:srgbClr val="FFFFFF"/>
                </a:highlight>
                <a:latin typeface="Helvetica Neue"/>
                <a:ea typeface="Helvetica Neue"/>
                <a:cs typeface="Helvetica Neue"/>
                <a:sym typeface="Helvetica Neue"/>
              </a:rPr>
              <a:t>04. Data dictionary</a:t>
            </a:r>
            <a:endParaRPr b="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It is good practice to make a </a:t>
            </a:r>
            <a:r>
              <a:rPr b="1" lang="en-GB" sz="1050">
                <a:solidFill>
                  <a:srgbClr val="333333"/>
                </a:solidFill>
                <a:highlight>
                  <a:srgbClr val="FFFFFF"/>
                </a:highlight>
                <a:latin typeface="Helvetica Neue"/>
                <a:ea typeface="Helvetica Neue"/>
                <a:cs typeface="Helvetica Neue"/>
                <a:sym typeface="Helvetica Neue"/>
              </a:rPr>
              <a:t>data dictionary</a:t>
            </a:r>
            <a:r>
              <a:rPr lang="en-GB" sz="1050">
                <a:solidFill>
                  <a:srgbClr val="333333"/>
                </a:solidFill>
                <a:highlight>
                  <a:srgbClr val="FFFFFF"/>
                </a:highlight>
                <a:latin typeface="Helvetica Neue"/>
                <a:ea typeface="Helvetica Neue"/>
                <a:cs typeface="Helvetica Neue"/>
                <a:sym typeface="Helvetica Neue"/>
              </a:rPr>
              <a:t> for your metadata. “Your own metadata standard”</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This is a file that explains what type of information is supposed to be entered for at particular (meta)data field.</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This is where you document names of (meta)data fields, expected measurement units, allowed values, and definitions for what the field is about.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bd6759aef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bd6759aef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The file </a:t>
            </a:r>
            <a:r>
              <a:rPr lang="en-GB" sz="1050">
                <a:solidFill>
                  <a:srgbClr val="204A6F"/>
                </a:solidFill>
                <a:uFill>
                  <a:noFill/>
                </a:uFill>
                <a:latin typeface="Helvetica Neue"/>
                <a:ea typeface="Helvetica Neue"/>
                <a:cs typeface="Helvetica Neue"/>
                <a:sym typeface="Helvetica Neue"/>
                <a:hlinkClick r:id="rId2">
                  <a:extLst>
                    <a:ext uri="{A12FA001-AC4F-418D-AE19-62706E023703}">
                      <ahyp:hlinkClr val="tx"/>
                    </a:ext>
                  </a:extLst>
                </a:hlinkClick>
              </a:rPr>
              <a:t>samples_metadata_lesson.csv</a:t>
            </a:r>
            <a:r>
              <a:rPr lang="en-GB" sz="1050">
                <a:solidFill>
                  <a:srgbClr val="333333"/>
                </a:solidFill>
                <a:latin typeface="Helvetica Neue"/>
                <a:ea typeface="Helvetica Neue"/>
                <a:cs typeface="Helvetica Neue"/>
                <a:sym typeface="Helvetica Neue"/>
              </a:rPr>
              <a:t> contains information about a set of samples for a research project. In this exercise you will start writing a data dictionary for this file.</a:t>
            </a:r>
            <a:endParaRPr sz="1050">
              <a:solidFill>
                <a:srgbClr val="333333"/>
              </a:solidFill>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latin typeface="Helvetica Neue"/>
              <a:ea typeface="Helvetica Neue"/>
              <a:cs typeface="Helvetica Neue"/>
              <a:sym typeface="Helvetica Neue"/>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bd6759aef6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bd6759aef6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Open the FILE that you downloaded in </a:t>
            </a:r>
            <a:r>
              <a:rPr lang="en-GB" sz="1050">
                <a:solidFill>
                  <a:srgbClr val="204A6F"/>
                </a:solidFill>
                <a:uFill>
                  <a:noFill/>
                </a:uFill>
                <a:latin typeface="Helvetica Neue"/>
                <a:ea typeface="Helvetica Neue"/>
                <a:cs typeface="Helvetica Neue"/>
                <a:sym typeface="Helvetica Neue"/>
                <a:hlinkClick r:id="rId2">
                  <a:extLst>
                    <a:ext uri="{A12FA001-AC4F-418D-AE19-62706E023703}">
                      <ahyp:hlinkClr val="tx"/>
                    </a:ext>
                  </a:extLst>
                </a:hlinkClick>
              </a:rPr>
              <a:t>the beginning of the lesson</a:t>
            </a:r>
            <a:r>
              <a:rPr lang="en-GB" sz="1050">
                <a:solidFill>
                  <a:srgbClr val="333333"/>
                </a:solidFill>
                <a:latin typeface="Helvetica Neue"/>
                <a:ea typeface="Helvetica Neue"/>
                <a:cs typeface="Helvetica Neue"/>
                <a:sym typeface="Helvetica Neue"/>
              </a:rPr>
              <a:t>, in a spreadsheet program of you choice</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Open another </a:t>
            </a:r>
            <a:r>
              <a:rPr b="1" lang="en-GB" sz="1050">
                <a:solidFill>
                  <a:srgbClr val="333333"/>
                </a:solidFill>
                <a:latin typeface="Helvetica Neue"/>
                <a:ea typeface="Helvetica Neue"/>
                <a:cs typeface="Helvetica Neue"/>
                <a:sym typeface="Helvetica Neue"/>
              </a:rPr>
              <a:t>empty</a:t>
            </a:r>
            <a:r>
              <a:rPr lang="en-GB" sz="1050">
                <a:solidFill>
                  <a:srgbClr val="333333"/>
                </a:solidFill>
                <a:latin typeface="Helvetica Neue"/>
                <a:ea typeface="Helvetica Neue"/>
                <a:cs typeface="Helvetica Neue"/>
                <a:sym typeface="Helvetica Neue"/>
              </a:rPr>
              <a:t> spreadsheet file, name it </a:t>
            </a:r>
            <a:r>
              <a:rPr lang="en-GB" sz="950">
                <a:solidFill>
                  <a:srgbClr val="24292E"/>
                </a:solidFill>
                <a:highlight>
                  <a:srgbClr val="E7E7E7"/>
                </a:highlight>
                <a:latin typeface="Consolas"/>
                <a:ea typeface="Consolas"/>
                <a:cs typeface="Consolas"/>
                <a:sym typeface="Consolas"/>
              </a:rPr>
              <a:t>data_dictionary</a:t>
            </a:r>
            <a:r>
              <a:rPr lang="en-GB" sz="1050">
                <a:solidFill>
                  <a:srgbClr val="333333"/>
                </a:solidFill>
                <a:latin typeface="Helvetica Neue"/>
                <a:ea typeface="Helvetica Neue"/>
                <a:cs typeface="Helvetica Neue"/>
                <a:sym typeface="Helvetica Neue"/>
              </a:rPr>
              <a:t>.</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Add the following headings to the </a:t>
            </a:r>
            <a:r>
              <a:rPr lang="en-GB" sz="950">
                <a:solidFill>
                  <a:srgbClr val="24292E"/>
                </a:solidFill>
                <a:highlight>
                  <a:srgbClr val="E7E7E7"/>
                </a:highlight>
                <a:latin typeface="Consolas"/>
                <a:ea typeface="Consolas"/>
                <a:cs typeface="Consolas"/>
                <a:sym typeface="Consolas"/>
              </a:rPr>
              <a:t>data_dictionary</a:t>
            </a:r>
            <a:r>
              <a:rPr lang="en-GB" sz="1050">
                <a:solidFill>
                  <a:srgbClr val="333333"/>
                </a:solidFill>
                <a:latin typeface="Helvetica Neue"/>
                <a:ea typeface="Helvetica Neue"/>
                <a:cs typeface="Helvetica Neue"/>
                <a:sym typeface="Helvetica Neue"/>
              </a:rPr>
              <a:t> file: </a:t>
            </a:r>
            <a:r>
              <a:rPr b="1" lang="en-GB" sz="1050">
                <a:solidFill>
                  <a:srgbClr val="333333"/>
                </a:solidFill>
                <a:latin typeface="Helvetica Neue"/>
                <a:ea typeface="Helvetica Neue"/>
                <a:cs typeface="Helvetica Neue"/>
                <a:sym typeface="Helvetica Neue"/>
              </a:rPr>
              <a:t>Current variable name</a:t>
            </a:r>
            <a:r>
              <a:rPr lang="en-GB" sz="1050">
                <a:solidFill>
                  <a:srgbClr val="333333"/>
                </a:solidFill>
                <a:latin typeface="Helvetica Neue"/>
                <a:ea typeface="Helvetica Neue"/>
                <a:cs typeface="Helvetica Neue"/>
                <a:sym typeface="Helvetica Neue"/>
              </a:rPr>
              <a:t>, </a:t>
            </a:r>
            <a:r>
              <a:rPr b="1" lang="en-GB" sz="1050">
                <a:solidFill>
                  <a:srgbClr val="333333"/>
                </a:solidFill>
                <a:latin typeface="Helvetica Neue"/>
                <a:ea typeface="Helvetica Neue"/>
                <a:cs typeface="Helvetica Neue"/>
                <a:sym typeface="Helvetica Neue"/>
              </a:rPr>
              <a:t>ENA Variable name</a:t>
            </a:r>
            <a:r>
              <a:rPr lang="en-GB" sz="1050">
                <a:solidFill>
                  <a:srgbClr val="333333"/>
                </a:solidFill>
                <a:latin typeface="Helvetica Neue"/>
                <a:ea typeface="Helvetica Neue"/>
                <a:cs typeface="Helvetica Neue"/>
                <a:sym typeface="Helvetica Neue"/>
              </a:rPr>
              <a:t>, </a:t>
            </a:r>
            <a:r>
              <a:rPr b="1" lang="en-GB" sz="1050">
                <a:solidFill>
                  <a:srgbClr val="333333"/>
                </a:solidFill>
                <a:latin typeface="Helvetica Neue"/>
                <a:ea typeface="Helvetica Neue"/>
                <a:cs typeface="Helvetica Neue"/>
                <a:sym typeface="Helvetica Neue"/>
              </a:rPr>
              <a:t>Measurement unit</a:t>
            </a:r>
            <a:r>
              <a:rPr lang="en-GB" sz="1050">
                <a:solidFill>
                  <a:srgbClr val="333333"/>
                </a:solidFill>
                <a:latin typeface="Helvetica Neue"/>
                <a:ea typeface="Helvetica Neue"/>
                <a:cs typeface="Helvetica Neue"/>
                <a:sym typeface="Helvetica Neue"/>
              </a:rPr>
              <a:t>, </a:t>
            </a:r>
            <a:r>
              <a:rPr b="1" lang="en-GB" sz="1050">
                <a:solidFill>
                  <a:srgbClr val="333333"/>
                </a:solidFill>
                <a:latin typeface="Helvetica Neue"/>
                <a:ea typeface="Helvetica Neue"/>
                <a:cs typeface="Helvetica Neue"/>
                <a:sym typeface="Helvetica Neue"/>
              </a:rPr>
              <a:t>Allowed values</a:t>
            </a:r>
            <a:r>
              <a:rPr lang="en-GB" sz="1050">
                <a:solidFill>
                  <a:srgbClr val="333333"/>
                </a:solidFill>
                <a:latin typeface="Helvetica Neue"/>
                <a:ea typeface="Helvetica Neue"/>
                <a:cs typeface="Helvetica Neue"/>
                <a:sym typeface="Helvetica Neue"/>
              </a:rPr>
              <a:t>, </a:t>
            </a:r>
            <a:r>
              <a:rPr b="1" lang="en-GB" sz="1050">
                <a:solidFill>
                  <a:srgbClr val="333333"/>
                </a:solidFill>
                <a:latin typeface="Helvetica Neue"/>
                <a:ea typeface="Helvetica Neue"/>
                <a:cs typeface="Helvetica Neue"/>
                <a:sym typeface="Helvetica Neue"/>
              </a:rPr>
              <a:t>Definition</a:t>
            </a:r>
            <a:r>
              <a:rPr lang="en-GB" sz="1050">
                <a:solidFill>
                  <a:srgbClr val="333333"/>
                </a:solidFill>
                <a:latin typeface="Helvetica Neue"/>
                <a:ea typeface="Helvetica Neue"/>
                <a:cs typeface="Helvetica Neue"/>
                <a:sym typeface="Helvetica Neue"/>
              </a:rPr>
              <a:t>, </a:t>
            </a:r>
            <a:r>
              <a:rPr b="1" lang="en-GB" sz="1050">
                <a:solidFill>
                  <a:srgbClr val="333333"/>
                </a:solidFill>
                <a:latin typeface="Helvetica Neue"/>
                <a:ea typeface="Helvetica Neue"/>
                <a:cs typeface="Helvetica Neue"/>
                <a:sym typeface="Helvetica Neue"/>
              </a:rPr>
              <a:t>Description</a:t>
            </a:r>
            <a:endParaRPr b="1" sz="1050">
              <a:solidFill>
                <a:srgbClr val="333333"/>
              </a:solidFill>
              <a:latin typeface="Helvetica Neue"/>
              <a:ea typeface="Helvetica Neue"/>
              <a:cs typeface="Helvetica Neue"/>
              <a:sym typeface="Helvetica Neue"/>
            </a:endParaRPr>
          </a:p>
          <a:p>
            <a:pPr indent="-295275" lvl="1" marL="914400" rtl="0" algn="l">
              <a:lnSpc>
                <a:spcPct val="115000"/>
              </a:lnSpc>
              <a:spcBef>
                <a:spcPts val="0"/>
              </a:spcBef>
              <a:spcAft>
                <a:spcPts val="0"/>
              </a:spcAft>
              <a:buClr>
                <a:srgbClr val="333333"/>
              </a:buClr>
              <a:buSzPts val="1050"/>
              <a:buFont typeface="Helvetica Neue"/>
              <a:buAutoNum type="alphaLcPeriod"/>
            </a:pPr>
            <a:r>
              <a:rPr lang="en-GB" sz="1050">
                <a:solidFill>
                  <a:srgbClr val="333333"/>
                </a:solidFill>
                <a:latin typeface="Helvetica Neue"/>
                <a:ea typeface="Helvetica Neue"/>
                <a:cs typeface="Helvetica Neue"/>
                <a:sym typeface="Helvetica Neue"/>
              </a:rPr>
              <a:t>If you wonder about the </a:t>
            </a:r>
            <a:r>
              <a:rPr b="1" lang="en-GB" sz="1050">
                <a:solidFill>
                  <a:srgbClr val="333333"/>
                </a:solidFill>
                <a:latin typeface="Helvetica Neue"/>
                <a:ea typeface="Helvetica Neue"/>
                <a:cs typeface="Helvetica Neue"/>
                <a:sym typeface="Helvetica Neue"/>
              </a:rPr>
              <a:t>ENA Variable name</a:t>
            </a:r>
            <a:r>
              <a:rPr lang="en-GB" sz="1050">
                <a:solidFill>
                  <a:srgbClr val="333333"/>
                </a:solidFill>
                <a:latin typeface="Helvetica Neue"/>
                <a:ea typeface="Helvetica Neue"/>
                <a:cs typeface="Helvetica Neue"/>
                <a:sym typeface="Helvetica Neue"/>
              </a:rPr>
              <a:t> column, it will be used in the next excersise</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Copy the headings of the </a:t>
            </a:r>
            <a:r>
              <a:rPr b="1" lang="en-GB" sz="1050">
                <a:solidFill>
                  <a:srgbClr val="333333"/>
                </a:solidFill>
                <a:latin typeface="Helvetica Neue"/>
                <a:ea typeface="Helvetica Neue"/>
                <a:cs typeface="Helvetica Neue"/>
                <a:sym typeface="Helvetica Neue"/>
              </a:rPr>
              <a:t>FILE file</a:t>
            </a:r>
            <a:r>
              <a:rPr lang="en-GB" sz="1050">
                <a:solidFill>
                  <a:srgbClr val="333333"/>
                </a:solidFill>
                <a:latin typeface="Helvetica Neue"/>
                <a:ea typeface="Helvetica Neue"/>
                <a:cs typeface="Helvetica Neue"/>
                <a:sym typeface="Helvetica Neue"/>
              </a:rPr>
              <a:t> to the first column (Current variable name) of the </a:t>
            </a:r>
            <a:r>
              <a:rPr lang="en-GB" sz="950">
                <a:solidFill>
                  <a:srgbClr val="24292E"/>
                </a:solidFill>
                <a:highlight>
                  <a:srgbClr val="E7E7E7"/>
                </a:highlight>
                <a:latin typeface="Consolas"/>
                <a:ea typeface="Consolas"/>
                <a:cs typeface="Consolas"/>
                <a:sym typeface="Consolas"/>
              </a:rPr>
              <a:t>data_dictionary</a:t>
            </a:r>
            <a:r>
              <a:rPr lang="en-GB" sz="1050">
                <a:solidFill>
                  <a:srgbClr val="333333"/>
                </a:solidFill>
                <a:latin typeface="Helvetica Neue"/>
                <a:ea typeface="Helvetica Neue"/>
                <a:cs typeface="Helvetica Neue"/>
                <a:sym typeface="Helvetica Neue"/>
              </a:rPr>
              <a:t> file, </a:t>
            </a:r>
            <a:r>
              <a:rPr b="1" i="1" lang="en-GB" sz="1050">
                <a:solidFill>
                  <a:srgbClr val="333333"/>
                </a:solidFill>
                <a:latin typeface="Helvetica Neue"/>
                <a:ea typeface="Helvetica Neue"/>
                <a:cs typeface="Helvetica Neue"/>
                <a:sym typeface="Helvetica Neue"/>
              </a:rPr>
              <a:t>one heading term per row</a:t>
            </a:r>
            <a:r>
              <a:rPr lang="en-GB" sz="1050">
                <a:solidFill>
                  <a:srgbClr val="333333"/>
                </a:solidFill>
                <a:latin typeface="Helvetica Neue"/>
                <a:ea typeface="Helvetica Neue"/>
                <a:cs typeface="Helvetica Neue"/>
                <a:sym typeface="Helvetica Neue"/>
              </a:rPr>
              <a:t>.</a:t>
            </a:r>
            <a:endParaRPr sz="1050">
              <a:solidFill>
                <a:srgbClr val="333333"/>
              </a:solidFill>
              <a:latin typeface="Helvetica Neue"/>
              <a:ea typeface="Helvetica Neue"/>
              <a:cs typeface="Helvetica Neue"/>
              <a:sym typeface="Helvetica Neue"/>
            </a:endParaRPr>
          </a:p>
          <a:p>
            <a:pPr indent="-295275" lvl="0" marL="9144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Now you should have a first row with the headings under step 3, and then one term (from the FILE file headings) per row in the first column.</a:t>
            </a:r>
            <a:endParaRPr sz="1050">
              <a:solidFill>
                <a:srgbClr val="333333"/>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Try adding definitions (to the Definition column) for some of the terms.</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Are there any terms where you can specify information in the Measurement unit?</a:t>
            </a:r>
            <a:endParaRPr sz="1050">
              <a:solidFill>
                <a:srgbClr val="333333"/>
              </a:solidFill>
              <a:latin typeface="Helvetica Neue"/>
              <a:ea typeface="Helvetica Neue"/>
              <a:cs typeface="Helvetica Neue"/>
              <a:sym typeface="Helvetica Neue"/>
            </a:endParaRPr>
          </a:p>
          <a:p>
            <a:pPr indent="0" lvl="0" marL="457200" rtl="0" algn="l">
              <a:lnSpc>
                <a:spcPct val="115000"/>
              </a:lnSpc>
              <a:spcBef>
                <a:spcPts val="800"/>
              </a:spcBef>
              <a:spcAft>
                <a:spcPts val="0"/>
              </a:spcAft>
              <a:buNone/>
            </a:pPr>
            <a:r>
              <a:t/>
            </a:r>
            <a:endParaRPr sz="1050">
              <a:solidFill>
                <a:srgbClr val="333333"/>
              </a:solidFill>
              <a:latin typeface="Helvetica Neue"/>
              <a:ea typeface="Helvetica Neue"/>
              <a:cs typeface="Helvetica Neue"/>
              <a:sym typeface="Helvetica Neue"/>
            </a:endParaRPr>
          </a:p>
          <a:p>
            <a:pPr indent="0" lvl="0" marL="0" rtl="0" algn="l">
              <a:spcBef>
                <a:spcPts val="800"/>
              </a:spcBef>
              <a:spcAft>
                <a:spcPts val="0"/>
              </a:spcAft>
              <a:buClr>
                <a:schemeClr val="dk1"/>
              </a:buClr>
              <a:buSzPts val="1100"/>
              <a:buFont typeface="Arial"/>
              <a:buNone/>
            </a:pPr>
            <a:r>
              <a:t/>
            </a:r>
            <a:endParaRPr sz="1050">
              <a:solidFill>
                <a:srgbClr val="333333"/>
              </a:solidFill>
              <a:latin typeface="Helvetica Neue"/>
              <a:ea typeface="Helvetica Neue"/>
              <a:cs typeface="Helvetica Neue"/>
              <a:sym typeface="Helvetica Neue"/>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d6759aef6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d6759aef6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The beginning of the data dictionary could now look something like this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bd6759aef6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bd6759aef6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If you plan to deposit your data in a public repository (and you should) this is the first place to look for standards.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They will have instructions for what metadata information they request for the data that they harbour.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If you try to structure your own metadata according to these from the start, submitting your data will be a lot more </a:t>
            </a:r>
            <a:r>
              <a:rPr lang="en-GB" sz="1050">
                <a:solidFill>
                  <a:srgbClr val="333333"/>
                </a:solidFill>
                <a:highlight>
                  <a:srgbClr val="FFFFFF"/>
                </a:highlight>
                <a:latin typeface="Helvetica Neue"/>
                <a:ea typeface="Helvetica Neue"/>
                <a:cs typeface="Helvetica Neue"/>
                <a:sym typeface="Helvetica Neue"/>
              </a:rPr>
              <a:t>straightforward</a:t>
            </a:r>
            <a:r>
              <a:rPr lang="en-GB" sz="1050">
                <a:solidFill>
                  <a:srgbClr val="333333"/>
                </a:solidFill>
                <a:highlight>
                  <a:srgbClr val="FFFFFF"/>
                </a:highlight>
                <a:latin typeface="Helvetica Neue"/>
                <a:ea typeface="Helvetica Neue"/>
                <a:cs typeface="Helvetica Neue"/>
                <a:sym typeface="Helvetica Neue"/>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bd6759aef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bd6759aef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In this exercise we are assuming that you are planning to submit data about your samples to the European Nucleotide Archive - ENA. </a:t>
            </a:r>
            <a:endParaRPr sz="1050">
              <a:solidFill>
                <a:srgbClr val="333333"/>
              </a:solidFill>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The ENA has set of suggested metadata standards for different types of samples that they call </a:t>
            </a:r>
            <a:r>
              <a:rPr b="1" lang="en-GB" sz="1050">
                <a:solidFill>
                  <a:srgbClr val="333333"/>
                </a:solidFill>
                <a:latin typeface="Helvetica Neue"/>
                <a:ea typeface="Helvetica Neue"/>
                <a:cs typeface="Helvetica Neue"/>
                <a:sym typeface="Helvetica Neue"/>
              </a:rPr>
              <a:t>checklists</a:t>
            </a:r>
            <a:r>
              <a:rPr lang="en-GB" sz="1050">
                <a:solidFill>
                  <a:srgbClr val="333333"/>
                </a:solidFill>
                <a:latin typeface="Helvetica Neue"/>
                <a:ea typeface="Helvetica Neue"/>
                <a:cs typeface="Helvetica Neue"/>
                <a:sym typeface="Helvetica Neue"/>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bd6759aef6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bd6759aef6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Go to </a:t>
            </a:r>
            <a:r>
              <a:rPr lang="en-GB" sz="1050">
                <a:solidFill>
                  <a:srgbClr val="204A6F"/>
                </a:solidFill>
                <a:uFill>
                  <a:noFill/>
                </a:uFill>
                <a:latin typeface="Helvetica Neue"/>
                <a:ea typeface="Helvetica Neue"/>
                <a:cs typeface="Helvetica Neue"/>
                <a:sym typeface="Helvetica Neue"/>
                <a:hlinkClick r:id="rId2">
                  <a:extLst>
                    <a:ext uri="{A12FA001-AC4F-418D-AE19-62706E023703}">
                      <ahyp:hlinkClr val="tx"/>
                    </a:ext>
                  </a:extLst>
                </a:hlinkClick>
              </a:rPr>
              <a:t>https://www.ebi.ac.uk/ena/browser/checklists</a:t>
            </a:r>
            <a:r>
              <a:rPr lang="en-GB" sz="1050">
                <a:solidFill>
                  <a:srgbClr val="333333"/>
                </a:solidFill>
                <a:latin typeface="Helvetica Neue"/>
                <a:ea typeface="Helvetica Neue"/>
                <a:cs typeface="Helvetica Neue"/>
                <a:sym typeface="Helvetica Neue"/>
              </a:rPr>
              <a:t> to see the available checklists</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Scroll down the listing until you find the </a:t>
            </a:r>
            <a:r>
              <a:rPr i="1" lang="en-GB" sz="1050">
                <a:solidFill>
                  <a:srgbClr val="333333"/>
                </a:solidFill>
                <a:latin typeface="Helvetica Neue"/>
                <a:ea typeface="Helvetica Neue"/>
                <a:cs typeface="Helvetica Neue"/>
                <a:sym typeface="Helvetica Neue"/>
              </a:rPr>
              <a:t>ERC000011 ENA default sample checklist</a:t>
            </a:r>
            <a:endParaRPr i="1"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The </a:t>
            </a:r>
            <a:r>
              <a:rPr i="1" lang="en-GB" sz="1050">
                <a:solidFill>
                  <a:srgbClr val="333333"/>
                </a:solidFill>
                <a:latin typeface="Helvetica Neue"/>
                <a:ea typeface="Helvetica Neue"/>
                <a:cs typeface="Helvetica Neue"/>
                <a:sym typeface="Helvetica Neue"/>
              </a:rPr>
              <a:t>ENA default sample checklist</a:t>
            </a:r>
            <a:r>
              <a:rPr lang="en-GB" sz="1050">
                <a:solidFill>
                  <a:srgbClr val="333333"/>
                </a:solidFill>
                <a:latin typeface="Helvetica Neue"/>
                <a:ea typeface="Helvetica Neue"/>
                <a:cs typeface="Helvetica Neue"/>
                <a:sym typeface="Helvetica Neue"/>
              </a:rPr>
              <a:t> lists the expected name and content for a number of metadata fields that can be submitted for samples. If you put your mouse pointer over the ? icon, you will get a description about of what type of information the different fields are supposed to contain.</a:t>
            </a:r>
            <a:endParaRPr sz="1050">
              <a:solidFill>
                <a:srgbClr val="333333"/>
              </a:solidFill>
              <a:latin typeface="Helvetica Neue"/>
              <a:ea typeface="Helvetica Neue"/>
              <a:cs typeface="Helvetica Neue"/>
              <a:sym typeface="Helvetica Neue"/>
            </a:endParaRPr>
          </a:p>
          <a:p>
            <a:pPr indent="0" lvl="0" marL="0" rtl="0" algn="l">
              <a:lnSpc>
                <a:spcPct val="115000"/>
              </a:lnSpc>
              <a:spcBef>
                <a:spcPts val="800"/>
              </a:spcBef>
              <a:spcAft>
                <a:spcPts val="0"/>
              </a:spcAft>
              <a:buNone/>
            </a:pPr>
            <a:r>
              <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80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Open the </a:t>
            </a:r>
            <a:r>
              <a:rPr b="1" lang="en-GB" sz="1050">
                <a:solidFill>
                  <a:srgbClr val="333333"/>
                </a:solidFill>
                <a:latin typeface="Helvetica Neue"/>
                <a:ea typeface="Helvetica Neue"/>
                <a:cs typeface="Helvetica Neue"/>
                <a:sym typeface="Helvetica Neue"/>
              </a:rPr>
              <a:t>data dictionary file</a:t>
            </a:r>
            <a:r>
              <a:rPr lang="en-GB" sz="1050">
                <a:solidFill>
                  <a:srgbClr val="333333"/>
                </a:solidFill>
                <a:latin typeface="Helvetica Neue"/>
                <a:ea typeface="Helvetica Neue"/>
                <a:cs typeface="Helvetica Neue"/>
                <a:sym typeface="Helvetica Neue"/>
              </a:rPr>
              <a:t> that you started in the previous exercise.</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AutoNum type="arabicPeriod"/>
            </a:pPr>
            <a:r>
              <a:rPr lang="en-GB" sz="1050">
                <a:solidFill>
                  <a:srgbClr val="333333"/>
                </a:solidFill>
                <a:latin typeface="Helvetica Neue"/>
                <a:ea typeface="Helvetica Neue"/>
                <a:cs typeface="Helvetica Neue"/>
                <a:sym typeface="Helvetica Neue"/>
              </a:rPr>
              <a:t>Go through the data dictionary and find suitable field names in the </a:t>
            </a:r>
            <a:r>
              <a:rPr i="1" lang="en-GB" sz="1050">
                <a:solidFill>
                  <a:srgbClr val="333333"/>
                </a:solidFill>
                <a:latin typeface="Helvetica Neue"/>
                <a:ea typeface="Helvetica Neue"/>
                <a:cs typeface="Helvetica Neue"/>
                <a:sym typeface="Helvetica Neue"/>
              </a:rPr>
              <a:t>ENA default sample checklist</a:t>
            </a:r>
            <a:r>
              <a:rPr lang="en-GB" sz="1050">
                <a:solidFill>
                  <a:srgbClr val="333333"/>
                </a:solidFill>
                <a:latin typeface="Helvetica Neue"/>
                <a:ea typeface="Helvetica Neue"/>
                <a:cs typeface="Helvetica Neue"/>
                <a:sym typeface="Helvetica Neue"/>
              </a:rPr>
              <a:t> for those fields. Add them to the </a:t>
            </a:r>
            <a:r>
              <a:rPr b="1" lang="en-GB" sz="1050">
                <a:solidFill>
                  <a:srgbClr val="333333"/>
                </a:solidFill>
                <a:latin typeface="Helvetica Neue"/>
                <a:ea typeface="Helvetica Neue"/>
                <a:cs typeface="Helvetica Neue"/>
                <a:sym typeface="Helvetica Neue"/>
              </a:rPr>
              <a:t>ENA Variable name column</a:t>
            </a:r>
            <a:r>
              <a:rPr lang="en-GB" sz="1050">
                <a:solidFill>
                  <a:srgbClr val="333333"/>
                </a:solidFill>
                <a:latin typeface="Helvetica Neue"/>
                <a:ea typeface="Helvetica Neue"/>
                <a:cs typeface="Helvetica Neue"/>
                <a:sym typeface="Helvetica Neue"/>
              </a:rPr>
              <a:t> of your data dictionary file.</a:t>
            </a:r>
            <a:endParaRPr sz="1050">
              <a:solidFill>
                <a:srgbClr val="333333"/>
              </a:solidFill>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d6759aef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bd6759aef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The data dictionary could now look something like this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c0147d8b5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c0147d8b5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050">
                <a:solidFill>
                  <a:srgbClr val="333333"/>
                </a:solidFill>
                <a:highlight>
                  <a:srgbClr val="FFFFFF"/>
                </a:highlight>
                <a:latin typeface="Helvetica Neue"/>
                <a:ea typeface="Helvetica Neue"/>
                <a:cs typeface="Helvetica Neue"/>
                <a:sym typeface="Helvetica Neue"/>
              </a:rPr>
              <a:t>05. Finding ontologies</a:t>
            </a:r>
            <a:endParaRPr b="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As you noticed in the previous excercise, the ENA checklist in most cases did not specify any particular standard to use when assigning values to the different fields.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However, if you can be more specific regarding how you describe the different metadata aspects for your data it will increase the FAIRness of your data.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For this you should use controlled vocabularies or ontologies.</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As we have said earlier, there are hundreds of metadata standards, controlled vocabularies and ontologies in the Life Sciences alone. So how do you find the ones that are appropriate for your data? Fortunately, there are tools and resources to help you with this.</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b="1" lang="en-GB" sz="1050">
                <a:solidFill>
                  <a:srgbClr val="333333"/>
                </a:solidFill>
                <a:highlight>
                  <a:srgbClr val="FFFFFF"/>
                </a:highlight>
                <a:latin typeface="Helvetica Neue"/>
                <a:ea typeface="Helvetica Neue"/>
                <a:cs typeface="Helvetica Neue"/>
                <a:sym typeface="Helvetica Neue"/>
              </a:rPr>
              <a:t>→ Next slide</a:t>
            </a:r>
            <a:endParaRPr b="1" sz="105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bd6759aef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bd6759aef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t>A few useful examples:</a:t>
            </a:r>
            <a:endParaRPr/>
          </a:p>
          <a:p>
            <a:pPr indent="0" lvl="0" marL="0" rtl="0" algn="l">
              <a:lnSpc>
                <a:spcPct val="115000"/>
              </a:lnSpc>
              <a:spcBef>
                <a:spcPts val="800"/>
              </a:spcBef>
              <a:spcAft>
                <a:spcPts val="0"/>
              </a:spcAft>
              <a:buClr>
                <a:schemeClr val="dk1"/>
              </a:buClr>
              <a:buSzPts val="1100"/>
              <a:buFont typeface="Arial"/>
              <a:buNone/>
            </a:pPr>
            <a:r>
              <a:rPr lang="en-GB" sz="1050">
                <a:solidFill>
                  <a:srgbClr val="204A6F"/>
                </a:solidFill>
                <a:highlight>
                  <a:srgbClr val="FFFFFF"/>
                </a:highlight>
                <a:uFill>
                  <a:noFill/>
                </a:uFill>
                <a:latin typeface="Helvetica Neue"/>
                <a:ea typeface="Helvetica Neue"/>
                <a:cs typeface="Helvetica Neue"/>
                <a:sym typeface="Helvetica Neue"/>
                <a:hlinkClick r:id="rId2">
                  <a:extLst>
                    <a:ext uri="{A12FA001-AC4F-418D-AE19-62706E023703}">
                      <ahyp:hlinkClr val="tx"/>
                    </a:ext>
                  </a:extLst>
                </a:hlinkClick>
              </a:rPr>
              <a:t>FAIRsharing.org</a:t>
            </a:r>
            <a:r>
              <a:rPr lang="en-GB" sz="1050">
                <a:solidFill>
                  <a:srgbClr val="333333"/>
                </a:solidFill>
                <a:highlight>
                  <a:srgbClr val="FFFFFF"/>
                </a:highlight>
                <a:latin typeface="Helvetica Neue"/>
                <a:ea typeface="Helvetica Neue"/>
                <a:cs typeface="Helvetica Neue"/>
                <a:sym typeface="Helvetica Neue"/>
              </a:rPr>
              <a:t> is a resource that aims at collecting and connecting existing standards, databases. </a:t>
            </a:r>
            <a:br>
              <a:rPr lang="en-GB" sz="1050">
                <a:solidFill>
                  <a:srgbClr val="333333"/>
                </a:solidFill>
                <a:highlight>
                  <a:srgbClr val="FFFFFF"/>
                </a:highlight>
                <a:latin typeface="Helvetica Neue"/>
                <a:ea typeface="Helvetica Neue"/>
                <a:cs typeface="Helvetica Neue"/>
                <a:sym typeface="Helvetica Neue"/>
              </a:rPr>
            </a:br>
            <a:r>
              <a:rPr lang="en-GB" sz="1050">
                <a:solidFill>
                  <a:srgbClr val="333333"/>
                </a:solidFill>
                <a:highlight>
                  <a:srgbClr val="FFFFFF"/>
                </a:highlight>
                <a:latin typeface="Helvetica Neue"/>
                <a:ea typeface="Helvetica Neue"/>
                <a:cs typeface="Helvetica Neue"/>
                <a:sym typeface="Helvetica Neue"/>
              </a:rPr>
              <a:t>Use it to find recommended standards for different research domains and databases.</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The </a:t>
            </a:r>
            <a:r>
              <a:rPr lang="en-GB" sz="1050">
                <a:solidFill>
                  <a:srgbClr val="204A6F"/>
                </a:solidFill>
                <a:highlight>
                  <a:srgbClr val="FFFFFF"/>
                </a:highlight>
                <a:uFill>
                  <a:noFill/>
                </a:uFill>
                <a:latin typeface="Helvetica Neue"/>
                <a:ea typeface="Helvetica Neue"/>
                <a:cs typeface="Helvetica Neue"/>
                <a:sym typeface="Helvetica Neue"/>
                <a:hlinkClick r:id="rId3">
                  <a:extLst>
                    <a:ext uri="{A12FA001-AC4F-418D-AE19-62706E023703}">
                      <ahyp:hlinkClr val="tx"/>
                    </a:ext>
                  </a:extLst>
                </a:hlinkClick>
              </a:rPr>
              <a:t>European Bioinformatics Institute (EMBL-EBI)</a:t>
            </a:r>
            <a:r>
              <a:rPr lang="en-GB" sz="1050">
                <a:solidFill>
                  <a:srgbClr val="333333"/>
                </a:solidFill>
                <a:highlight>
                  <a:srgbClr val="FFFFFF"/>
                </a:highlight>
                <a:latin typeface="Helvetica Neue"/>
                <a:ea typeface="Helvetica Neue"/>
                <a:cs typeface="Helvetica Neue"/>
                <a:sym typeface="Helvetica Neue"/>
              </a:rPr>
              <a:t> makes availble a </a:t>
            </a:r>
            <a:r>
              <a:rPr lang="en-GB" sz="1050">
                <a:solidFill>
                  <a:srgbClr val="204A6F"/>
                </a:solidFill>
                <a:highlight>
                  <a:srgbClr val="FFFFFF"/>
                </a:highlight>
                <a:uFill>
                  <a:noFill/>
                </a:uFill>
                <a:latin typeface="Helvetica Neue"/>
                <a:ea typeface="Helvetica Neue"/>
                <a:cs typeface="Helvetica Neue"/>
                <a:sym typeface="Helvetica Neue"/>
                <a:hlinkClick r:id="rId4">
                  <a:extLst>
                    <a:ext uri="{A12FA001-AC4F-418D-AE19-62706E023703}">
                      <ahyp:hlinkClr val="tx"/>
                    </a:ext>
                  </a:extLst>
                </a:hlinkClick>
              </a:rPr>
              <a:t>set of resources for ontologies</a:t>
            </a:r>
            <a:r>
              <a:rPr lang="en-GB" sz="1050">
                <a:solidFill>
                  <a:srgbClr val="333333"/>
                </a:solidFill>
                <a:highlight>
                  <a:srgbClr val="FFFFFF"/>
                </a:highlight>
                <a:latin typeface="Helvetica Neue"/>
                <a:ea typeface="Helvetica Neue"/>
                <a:cs typeface="Helvetica Neue"/>
                <a:sym typeface="Helvetica Neue"/>
              </a:rPr>
              <a:t>, e.g.:</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800"/>
              </a:spcBef>
              <a:spcAft>
                <a:spcPts val="0"/>
              </a:spcAft>
              <a:buClr>
                <a:srgbClr val="333333"/>
              </a:buClr>
              <a:buSzPts val="1050"/>
              <a:buFont typeface="Helvetica Neue"/>
              <a:buChar char="●"/>
            </a:pPr>
            <a:r>
              <a:rPr lang="en-GB" sz="1050">
                <a:solidFill>
                  <a:srgbClr val="204A6F"/>
                </a:solidFill>
                <a:highlight>
                  <a:srgbClr val="FFFFFF"/>
                </a:highlight>
                <a:uFill>
                  <a:noFill/>
                </a:uFill>
                <a:latin typeface="Helvetica Neue"/>
                <a:ea typeface="Helvetica Neue"/>
                <a:cs typeface="Helvetica Neue"/>
                <a:sym typeface="Helvetica Neue"/>
                <a:hlinkClick r:id="rId5">
                  <a:extLst>
                    <a:ext uri="{A12FA001-AC4F-418D-AE19-62706E023703}">
                      <ahyp:hlinkClr val="tx"/>
                    </a:ext>
                  </a:extLst>
                </a:hlinkClick>
              </a:rPr>
              <a:t>Zooma</a:t>
            </a:r>
            <a:endParaRPr sz="1050">
              <a:solidFill>
                <a:srgbClr val="204A6F"/>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204A6F"/>
                </a:solidFill>
                <a:highlight>
                  <a:srgbClr val="FFFFFF"/>
                </a:highlight>
                <a:uFill>
                  <a:noFill/>
                </a:uFill>
                <a:latin typeface="Helvetica Neue"/>
                <a:ea typeface="Helvetica Neue"/>
                <a:cs typeface="Helvetica Neue"/>
                <a:sym typeface="Helvetica Neue"/>
                <a:hlinkClick r:id="rId6">
                  <a:extLst>
                    <a:ext uri="{A12FA001-AC4F-418D-AE19-62706E023703}">
                      <ahyp:hlinkClr val="tx"/>
                    </a:ext>
                  </a:extLst>
                </a:hlinkClick>
              </a:rPr>
              <a:t>OLS</a:t>
            </a:r>
            <a:endParaRPr sz="1050">
              <a:solidFill>
                <a:srgbClr val="204A6F"/>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rPr lang="en-GB"/>
              <a:t>Let’s have a look at these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 Next slide</a:t>
            </a:r>
            <a:endParaRPr b="1"/>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c0147d8b54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c0147d8b54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50800" marR="50800" rtl="0" algn="l">
              <a:lnSpc>
                <a:spcPct val="115000"/>
              </a:lnSpc>
              <a:spcBef>
                <a:spcPts val="400"/>
              </a:spcBef>
              <a:spcAft>
                <a:spcPts val="0"/>
              </a:spcAft>
              <a:buNone/>
            </a:pPr>
            <a:r>
              <a:rPr b="1" lang="en-GB" sz="1050">
                <a:solidFill>
                  <a:srgbClr val="333333"/>
                </a:solidFill>
                <a:latin typeface="Helvetica Neue"/>
                <a:ea typeface="Helvetica Neue"/>
                <a:cs typeface="Helvetica Neue"/>
                <a:sym typeface="Helvetica Neue"/>
              </a:rPr>
              <a:t>NB! Practice the demo</a:t>
            </a:r>
            <a:endParaRPr b="1"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None/>
            </a:pPr>
            <a:r>
              <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None/>
            </a:pPr>
            <a:r>
              <a:rPr lang="en-GB" sz="1050">
                <a:solidFill>
                  <a:srgbClr val="333333"/>
                </a:solidFill>
                <a:latin typeface="Helvetica Neue"/>
                <a:ea typeface="Helvetica Neue"/>
                <a:cs typeface="Helvetica Neue"/>
                <a:sym typeface="Helvetica Neue"/>
              </a:rPr>
              <a:t>FAIRsharing.org is a resource to find standards, databases and data policies</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None/>
            </a:pPr>
            <a:r>
              <a:t/>
            </a:r>
            <a:endParaRPr sz="1050">
              <a:solidFill>
                <a:srgbClr val="333333"/>
              </a:solidFill>
              <a:latin typeface="Helvetica Neue"/>
              <a:ea typeface="Helvetica Neue"/>
              <a:cs typeface="Helvetica Neue"/>
              <a:sym typeface="Helvetica Neue"/>
            </a:endParaRPr>
          </a:p>
          <a:p>
            <a:pPr indent="-295275" lvl="0" marL="457200" marR="50800" rtl="0" algn="l">
              <a:lnSpc>
                <a:spcPct val="115000"/>
              </a:lnSpc>
              <a:spcBef>
                <a:spcPts val="40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Click the search field</a:t>
            </a:r>
            <a:endParaRPr sz="1050">
              <a:solidFill>
                <a:srgbClr val="333333"/>
              </a:solidFill>
              <a:latin typeface="Helvetica Neue"/>
              <a:ea typeface="Helvetica Neue"/>
              <a:cs typeface="Helvetica Neue"/>
              <a:sym typeface="Helvetica Neue"/>
            </a:endParaRPr>
          </a:p>
          <a:p>
            <a:pPr indent="-295275" lvl="0" marL="4572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Type </a:t>
            </a:r>
            <a:r>
              <a:rPr i="1" lang="en-GB" sz="1050">
                <a:solidFill>
                  <a:srgbClr val="333333"/>
                </a:solidFill>
                <a:latin typeface="Helvetica Neue"/>
                <a:ea typeface="Helvetica Neue"/>
                <a:cs typeface="Helvetica Neue"/>
                <a:sym typeface="Helvetica Neue"/>
              </a:rPr>
              <a:t>human</a:t>
            </a:r>
            <a:r>
              <a:rPr lang="en-GB" sz="1050">
                <a:solidFill>
                  <a:srgbClr val="333333"/>
                </a:solidFill>
                <a:latin typeface="Helvetica Neue"/>
                <a:ea typeface="Helvetica Neue"/>
                <a:cs typeface="Helvetica Neue"/>
                <a:sym typeface="Helvetica Neue"/>
              </a:rPr>
              <a:t> and hit return</a:t>
            </a:r>
            <a:endParaRPr sz="1050">
              <a:solidFill>
                <a:srgbClr val="333333"/>
              </a:solidFill>
              <a:latin typeface="Helvetica Neue"/>
              <a:ea typeface="Helvetica Neue"/>
              <a:cs typeface="Helvetica Neue"/>
              <a:sym typeface="Helvetica Neue"/>
            </a:endParaRPr>
          </a:p>
          <a:p>
            <a:pPr indent="-295275" lvl="0" marL="4572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Show list of results</a:t>
            </a:r>
            <a:endParaRPr sz="1050">
              <a:solidFill>
                <a:srgbClr val="333333"/>
              </a:solidFill>
              <a:latin typeface="Helvetica Neue"/>
              <a:ea typeface="Helvetica Neue"/>
              <a:cs typeface="Helvetica Neue"/>
              <a:sym typeface="Helvetica Neue"/>
            </a:endParaRPr>
          </a:p>
          <a:p>
            <a:pPr indent="-295275" lvl="1" marL="9144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Type, subject, domain, …</a:t>
            </a:r>
            <a:endParaRPr sz="1050">
              <a:solidFill>
                <a:srgbClr val="333333"/>
              </a:solidFill>
              <a:latin typeface="Helvetica Neue"/>
              <a:ea typeface="Helvetica Neue"/>
              <a:cs typeface="Helvetica Neue"/>
              <a:sym typeface="Helvetica Neue"/>
            </a:endParaRPr>
          </a:p>
          <a:p>
            <a:pPr indent="-295275" lvl="1" marL="9144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Point out that it’s not only ontologies, but e.g. databases as well</a:t>
            </a:r>
            <a:endParaRPr sz="1050">
              <a:solidFill>
                <a:srgbClr val="333333"/>
              </a:solidFill>
              <a:latin typeface="Helvetica Neue"/>
              <a:ea typeface="Helvetica Neue"/>
              <a:cs typeface="Helvetica Neue"/>
              <a:sym typeface="Helvetica Neue"/>
            </a:endParaRPr>
          </a:p>
          <a:p>
            <a:pPr indent="-295275" lvl="0" marL="4572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Click on Human Phenotype Ontology as an example.</a:t>
            </a:r>
            <a:endParaRPr sz="1050">
              <a:solidFill>
                <a:srgbClr val="333333"/>
              </a:solidFill>
              <a:latin typeface="Helvetica Neue"/>
              <a:ea typeface="Helvetica Neue"/>
              <a:cs typeface="Helvetica Neue"/>
              <a:sym typeface="Helvetica Neue"/>
            </a:endParaRPr>
          </a:p>
          <a:p>
            <a:pPr indent="-295275" lvl="0" marL="4572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Show that there is a lot of info for this standard</a:t>
            </a:r>
            <a:endParaRPr sz="1050">
              <a:solidFill>
                <a:srgbClr val="333333"/>
              </a:solidFill>
              <a:latin typeface="Helvetica Neue"/>
              <a:ea typeface="Helvetica Neue"/>
              <a:cs typeface="Helvetica Neue"/>
              <a:sym typeface="Helvetica Neue"/>
            </a:endParaRPr>
          </a:p>
          <a:p>
            <a:pPr indent="-295275" lvl="0" marL="4572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Scroll down to the Additional information section at the bottom of the page</a:t>
            </a:r>
            <a:endParaRPr sz="1050">
              <a:solidFill>
                <a:srgbClr val="333333"/>
              </a:solidFill>
              <a:latin typeface="Helvetica Neue"/>
              <a:ea typeface="Helvetica Neue"/>
              <a:cs typeface="Helvetica Neue"/>
              <a:sym typeface="Helvetica Neue"/>
            </a:endParaRPr>
          </a:p>
          <a:p>
            <a:pPr indent="-295275" lvl="1" marL="9144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Click View in OBO Foundry</a:t>
            </a:r>
            <a:endParaRPr sz="1050">
              <a:solidFill>
                <a:srgbClr val="333333"/>
              </a:solidFill>
              <a:latin typeface="Helvetica Neue"/>
              <a:ea typeface="Helvetica Neue"/>
              <a:cs typeface="Helvetica Neue"/>
              <a:sym typeface="Helvetica Neue"/>
            </a:endParaRPr>
          </a:p>
          <a:p>
            <a:pPr indent="-295275" lvl="1" marL="914400" marR="508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Point out different ways of viewing - select OLS</a:t>
            </a:r>
            <a:endParaRPr sz="1050">
              <a:solidFill>
                <a:srgbClr val="333333"/>
              </a:solidFill>
              <a:latin typeface="Helvetica Neue"/>
              <a:ea typeface="Helvetica Neue"/>
              <a:cs typeface="Helvetica Neue"/>
              <a:sym typeface="Helvetica Neue"/>
            </a:endParaRPr>
          </a:p>
          <a:p>
            <a:pPr indent="-295275" lvl="1" marL="914400" marR="50800" rtl="0" algn="l">
              <a:lnSpc>
                <a:spcPct val="115000"/>
              </a:lnSpc>
              <a:spcBef>
                <a:spcPts val="0"/>
              </a:spcBef>
              <a:spcAft>
                <a:spcPts val="0"/>
              </a:spcAft>
              <a:buClr>
                <a:srgbClr val="333333"/>
              </a:buClr>
              <a:buSzPts val="1050"/>
              <a:buFont typeface="Helvetica Neue"/>
              <a:buChar char="○"/>
            </a:pPr>
            <a:r>
              <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None/>
            </a:pPr>
            <a:r>
              <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400"/>
              </a:spcAft>
              <a:buClr>
                <a:schemeClr val="dk1"/>
              </a:buClr>
              <a:buSzPts val="1100"/>
              <a:buFont typeface="Arial"/>
              <a:buNone/>
            </a:pPr>
            <a:r>
              <a:t/>
            </a:r>
            <a:endParaRPr sz="1050">
              <a:solidFill>
                <a:srgbClr val="333333"/>
              </a:solidFill>
              <a:latin typeface="Helvetica Neue"/>
              <a:ea typeface="Helvetica Neue"/>
              <a:cs typeface="Helvetica Neue"/>
              <a:sym typeface="Helvetica Neue"/>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c0147d8b5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c0147d8b5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OLS is a resource for browsing and searching ontologies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Demo:</a:t>
            </a:r>
            <a:endParaRPr>
              <a:solidFill>
                <a:schemeClr val="dk1"/>
              </a:solidFill>
            </a:endParaRPr>
          </a:p>
          <a:p>
            <a:pPr indent="-298450" lvl="0" marL="457200" rtl="0" algn="l">
              <a:spcBef>
                <a:spcPts val="0"/>
              </a:spcBef>
              <a:spcAft>
                <a:spcPts val="0"/>
              </a:spcAft>
              <a:buSzPts val="1100"/>
              <a:buChar char="●"/>
            </a:pPr>
            <a:r>
              <a:rPr lang="en-GB"/>
              <a:t>Go to OLS</a:t>
            </a:r>
            <a:endParaRPr/>
          </a:p>
          <a:p>
            <a:pPr indent="-298450" lvl="0" marL="457200" rtl="0" algn="l">
              <a:spcBef>
                <a:spcPts val="0"/>
              </a:spcBef>
              <a:spcAft>
                <a:spcPts val="0"/>
              </a:spcAft>
              <a:buSzPts val="1100"/>
              <a:buChar char="●"/>
            </a:pPr>
            <a:r>
              <a:rPr lang="en-GB"/>
              <a:t>Enter diabetes in search field</a:t>
            </a:r>
            <a:endParaRPr/>
          </a:p>
          <a:p>
            <a:pPr indent="-298450" lvl="1" marL="914400" rtl="0" algn="l">
              <a:spcBef>
                <a:spcPts val="0"/>
              </a:spcBef>
              <a:spcAft>
                <a:spcPts val="0"/>
              </a:spcAft>
              <a:buSzPts val="1100"/>
              <a:buChar char="○"/>
            </a:pPr>
            <a:r>
              <a:rPr lang="en-GB"/>
              <a:t>Note that suggestions pop up</a:t>
            </a:r>
            <a:endParaRPr/>
          </a:p>
          <a:p>
            <a:pPr indent="-298450" lvl="0" marL="457200" rtl="0" algn="l">
              <a:spcBef>
                <a:spcPts val="0"/>
              </a:spcBef>
              <a:spcAft>
                <a:spcPts val="0"/>
              </a:spcAft>
              <a:buSzPts val="1100"/>
              <a:buChar char="●"/>
            </a:pPr>
            <a:r>
              <a:rPr lang="en-GB"/>
              <a:t>Hit return</a:t>
            </a:r>
            <a:endParaRPr/>
          </a:p>
          <a:p>
            <a:pPr indent="-298450" lvl="0" marL="457200" rtl="0" algn="l">
              <a:spcBef>
                <a:spcPts val="0"/>
              </a:spcBef>
              <a:spcAft>
                <a:spcPts val="0"/>
              </a:spcAft>
              <a:buSzPts val="1100"/>
              <a:buChar char="●"/>
            </a:pPr>
            <a:r>
              <a:rPr lang="en-GB"/>
              <a:t>Show result list</a:t>
            </a:r>
            <a:endParaRPr/>
          </a:p>
          <a:p>
            <a:pPr indent="-298450" lvl="1" marL="914400" rtl="0" algn="l">
              <a:spcBef>
                <a:spcPts val="0"/>
              </a:spcBef>
              <a:spcAft>
                <a:spcPts val="0"/>
              </a:spcAft>
              <a:buSzPts val="1100"/>
              <a:buChar char="○"/>
            </a:pPr>
            <a:r>
              <a:rPr lang="en-GB"/>
              <a:t>Filtering option</a:t>
            </a:r>
            <a:endParaRPr/>
          </a:p>
          <a:p>
            <a:pPr indent="-298450" lvl="1" marL="914400" rtl="0" algn="l">
              <a:spcBef>
                <a:spcPts val="0"/>
              </a:spcBef>
              <a:spcAft>
                <a:spcPts val="0"/>
              </a:spcAft>
              <a:buSzPts val="1100"/>
              <a:buChar char="○"/>
            </a:pPr>
            <a:r>
              <a:rPr lang="en-GB"/>
              <a:t>Different results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c0147d8b54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c0147d8b54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Zooma is a tool that </a:t>
            </a:r>
            <a:r>
              <a:rPr lang="en-GB"/>
              <a:t>maps free text to ontology terms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Demo:</a:t>
            </a:r>
            <a:endParaRPr/>
          </a:p>
          <a:p>
            <a:pPr indent="-298450" lvl="0" marL="457200" rtl="0" algn="l">
              <a:spcBef>
                <a:spcPts val="0"/>
              </a:spcBef>
              <a:spcAft>
                <a:spcPts val="0"/>
              </a:spcAft>
              <a:buSzPts val="1100"/>
              <a:buChar char="●"/>
            </a:pPr>
            <a:r>
              <a:rPr lang="en-GB"/>
              <a:t>Go to Zooma</a:t>
            </a:r>
            <a:endParaRPr/>
          </a:p>
          <a:p>
            <a:pPr indent="-298450" lvl="0" marL="457200" rtl="0" algn="l">
              <a:spcBef>
                <a:spcPts val="0"/>
              </a:spcBef>
              <a:spcAft>
                <a:spcPts val="0"/>
              </a:spcAft>
              <a:buSzPts val="1100"/>
              <a:buChar char="●"/>
            </a:pPr>
            <a:r>
              <a:rPr lang="en-GB"/>
              <a:t>Click </a:t>
            </a:r>
            <a:r>
              <a:rPr i="1" lang="en-GB"/>
              <a:t>show me some examples</a:t>
            </a:r>
            <a:endParaRPr i="1"/>
          </a:p>
          <a:p>
            <a:pPr indent="-298450" lvl="0" marL="457200" rtl="0" algn="l">
              <a:spcBef>
                <a:spcPts val="0"/>
              </a:spcBef>
              <a:spcAft>
                <a:spcPts val="0"/>
              </a:spcAft>
              <a:buSzPts val="1100"/>
              <a:buChar char="●"/>
            </a:pPr>
            <a:r>
              <a:rPr lang="en-GB"/>
              <a:t>Point out that you can add a term and a type</a:t>
            </a:r>
            <a:endParaRPr/>
          </a:p>
          <a:p>
            <a:pPr indent="-298450" lvl="1" marL="914400" rtl="0" algn="l">
              <a:spcBef>
                <a:spcPts val="0"/>
              </a:spcBef>
              <a:spcAft>
                <a:spcPts val="0"/>
              </a:spcAft>
              <a:buSzPts val="1100"/>
              <a:buChar char="○"/>
            </a:pPr>
            <a:r>
              <a:rPr lang="en-GB"/>
              <a:t>Separated by tab - note that you cannot type a tab in the browser window. Text has to be written elsewhere and copy-pasted for this to work…</a:t>
            </a:r>
            <a:endParaRPr/>
          </a:p>
          <a:p>
            <a:pPr indent="-298450" lvl="0" marL="457200" rtl="0" algn="l">
              <a:spcBef>
                <a:spcPts val="0"/>
              </a:spcBef>
              <a:spcAft>
                <a:spcPts val="0"/>
              </a:spcAft>
              <a:buSzPts val="1100"/>
              <a:buChar char="●"/>
            </a:pPr>
            <a:r>
              <a:rPr lang="en-GB"/>
              <a:t>Show that you can limit sources to look in</a:t>
            </a:r>
            <a:endParaRPr/>
          </a:p>
          <a:p>
            <a:pPr indent="-298450" lvl="0" marL="457200" rtl="0" algn="l">
              <a:spcBef>
                <a:spcPts val="0"/>
              </a:spcBef>
              <a:spcAft>
                <a:spcPts val="0"/>
              </a:spcAft>
              <a:buSzPts val="1100"/>
              <a:buChar char="●"/>
            </a:pPr>
            <a:r>
              <a:rPr lang="en-GB"/>
              <a:t>Click annotate</a:t>
            </a:r>
            <a:endParaRPr/>
          </a:p>
          <a:p>
            <a:pPr indent="-298450" lvl="0" marL="457200" rtl="0" algn="l">
              <a:spcBef>
                <a:spcPts val="0"/>
              </a:spcBef>
              <a:spcAft>
                <a:spcPts val="0"/>
              </a:spcAft>
              <a:buSzPts val="1100"/>
              <a:buChar char="●"/>
            </a:pPr>
            <a:r>
              <a:rPr lang="en-GB"/>
              <a:t>Show the result</a:t>
            </a:r>
            <a:endParaRPr/>
          </a:p>
          <a:p>
            <a:pPr indent="-298450" lvl="1" marL="914400" rtl="0" algn="l">
              <a:spcBef>
                <a:spcPts val="0"/>
              </a:spcBef>
              <a:spcAft>
                <a:spcPts val="0"/>
              </a:spcAft>
              <a:buSzPts val="1100"/>
              <a:buChar char="○"/>
            </a:pPr>
            <a:r>
              <a:rPr lang="en-GB"/>
              <a:t>Term, Confidence, source, and ontology ID (but there is no link…)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bd6759aef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bd6759aef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GB"/>
              <a:t>→ Next slide</a:t>
            </a:r>
            <a:endParaRPr b="1"/>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c0147d8b54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c0147d8b54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50800" marR="50800" rtl="0" algn="l">
              <a:lnSpc>
                <a:spcPct val="115000"/>
              </a:lnSpc>
              <a:spcBef>
                <a:spcPts val="400"/>
              </a:spcBef>
              <a:spcAft>
                <a:spcPts val="0"/>
              </a:spcAft>
              <a:buNone/>
            </a:pPr>
            <a:r>
              <a:rPr b="1" lang="en-GB" sz="1050">
                <a:solidFill>
                  <a:srgbClr val="333333"/>
                </a:solidFill>
                <a:latin typeface="Helvetica Neue"/>
                <a:ea typeface="Helvetica Neue"/>
                <a:cs typeface="Helvetica Neue"/>
                <a:sym typeface="Helvetica Neue"/>
              </a:rPr>
              <a:t>NB! Practice the </a:t>
            </a:r>
            <a:r>
              <a:rPr b="1" lang="en-GB" sz="1050">
                <a:solidFill>
                  <a:srgbClr val="333333"/>
                </a:solidFill>
                <a:latin typeface="Helvetica Neue"/>
                <a:ea typeface="Helvetica Neue"/>
                <a:cs typeface="Helvetica Neue"/>
                <a:sym typeface="Helvetica Neue"/>
              </a:rPr>
              <a:t>repeat</a:t>
            </a:r>
            <a:r>
              <a:rPr b="1" lang="en-GB" sz="1050">
                <a:solidFill>
                  <a:srgbClr val="333333"/>
                </a:solidFill>
                <a:latin typeface="Helvetica Neue"/>
                <a:ea typeface="Helvetica Neue"/>
                <a:cs typeface="Helvetica Neue"/>
                <a:sym typeface="Helvetica Neue"/>
              </a:rPr>
              <a:t> run-through of the </a:t>
            </a:r>
            <a:r>
              <a:rPr b="1" lang="en-GB" sz="1050">
                <a:solidFill>
                  <a:srgbClr val="333333"/>
                </a:solidFill>
                <a:latin typeface="Helvetica Neue"/>
                <a:ea typeface="Helvetica Neue"/>
                <a:cs typeface="Helvetica Neue"/>
                <a:sym typeface="Helvetica Neue"/>
              </a:rPr>
              <a:t>exercise</a:t>
            </a:r>
            <a:r>
              <a:rPr b="1" lang="en-GB" sz="1050">
                <a:solidFill>
                  <a:srgbClr val="333333"/>
                </a:solidFill>
                <a:latin typeface="Helvetica Neue"/>
                <a:ea typeface="Helvetica Neue"/>
                <a:cs typeface="Helvetica Neue"/>
                <a:sym typeface="Helvetica Neue"/>
              </a:rPr>
              <a:t> </a:t>
            </a:r>
            <a:endParaRPr b="1"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None/>
            </a:pPr>
            <a:r>
              <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Clr>
                <a:schemeClr val="dk1"/>
              </a:buClr>
              <a:buSzPts val="1100"/>
              <a:buFont typeface="Arial"/>
              <a:buNone/>
            </a:pPr>
            <a:r>
              <a:rPr lang="en-GB" sz="1050">
                <a:solidFill>
                  <a:srgbClr val="333333"/>
                </a:solidFill>
                <a:latin typeface="Helvetica Neue"/>
                <a:ea typeface="Helvetica Neue"/>
                <a:cs typeface="Helvetica Neue"/>
                <a:sym typeface="Helvetica Neue"/>
              </a:rPr>
              <a:t>To be more specific about the terms used for some of the fields, try to find a suitable ontology and the terms to use for the values that will be in your data file (</a:t>
            </a:r>
            <a:r>
              <a:rPr lang="en-GB" sz="1050">
                <a:solidFill>
                  <a:srgbClr val="204A6F"/>
                </a:solidFill>
                <a:uFill>
                  <a:noFill/>
                </a:uFill>
                <a:latin typeface="Helvetica Neue"/>
                <a:ea typeface="Helvetica Neue"/>
                <a:cs typeface="Helvetica Neue"/>
                <a:sym typeface="Helvetica Neue"/>
                <a:hlinkClick r:id="rId2">
                  <a:extLst>
                    <a:ext uri="{A12FA001-AC4F-418D-AE19-62706E023703}">
                      <ahyp:hlinkClr val="tx"/>
                    </a:ext>
                  </a:extLst>
                </a:hlinkClick>
              </a:rPr>
              <a:t>samples_metadata_lesson.csv</a:t>
            </a:r>
            <a:r>
              <a:rPr lang="en-GB" sz="1050">
                <a:solidFill>
                  <a:srgbClr val="333333"/>
                </a:solidFill>
                <a:latin typeface="Helvetica Neue"/>
                <a:ea typeface="Helvetica Neue"/>
                <a:cs typeface="Helvetica Neue"/>
                <a:sym typeface="Helvetica Neue"/>
              </a:rPr>
              <a:t>), for these fields:</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400"/>
              </a:spcBef>
              <a:spcAft>
                <a:spcPts val="0"/>
              </a:spcAft>
              <a:buClr>
                <a:srgbClr val="333333"/>
              </a:buClr>
              <a:buSzPts val="1050"/>
              <a:buFont typeface="Helvetica Neue"/>
              <a:buChar char="●"/>
            </a:pPr>
            <a:r>
              <a:rPr b="1" lang="en-GB" sz="1050">
                <a:solidFill>
                  <a:srgbClr val="333333"/>
                </a:solidFill>
                <a:latin typeface="Helvetica Neue"/>
                <a:ea typeface="Helvetica Neue"/>
                <a:cs typeface="Helvetica Neue"/>
                <a:sym typeface="Helvetica Neue"/>
              </a:rPr>
              <a:t>illness symptoms,</a:t>
            </a:r>
            <a:r>
              <a:rPr lang="en-GB" sz="1050">
                <a:solidFill>
                  <a:srgbClr val="333333"/>
                </a:solidFill>
                <a:latin typeface="Helvetica Neue"/>
                <a:ea typeface="Helvetica Neue"/>
                <a:cs typeface="Helvetica Neue"/>
                <a:sym typeface="Helvetica Neue"/>
              </a:rPr>
              <a:t> using OLS</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b="1" lang="en-GB" sz="1050">
                <a:solidFill>
                  <a:srgbClr val="333333"/>
                </a:solidFill>
                <a:latin typeface="Helvetica Neue"/>
                <a:ea typeface="Helvetica Neue"/>
                <a:cs typeface="Helvetica Neue"/>
                <a:sym typeface="Helvetica Neue"/>
              </a:rPr>
              <a:t>isolation source host-associated, </a:t>
            </a:r>
            <a:r>
              <a:rPr lang="en-GB" sz="1050">
                <a:solidFill>
                  <a:srgbClr val="333333"/>
                </a:solidFill>
                <a:latin typeface="Helvetica Neue"/>
                <a:ea typeface="Helvetica Neue"/>
                <a:cs typeface="Helvetica Neue"/>
                <a:sym typeface="Helvetica Neue"/>
              </a:rPr>
              <a:t>using FAIRsharing.org</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800"/>
              </a:spcBef>
              <a:spcAft>
                <a:spcPts val="0"/>
              </a:spcAft>
              <a:buClr>
                <a:schemeClr val="dk1"/>
              </a:buClr>
              <a:buSzPts val="1100"/>
              <a:buFont typeface="Arial"/>
              <a:buNone/>
            </a:pPr>
            <a:r>
              <a:rPr lang="en-GB" sz="1050">
                <a:solidFill>
                  <a:srgbClr val="333333"/>
                </a:solidFill>
                <a:latin typeface="Helvetica Neue"/>
                <a:ea typeface="Helvetica Neue"/>
                <a:cs typeface="Helvetica Neue"/>
                <a:sym typeface="Helvetica Neue"/>
              </a:rPr>
              <a:t>Add the name of the ontology and the terms you have selected to the </a:t>
            </a:r>
            <a:r>
              <a:rPr b="1" lang="en-GB" sz="1050">
                <a:solidFill>
                  <a:srgbClr val="333333"/>
                </a:solidFill>
                <a:latin typeface="Helvetica Neue"/>
                <a:ea typeface="Helvetica Neue"/>
                <a:cs typeface="Helvetica Neue"/>
                <a:sym typeface="Helvetica Neue"/>
              </a:rPr>
              <a:t>data dictionary</a:t>
            </a:r>
            <a:r>
              <a:rPr lang="en-GB" sz="1050">
                <a:solidFill>
                  <a:srgbClr val="333333"/>
                </a:solidFill>
                <a:latin typeface="Helvetica Neue"/>
                <a:ea typeface="Helvetica Neue"/>
                <a:cs typeface="Helvetica Neue"/>
                <a:sym typeface="Helvetica Neue"/>
              </a:rPr>
              <a:t>.</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400"/>
              </a:spcBef>
              <a:spcAft>
                <a:spcPts val="0"/>
              </a:spcAft>
              <a:buClr>
                <a:schemeClr val="dk1"/>
              </a:buClr>
              <a:buSzPts val="1100"/>
              <a:buFont typeface="Arial"/>
              <a:buNone/>
            </a:pPr>
            <a:r>
              <a:rPr lang="en-GB" sz="1050">
                <a:solidFill>
                  <a:srgbClr val="333333"/>
                </a:solidFill>
                <a:latin typeface="Helvetica Neue"/>
                <a:ea typeface="Helvetica Neue"/>
                <a:cs typeface="Helvetica Neue"/>
                <a:sym typeface="Helvetica Neue"/>
              </a:rPr>
              <a:t>You don’t have to stick to the tools specified. Try the different ones if you want to. As you will probably notice, there is no perfect way that always finds what you want. It will almost always involve a fair bit of trial and error.</a:t>
            </a:r>
            <a:endParaRPr sz="1050">
              <a:solidFill>
                <a:srgbClr val="333333"/>
              </a:solidFill>
              <a:latin typeface="Helvetica Neue"/>
              <a:ea typeface="Helvetica Neue"/>
              <a:cs typeface="Helvetica Neue"/>
              <a:sym typeface="Helvetica Neue"/>
            </a:endParaRPr>
          </a:p>
          <a:p>
            <a:pPr indent="0" lvl="0" marL="0" rtl="0" algn="l">
              <a:spcBef>
                <a:spcPts val="400"/>
              </a:spcBef>
              <a:spcAft>
                <a:spcPts val="0"/>
              </a:spcAft>
              <a:buNone/>
            </a:pPr>
            <a:r>
              <a:t/>
            </a:r>
            <a:endParaRPr/>
          </a:p>
          <a:p>
            <a:pPr indent="0" lvl="0" marL="0" rtl="0" algn="l">
              <a:spcBef>
                <a:spcPts val="0"/>
              </a:spcBef>
              <a:spcAft>
                <a:spcPts val="0"/>
              </a:spcAft>
              <a:buNone/>
            </a:pPr>
            <a:r>
              <a:rPr lang="en-GB"/>
              <a:t>Afterwards go through the different lookups</a:t>
            </a:r>
            <a:endParaRPr/>
          </a:p>
          <a:p>
            <a:pPr indent="0" lvl="0" marL="0" rtl="0" algn="l">
              <a:spcBef>
                <a:spcPts val="0"/>
              </a:spcBef>
              <a:spcAft>
                <a:spcPts val="0"/>
              </a:spcAft>
              <a:buNone/>
            </a:pPr>
            <a:r>
              <a:t/>
            </a:r>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For each field you will have to look into the data file to see what values are there now</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Then try to find an ontology and the appropriate terms in that ontology</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Add the name of the ontology and the terms you have choosen to the allowed values columns</a:t>
            </a:r>
            <a:endParaRPr sz="1200">
              <a:solidFill>
                <a:srgbClr val="2D3B45"/>
              </a:solidFill>
              <a:latin typeface="Lato"/>
              <a:ea typeface="Lato"/>
              <a:cs typeface="Lato"/>
              <a:sym typeface="Lato"/>
            </a:endParaRPr>
          </a:p>
          <a:p>
            <a:pPr indent="0" lvl="0" marL="50800" marR="50800" rtl="0" algn="l">
              <a:lnSpc>
                <a:spcPct val="115000"/>
              </a:lnSpc>
              <a:spcBef>
                <a:spcPts val="1000"/>
              </a:spcBef>
              <a:spcAft>
                <a:spcPts val="0"/>
              </a:spcAft>
              <a:buClr>
                <a:schemeClr val="dk1"/>
              </a:buClr>
              <a:buSzPts val="1100"/>
              <a:buFont typeface="Arial"/>
              <a:buNone/>
            </a:pPr>
            <a:r>
              <a:rPr b="1" lang="en-GB" sz="1200">
                <a:solidFill>
                  <a:srgbClr val="2D3B45"/>
                </a:solidFill>
                <a:latin typeface="Lato"/>
                <a:ea typeface="Lato"/>
                <a:cs typeface="Lato"/>
                <a:sym typeface="Lato"/>
              </a:rPr>
              <a:t>illness symptoms</a:t>
            </a:r>
            <a:endParaRPr b="1" sz="1200">
              <a:solidFill>
                <a:srgbClr val="2D3B45"/>
              </a:solidFill>
              <a:latin typeface="Lato"/>
              <a:ea typeface="Lato"/>
              <a:cs typeface="Lato"/>
              <a:sym typeface="Lato"/>
            </a:endParaRPr>
          </a:p>
          <a:p>
            <a:pPr indent="-304800" lvl="0" marL="698500" rtl="0" algn="l">
              <a:lnSpc>
                <a:spcPct val="115000"/>
              </a:lnSpc>
              <a:spcBef>
                <a:spcPts val="400"/>
              </a:spcBef>
              <a:spcAft>
                <a:spcPts val="0"/>
              </a:spcAft>
              <a:buClr>
                <a:srgbClr val="2D3B45"/>
              </a:buClr>
              <a:buSzPts val="1200"/>
              <a:buFont typeface="Lato"/>
              <a:buChar char="●"/>
            </a:pPr>
            <a:r>
              <a:rPr lang="en-GB" sz="1200">
                <a:solidFill>
                  <a:srgbClr val="2D3B45"/>
                </a:solidFill>
                <a:latin typeface="Lato"/>
                <a:ea typeface="Lato"/>
                <a:cs typeface="Lato"/>
                <a:sym typeface="Lato"/>
              </a:rPr>
              <a:t>Go to OLS, search for one of the symptoms in the </a:t>
            </a:r>
            <a:r>
              <a:rPr lang="en-GB" sz="1200">
                <a:solidFill>
                  <a:srgbClr val="24292E"/>
                </a:solidFill>
                <a:highlight>
                  <a:srgbClr val="E7E7E7"/>
                </a:highlight>
                <a:latin typeface="Consolas"/>
                <a:ea typeface="Consolas"/>
                <a:cs typeface="Consolas"/>
                <a:sym typeface="Consolas"/>
              </a:rPr>
              <a:t>samples_metadata_lesson.csv</a:t>
            </a:r>
            <a:r>
              <a:rPr lang="en-GB" sz="1200">
                <a:solidFill>
                  <a:srgbClr val="2D3B45"/>
                </a:solidFill>
                <a:latin typeface="Lato"/>
                <a:ea typeface="Lato"/>
                <a:cs typeface="Lato"/>
                <a:sym typeface="Lato"/>
              </a:rPr>
              <a:t> file, e.g. </a:t>
            </a:r>
            <a:r>
              <a:rPr i="1" lang="en-GB" sz="1200">
                <a:solidFill>
                  <a:srgbClr val="2D3B45"/>
                </a:solidFill>
                <a:latin typeface="Lato"/>
                <a:ea typeface="Lato"/>
                <a:cs typeface="Lato"/>
                <a:sym typeface="Lato"/>
              </a:rPr>
              <a:t>fever</a:t>
            </a:r>
            <a:endParaRPr i="1"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Choose one of the search results that seems appropriate, e.g. from the </a:t>
            </a:r>
            <a:r>
              <a:rPr i="1" lang="en-GB" sz="1200">
                <a:solidFill>
                  <a:srgbClr val="2D3B45"/>
                </a:solidFill>
                <a:latin typeface="Lato"/>
                <a:ea typeface="Lato"/>
                <a:cs typeface="Lato"/>
                <a:sym typeface="Lato"/>
              </a:rPr>
              <a:t>NCI Thesaurus OBO Edition - </a:t>
            </a:r>
            <a:r>
              <a:rPr b="1" i="1" lang="en-GB" sz="1200">
                <a:solidFill>
                  <a:srgbClr val="2D3B45"/>
                </a:solidFill>
                <a:latin typeface="Lato"/>
                <a:ea typeface="Lato"/>
                <a:cs typeface="Lato"/>
                <a:sym typeface="Lato"/>
              </a:rPr>
              <a:t>NCIT</a:t>
            </a:r>
            <a:endParaRPr b="1" i="1"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The term for </a:t>
            </a:r>
            <a:r>
              <a:rPr i="1" lang="en-GB" sz="1200">
                <a:solidFill>
                  <a:srgbClr val="2D3B45"/>
                </a:solidFill>
                <a:latin typeface="Lato"/>
                <a:ea typeface="Lato"/>
                <a:cs typeface="Lato"/>
                <a:sym typeface="Lato"/>
              </a:rPr>
              <a:t>fever</a:t>
            </a:r>
            <a:r>
              <a:rPr lang="en-GB" sz="1200">
                <a:solidFill>
                  <a:srgbClr val="2D3B45"/>
                </a:solidFill>
                <a:latin typeface="Lato"/>
                <a:ea typeface="Lato"/>
                <a:cs typeface="Lato"/>
                <a:sym typeface="Lato"/>
              </a:rPr>
              <a:t> in NCIT is </a:t>
            </a:r>
            <a:r>
              <a:rPr b="1" lang="en-GB" sz="1200">
                <a:solidFill>
                  <a:srgbClr val="2D3B45"/>
                </a:solidFill>
                <a:latin typeface="Lato"/>
                <a:ea typeface="Lato"/>
                <a:cs typeface="Lato"/>
                <a:sym typeface="Lato"/>
              </a:rPr>
              <a:t>Fever</a:t>
            </a:r>
            <a:r>
              <a:rPr lang="en-GB" sz="1200">
                <a:solidFill>
                  <a:srgbClr val="2D3B45"/>
                </a:solidFill>
                <a:latin typeface="Lato"/>
                <a:ea typeface="Lato"/>
                <a:cs typeface="Lato"/>
                <a:sym typeface="Lato"/>
              </a:rPr>
              <a:t>. Also note that it has an identifier </a:t>
            </a:r>
            <a:r>
              <a:rPr i="1" lang="en-GB" sz="1200">
                <a:solidFill>
                  <a:srgbClr val="2D3B45"/>
                </a:solidFill>
                <a:latin typeface="Lato"/>
                <a:ea typeface="Lato"/>
                <a:cs typeface="Lato"/>
                <a:sym typeface="Lato"/>
              </a:rPr>
              <a:t>NCIT:C3038</a:t>
            </a:r>
            <a:endParaRPr i="1"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Find terms for the other symptoms in NCIT, by either browsing the tree (click on the Show siblings button in the ontology tree to expand the contents of the tree), or by searching</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See below for the NCIT terms for the symptoms</a:t>
            </a:r>
            <a:endParaRPr sz="1200">
              <a:solidFill>
                <a:srgbClr val="2D3B45"/>
              </a:solidFill>
              <a:latin typeface="Lato"/>
              <a:ea typeface="Lato"/>
              <a:cs typeface="Lato"/>
              <a:sym typeface="Lato"/>
            </a:endParaRPr>
          </a:p>
          <a:p>
            <a:pPr indent="0" lvl="0" marL="50800" marR="50800" rtl="0" algn="l">
              <a:lnSpc>
                <a:spcPct val="115000"/>
              </a:lnSpc>
              <a:spcBef>
                <a:spcPts val="1000"/>
              </a:spcBef>
              <a:spcAft>
                <a:spcPts val="0"/>
              </a:spcAft>
              <a:buClr>
                <a:schemeClr val="dk1"/>
              </a:buClr>
              <a:buSzPts val="1100"/>
              <a:buFont typeface="Arial"/>
              <a:buNone/>
            </a:pPr>
            <a:r>
              <a:rPr b="1" lang="en-GB" sz="1200">
                <a:solidFill>
                  <a:srgbClr val="2D3B45"/>
                </a:solidFill>
                <a:latin typeface="Lato"/>
                <a:ea typeface="Lato"/>
                <a:cs typeface="Lato"/>
                <a:sym typeface="Lato"/>
              </a:rPr>
              <a:t>isolation source host-associated</a:t>
            </a:r>
            <a:endParaRPr b="1" sz="1200">
              <a:solidFill>
                <a:srgbClr val="2D3B45"/>
              </a:solidFill>
              <a:latin typeface="Lato"/>
              <a:ea typeface="Lato"/>
              <a:cs typeface="Lato"/>
              <a:sym typeface="Lato"/>
            </a:endParaRPr>
          </a:p>
          <a:p>
            <a:pPr indent="-304800" lvl="0" marL="698500" rtl="0" algn="l">
              <a:lnSpc>
                <a:spcPct val="115000"/>
              </a:lnSpc>
              <a:spcBef>
                <a:spcPts val="400"/>
              </a:spcBef>
              <a:spcAft>
                <a:spcPts val="0"/>
              </a:spcAft>
              <a:buClr>
                <a:srgbClr val="2D3B45"/>
              </a:buClr>
              <a:buSzPts val="1200"/>
              <a:buFont typeface="Lato"/>
              <a:buChar char="●"/>
            </a:pPr>
            <a:r>
              <a:rPr lang="en-GB" sz="1200">
                <a:solidFill>
                  <a:srgbClr val="2D3B45"/>
                </a:solidFill>
                <a:latin typeface="Lato"/>
                <a:ea typeface="Lato"/>
                <a:cs typeface="Lato"/>
                <a:sym typeface="Lato"/>
              </a:rPr>
              <a:t>Go to FAIRsharing.org</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Go to “Standards”</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Search for “anatomy”</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Find a suitable ontology, e.g. </a:t>
            </a:r>
            <a:r>
              <a:rPr i="1" lang="en-GB" sz="1200">
                <a:solidFill>
                  <a:srgbClr val="2D3B45"/>
                </a:solidFill>
                <a:latin typeface="Lato"/>
                <a:ea typeface="Lato"/>
                <a:cs typeface="Lato"/>
                <a:sym typeface="Lato"/>
              </a:rPr>
              <a:t>Foundational Model of Anatomy - </a:t>
            </a:r>
            <a:r>
              <a:rPr b="1" i="1" lang="en-GB" sz="1200">
                <a:solidFill>
                  <a:srgbClr val="2D3B45"/>
                </a:solidFill>
                <a:latin typeface="Lato"/>
                <a:ea typeface="Lato"/>
                <a:cs typeface="Lato"/>
                <a:sym typeface="Lato"/>
              </a:rPr>
              <a:t>FMA</a:t>
            </a:r>
            <a:r>
              <a:rPr lang="en-GB" sz="1200">
                <a:solidFill>
                  <a:srgbClr val="2D3B45"/>
                </a:solidFill>
                <a:latin typeface="Lato"/>
                <a:ea typeface="Lato"/>
                <a:cs typeface="Lato"/>
                <a:sym typeface="Lato"/>
              </a:rPr>
              <a:t>, and go to the information page</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Look at the “FMA Ontology Display”. Click </a:t>
            </a:r>
            <a:r>
              <a:rPr i="1" lang="en-GB" sz="1200">
                <a:solidFill>
                  <a:srgbClr val="2D3B45"/>
                </a:solidFill>
                <a:latin typeface="Lato"/>
                <a:ea typeface="Lato"/>
                <a:cs typeface="Lato"/>
                <a:sym typeface="Lato"/>
              </a:rPr>
              <a:t>View in BioPortal</a:t>
            </a:r>
            <a:endParaRPr i="1"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Select the classes tab. Look through the tree of terms, or search for a term in the “Jump to” field</a:t>
            </a:r>
            <a:endParaRPr sz="1200">
              <a:solidFill>
                <a:srgbClr val="2D3B45"/>
              </a:solidFill>
              <a:latin typeface="Lato"/>
              <a:ea typeface="Lato"/>
              <a:cs typeface="Lato"/>
              <a:sym typeface="Lato"/>
            </a:endParaRPr>
          </a:p>
          <a:p>
            <a:pPr indent="-304800" lvl="0" marL="698500" rtl="0" algn="l">
              <a:lnSpc>
                <a:spcPct val="115000"/>
              </a:lnSpc>
              <a:spcBef>
                <a:spcPts val="0"/>
              </a:spcBef>
              <a:spcAft>
                <a:spcPts val="0"/>
              </a:spcAft>
              <a:buClr>
                <a:srgbClr val="2D3B45"/>
              </a:buClr>
              <a:buSzPts val="1200"/>
              <a:buFont typeface="Lato"/>
              <a:buChar char="●"/>
            </a:pPr>
            <a:r>
              <a:rPr lang="en-GB" sz="1200">
                <a:solidFill>
                  <a:srgbClr val="2D3B45"/>
                </a:solidFill>
                <a:latin typeface="Lato"/>
                <a:ea typeface="Lato"/>
                <a:cs typeface="Lato"/>
                <a:sym typeface="Lato"/>
              </a:rPr>
              <a:t>So </a:t>
            </a:r>
            <a:r>
              <a:rPr b="1" lang="en-GB" sz="1200">
                <a:solidFill>
                  <a:srgbClr val="2D3B45"/>
                </a:solidFill>
                <a:latin typeface="Lato"/>
                <a:ea typeface="Lato"/>
                <a:cs typeface="Lato"/>
                <a:sym typeface="Lato"/>
              </a:rPr>
              <a:t>FMA</a:t>
            </a:r>
            <a:r>
              <a:rPr lang="en-GB" sz="1200">
                <a:solidFill>
                  <a:srgbClr val="2D3B45"/>
                </a:solidFill>
                <a:latin typeface="Lato"/>
                <a:ea typeface="Lato"/>
                <a:cs typeface="Lato"/>
                <a:sym typeface="Lato"/>
              </a:rPr>
              <a:t> would be a suitable ontology. See below for the FMA terms for the tissues</a:t>
            </a:r>
            <a:endParaRPr sz="1200">
              <a:solidFill>
                <a:srgbClr val="2D3B45"/>
              </a:solidFill>
              <a:latin typeface="Lato"/>
              <a:ea typeface="Lato"/>
              <a:cs typeface="Lato"/>
              <a:sym typeface="Lato"/>
            </a:endParaRPr>
          </a:p>
          <a:p>
            <a:pPr indent="0" lvl="0" marL="0" rtl="0" algn="l">
              <a:spcBef>
                <a:spcPts val="1000"/>
              </a:spcBef>
              <a:spcAft>
                <a:spcPts val="0"/>
              </a:spcAft>
              <a:buNone/>
            </a:pPr>
            <a:r>
              <a:t/>
            </a:r>
            <a:endParaRPr sz="1050">
              <a:solidFill>
                <a:srgbClr val="333333"/>
              </a:solidFill>
              <a:latin typeface="Helvetica Neue"/>
              <a:ea typeface="Helvetica Neue"/>
              <a:cs typeface="Helvetica Neue"/>
              <a:sym typeface="Helvetica Neue"/>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c0147d8b54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c0147d8b54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The data dictionary could now look something like this: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bd6759aef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bd6759aef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See slide</a:t>
            </a:r>
            <a:endParaRPr i="1"/>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f6a3a447e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f6a3a447e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f7d8e34d81_0_788:notes"/>
          <p:cNvSpPr/>
          <p:nvPr>
            <p:ph idx="2" type="sldImg"/>
          </p:nvPr>
        </p:nvSpPr>
        <p:spPr>
          <a:xfrm>
            <a:off x="3810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1f7d8e34d81_0_7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f7d8e34d81_0_1006:notes"/>
          <p:cNvSpPr/>
          <p:nvPr>
            <p:ph idx="2" type="sldImg"/>
          </p:nvPr>
        </p:nvSpPr>
        <p:spPr>
          <a:xfrm>
            <a:off x="2271713" y="1143000"/>
            <a:ext cx="23145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1f7d8e34d81_0_1006:notes"/>
          <p:cNvSpPr txBox="1"/>
          <p:nvPr>
            <p:ph idx="1" type="body"/>
          </p:nvPr>
        </p:nvSpPr>
        <p:spPr>
          <a:xfrm>
            <a:off x="685800" y="4400551"/>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g1f7d8e34d81_0_10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f7d8e34d81_0_1015:notes"/>
          <p:cNvSpPr/>
          <p:nvPr>
            <p:ph idx="2" type="sldImg"/>
          </p:nvPr>
        </p:nvSpPr>
        <p:spPr>
          <a:xfrm>
            <a:off x="2271713" y="1143000"/>
            <a:ext cx="23145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1f7d8e34d81_0_1015:notes"/>
          <p:cNvSpPr txBox="1"/>
          <p:nvPr>
            <p:ph idx="1" type="body"/>
          </p:nvPr>
        </p:nvSpPr>
        <p:spPr>
          <a:xfrm>
            <a:off x="685800" y="4400551"/>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g1f7d8e34d81_0_10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f7d8e34d81_0_1024:notes"/>
          <p:cNvSpPr/>
          <p:nvPr>
            <p:ph idx="2" type="sldImg"/>
          </p:nvPr>
        </p:nvSpPr>
        <p:spPr>
          <a:xfrm>
            <a:off x="2271713" y="1143000"/>
            <a:ext cx="23145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1f7d8e34d81_0_1024:notes"/>
          <p:cNvSpPr txBox="1"/>
          <p:nvPr>
            <p:ph idx="1" type="body"/>
          </p:nvPr>
        </p:nvSpPr>
        <p:spPr>
          <a:xfrm>
            <a:off x="685800" y="4400551"/>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g1f7d8e34d81_0_10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f7d8e34d81_0_1088:notes"/>
          <p:cNvSpPr/>
          <p:nvPr>
            <p:ph idx="2" type="sldImg"/>
          </p:nvPr>
        </p:nvSpPr>
        <p:spPr>
          <a:xfrm>
            <a:off x="385763" y="1524000"/>
            <a:ext cx="30861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1f7d8e34d81_0_1088:notes"/>
          <p:cNvSpPr txBox="1"/>
          <p:nvPr>
            <p:ph idx="1" type="body"/>
          </p:nvPr>
        </p:nvSpPr>
        <p:spPr>
          <a:xfrm>
            <a:off x="385763" y="5867400"/>
            <a:ext cx="3086100" cy="48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g1f7d8e34d81_0_1088:notes"/>
          <p:cNvSpPr txBox="1"/>
          <p:nvPr>
            <p:ph idx="12" type="sldNum"/>
          </p:nvPr>
        </p:nvSpPr>
        <p:spPr>
          <a:xfrm>
            <a:off x="2185095" y="11580284"/>
            <a:ext cx="1671600" cy="611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f7d8e34d81_0_1118:notes"/>
          <p:cNvSpPr/>
          <p:nvPr>
            <p:ph idx="2" type="sldImg"/>
          </p:nvPr>
        </p:nvSpPr>
        <p:spPr>
          <a:xfrm>
            <a:off x="385763" y="1524000"/>
            <a:ext cx="30861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1f7d8e34d81_0_1118:notes"/>
          <p:cNvSpPr txBox="1"/>
          <p:nvPr>
            <p:ph idx="1" type="body"/>
          </p:nvPr>
        </p:nvSpPr>
        <p:spPr>
          <a:xfrm>
            <a:off x="385763" y="5867400"/>
            <a:ext cx="3086100" cy="48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g1f7d8e34d81_0_1118:notes"/>
          <p:cNvSpPr txBox="1"/>
          <p:nvPr>
            <p:ph idx="12" type="sldNum"/>
          </p:nvPr>
        </p:nvSpPr>
        <p:spPr>
          <a:xfrm>
            <a:off x="2185095" y="11580284"/>
            <a:ext cx="1671600" cy="611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f7d8e34d81_0_1103:notes"/>
          <p:cNvSpPr/>
          <p:nvPr>
            <p:ph idx="2" type="sldImg"/>
          </p:nvPr>
        </p:nvSpPr>
        <p:spPr>
          <a:xfrm>
            <a:off x="385763" y="1524000"/>
            <a:ext cx="30861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g1f7d8e34d81_0_1103:notes"/>
          <p:cNvSpPr txBox="1"/>
          <p:nvPr>
            <p:ph idx="1" type="body"/>
          </p:nvPr>
        </p:nvSpPr>
        <p:spPr>
          <a:xfrm>
            <a:off x="385763" y="5867400"/>
            <a:ext cx="3086100" cy="48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g1f7d8e34d81_0_1103:notes"/>
          <p:cNvSpPr txBox="1"/>
          <p:nvPr>
            <p:ph idx="12" type="sldNum"/>
          </p:nvPr>
        </p:nvSpPr>
        <p:spPr>
          <a:xfrm>
            <a:off x="2185095" y="11580284"/>
            <a:ext cx="1671600" cy="611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fb8931c4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fb8931c4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Metadata touches all of the stages of the data lifecycle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f7d8e34d81_0_0: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f7d8e34d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f7d8e34d81_0_51: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f7d8e34d8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f7d8e34d81_0_102: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f7d8e34d8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1f7d8e34d81_0_153: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1f7d8e34d8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1f7d8e34d81_0_204: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1f7d8e34d81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f7d8e34d81_0_254: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f7d8e34d81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1f7d8e34d81_0_302: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1f7d8e34d81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1f7d8e34d81_0_347: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1f7d8e34d81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Other icons are public domain from US CDC and OpenClipart</a:t>
            </a:r>
            <a:endParaRPr/>
          </a:p>
          <a:p>
            <a:pPr indent="0" lvl="0" marL="0" rtl="0" algn="l">
              <a:spcBef>
                <a:spcPts val="0"/>
              </a:spcBef>
              <a:spcAft>
                <a:spcPts val="0"/>
              </a:spcAft>
              <a:buNone/>
            </a:pPr>
            <a:r>
              <a:rPr lang="en-GB" u="sng">
                <a:solidFill>
                  <a:schemeClr val="hlink"/>
                </a:solidFill>
                <a:hlinkClick r:id="rId2"/>
              </a:rPr>
              <a:t>https://openclipart.org/detail/216996/computer</a:t>
            </a:r>
            <a:endParaRPr/>
          </a:p>
          <a:p>
            <a:pPr indent="0" lvl="0" marL="0" rtl="0" algn="l">
              <a:spcBef>
                <a:spcPts val="0"/>
              </a:spcBef>
              <a:spcAft>
                <a:spcPts val="0"/>
              </a:spcAft>
              <a:buNone/>
            </a:pPr>
            <a:r>
              <a:rPr lang="en-GB" u="sng">
                <a:solidFill>
                  <a:schemeClr val="hlink"/>
                </a:solidFill>
                <a:hlinkClick r:id="rId3"/>
              </a:rPr>
              <a:t>https://openclipart.org/detail/300668/spreadsheet-document-icon-with-no-text</a:t>
            </a:r>
            <a:endParaRPr>
              <a:solidFill>
                <a:schemeClr val="dk1"/>
              </a:solidFill>
            </a:endParaRPr>
          </a:p>
          <a:p>
            <a:pPr indent="0" lvl="0" marL="0" rtl="0" algn="l">
              <a:spcBef>
                <a:spcPts val="0"/>
              </a:spcBef>
              <a:spcAft>
                <a:spcPts val="0"/>
              </a:spcAft>
              <a:buClr>
                <a:schemeClr val="dk1"/>
              </a:buClr>
              <a:buSzPts val="1100"/>
              <a:buFont typeface="Arial"/>
              <a:buNone/>
            </a:pPr>
            <a:r>
              <a:rPr lang="en-GB" u="sng">
                <a:solidFill>
                  <a:schemeClr val="hlink"/>
                </a:solidFill>
                <a:hlinkClick r:id="rId4"/>
              </a:rPr>
              <a:t>https://www.cdc.gov/other/agencymaterials.html</a:t>
            </a:r>
            <a:r>
              <a:rPr lang="en-GB">
                <a:solidFill>
                  <a:schemeClr val="dk1"/>
                </a:solidFill>
              </a:rPr>
              <a:t> </a:t>
            </a:r>
            <a:endParaRPr/>
          </a:p>
          <a:p>
            <a:pPr indent="0" lvl="0" marL="0" rtl="0" algn="l">
              <a:spcBef>
                <a:spcPts val="0"/>
              </a:spcBef>
              <a:spcAft>
                <a:spcPts val="0"/>
              </a:spcAft>
              <a:buNone/>
            </a:pPr>
            <a:r>
              <a:rPr lang="en-GB" u="sng">
                <a:solidFill>
                  <a:schemeClr val="hlink"/>
                </a:solidFill>
                <a:hlinkClick r:id="rId5"/>
              </a:rPr>
              <a:t>https://www.cdc.gov/coronavirus/2019-ncov/lab/guidelines-clinical-specimens.html</a:t>
            </a:r>
            <a:r>
              <a:rPr lang="en-GB"/>
              <a:t> </a:t>
            </a:r>
            <a:endParaRPr/>
          </a:p>
          <a:p>
            <a:pPr indent="0" lvl="0" marL="0" rtl="0" algn="l">
              <a:spcBef>
                <a:spcPts val="0"/>
              </a:spcBef>
              <a:spcAft>
                <a:spcPts val="0"/>
              </a:spcAft>
              <a:buNone/>
            </a:pPr>
            <a:r>
              <a:rPr lang="en-GB" u="sng">
                <a:solidFill>
                  <a:schemeClr val="hlink"/>
                </a:solidFill>
                <a:hlinkClick r:id="rId6"/>
              </a:rPr>
              <a:t>www.cdc.gov/coronavirus/2019-ncov/downloads/lab/NP-Specimen-Collection-Infographic.pdf</a:t>
            </a:r>
            <a:r>
              <a:rPr lang="en-GB"/>
              <a:t>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1f7d8e34d81_0_391: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1f7d8e34d81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1f7d8e34d81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1f7d8e34d81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1f7d8e34d81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1f7d8e34d81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1f7d8e34d81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1f7d8e34d81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1f7d8e34d81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1f7d8e34d81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1f7d8e34d81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1f7d8e34d81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1f7d8e34d81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1f7d8e34d81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1f7d8e34d81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1f7d8e34d81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without our host unis"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143000" y="1200150"/>
            <a:ext cx="6858000" cy="1432500"/>
          </a:xfrm>
          <a:prstGeom prst="rect">
            <a:avLst/>
          </a:prstGeom>
          <a:noFill/>
          <a:ln>
            <a:noFill/>
          </a:ln>
        </p:spPr>
        <p:txBody>
          <a:bodyPr anchorCtr="0" anchor="b" bIns="25700"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sz="3000"/>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10" name="Google Shape;10;p2"/>
          <p:cNvSpPr txBox="1"/>
          <p:nvPr>
            <p:ph idx="1" type="subTitle"/>
          </p:nvPr>
        </p:nvSpPr>
        <p:spPr>
          <a:xfrm>
            <a:off x="1143000" y="2701529"/>
            <a:ext cx="6858000" cy="1241700"/>
          </a:xfrm>
          <a:prstGeom prst="rect">
            <a:avLst/>
          </a:prstGeom>
          <a:noFill/>
          <a:ln>
            <a:noFill/>
          </a:ln>
        </p:spPr>
        <p:txBody>
          <a:bodyPr anchorCtr="0" anchor="t" bIns="25700" lIns="51425" spcFirstLastPara="1" rIns="51425" wrap="square" tIns="25700">
            <a:normAutofit/>
          </a:bodyPr>
          <a:lstStyle>
            <a:lvl1pPr lvl="0" algn="ctr">
              <a:lnSpc>
                <a:spcPct val="90000"/>
              </a:lnSpc>
              <a:spcBef>
                <a:spcPts val="800"/>
              </a:spcBef>
              <a:spcAft>
                <a:spcPts val="0"/>
              </a:spcAft>
              <a:buClr>
                <a:srgbClr val="757070"/>
              </a:buClr>
              <a:buSzPts val="1400"/>
              <a:buNone/>
              <a:defRPr sz="1800">
                <a:solidFill>
                  <a:srgbClr val="757070"/>
                </a:solidFill>
              </a:defRPr>
            </a:lvl1pPr>
            <a:lvl2pPr lvl="1" algn="ctr">
              <a:lnSpc>
                <a:spcPct val="90000"/>
              </a:lnSpc>
              <a:spcBef>
                <a:spcPts val="400"/>
              </a:spcBef>
              <a:spcAft>
                <a:spcPts val="0"/>
              </a:spcAft>
              <a:buClr>
                <a:srgbClr val="171616"/>
              </a:buClr>
              <a:buSzPts val="1100"/>
              <a:buNone/>
              <a:defRPr sz="1500"/>
            </a:lvl2pPr>
            <a:lvl3pPr lvl="2" algn="ctr">
              <a:lnSpc>
                <a:spcPct val="90000"/>
              </a:lnSpc>
              <a:spcBef>
                <a:spcPts val="400"/>
              </a:spcBef>
              <a:spcAft>
                <a:spcPts val="0"/>
              </a:spcAft>
              <a:buClr>
                <a:srgbClr val="171616"/>
              </a:buClr>
              <a:buSzPts val="1100"/>
              <a:buNone/>
              <a:defRPr sz="1400"/>
            </a:lvl3pPr>
            <a:lvl4pPr lvl="3" algn="ctr">
              <a:lnSpc>
                <a:spcPct val="90000"/>
              </a:lnSpc>
              <a:spcBef>
                <a:spcPts val="400"/>
              </a:spcBef>
              <a:spcAft>
                <a:spcPts val="0"/>
              </a:spcAft>
              <a:buClr>
                <a:srgbClr val="171616"/>
              </a:buClr>
              <a:buSzPts val="900"/>
              <a:buNone/>
              <a:defRPr sz="1200"/>
            </a:lvl4pPr>
            <a:lvl5pPr lvl="4" algn="ctr">
              <a:lnSpc>
                <a:spcPct val="90000"/>
              </a:lnSpc>
              <a:spcBef>
                <a:spcPts val="400"/>
              </a:spcBef>
              <a:spcAft>
                <a:spcPts val="0"/>
              </a:spcAft>
              <a:buClr>
                <a:srgbClr val="171616"/>
              </a:buClr>
              <a:buSzPts val="900"/>
              <a:buNone/>
              <a:defRPr sz="1200"/>
            </a:lvl5pPr>
            <a:lvl6pPr lvl="5" algn="ctr">
              <a:lnSpc>
                <a:spcPct val="90000"/>
              </a:lnSpc>
              <a:spcBef>
                <a:spcPts val="400"/>
              </a:spcBef>
              <a:spcAft>
                <a:spcPts val="0"/>
              </a:spcAft>
              <a:buClr>
                <a:schemeClr val="dk1"/>
              </a:buClr>
              <a:buSzPts val="900"/>
              <a:buNone/>
              <a:defRPr sz="1200"/>
            </a:lvl6pPr>
            <a:lvl7pPr lvl="6" algn="ctr">
              <a:lnSpc>
                <a:spcPct val="90000"/>
              </a:lnSpc>
              <a:spcBef>
                <a:spcPts val="400"/>
              </a:spcBef>
              <a:spcAft>
                <a:spcPts val="0"/>
              </a:spcAft>
              <a:buClr>
                <a:schemeClr val="dk1"/>
              </a:buClr>
              <a:buSzPts val="900"/>
              <a:buNone/>
              <a:defRPr sz="1200"/>
            </a:lvl7pPr>
            <a:lvl8pPr lvl="7" algn="ctr">
              <a:lnSpc>
                <a:spcPct val="90000"/>
              </a:lnSpc>
              <a:spcBef>
                <a:spcPts val="400"/>
              </a:spcBef>
              <a:spcAft>
                <a:spcPts val="0"/>
              </a:spcAft>
              <a:buClr>
                <a:schemeClr val="dk1"/>
              </a:buClr>
              <a:buSzPts val="900"/>
              <a:buNone/>
              <a:defRPr sz="1200"/>
            </a:lvl8pPr>
            <a:lvl9pPr lvl="8" algn="ctr">
              <a:lnSpc>
                <a:spcPct val="90000"/>
              </a:lnSpc>
              <a:spcBef>
                <a:spcPts val="400"/>
              </a:spcBef>
              <a:spcAft>
                <a:spcPts val="0"/>
              </a:spcAft>
              <a:buClr>
                <a:schemeClr val="dk1"/>
              </a:buClr>
              <a:buSzPts val="900"/>
              <a:buNone/>
              <a:defRPr sz="1200"/>
            </a:lvl9pPr>
          </a:lstStyle>
          <a:p/>
        </p:txBody>
      </p:sp>
      <p:pic>
        <p:nvPicPr>
          <p:cNvPr descr="A close up of a logo&#10;&#10;Description automatically generated" id="11" name="Google Shape;11;p2"/>
          <p:cNvPicPr preferRelativeResize="0"/>
          <p:nvPr/>
        </p:nvPicPr>
        <p:blipFill rotWithShape="1">
          <a:blip r:embed="rId2">
            <a:alphaModFix/>
          </a:blip>
          <a:srcRect b="0" l="0" r="0" t="0"/>
          <a:stretch/>
        </p:blipFill>
        <p:spPr>
          <a:xfrm>
            <a:off x="6134576" y="128462"/>
            <a:ext cx="2704148" cy="587570"/>
          </a:xfrm>
          <a:prstGeom prst="rect">
            <a:avLst/>
          </a:prstGeom>
          <a:noFill/>
          <a:ln>
            <a:noFill/>
          </a:ln>
        </p:spPr>
      </p:pic>
      <p:cxnSp>
        <p:nvCxnSpPr>
          <p:cNvPr id="12" name="Google Shape;12;p2"/>
          <p:cNvCxnSpPr/>
          <p:nvPr/>
        </p:nvCxnSpPr>
        <p:spPr>
          <a:xfrm rot="10800000">
            <a:off x="0" y="5108777"/>
            <a:ext cx="9144000" cy="0"/>
          </a:xfrm>
          <a:prstGeom prst="straightConnector1">
            <a:avLst/>
          </a:prstGeom>
          <a:noFill/>
          <a:ln cap="flat" cmpd="sng" w="101600">
            <a:solidFill>
              <a:schemeClr val="accent1"/>
            </a:solidFill>
            <a:prstDash val="solid"/>
            <a:miter lim="800000"/>
            <a:headEnd len="sm" w="sm" type="none"/>
            <a:tailEnd len="sm" w="sm" type="none"/>
          </a:ln>
        </p:spPr>
      </p:cxnSp>
      <p:pic>
        <p:nvPicPr>
          <p:cNvPr id="13" name="Google Shape;13;p2"/>
          <p:cNvPicPr preferRelativeResize="0"/>
          <p:nvPr/>
        </p:nvPicPr>
        <p:blipFill rotWithShape="1">
          <a:blip r:embed="rId3">
            <a:alphaModFix/>
          </a:blip>
          <a:srcRect b="0" l="0" r="0" t="0"/>
          <a:stretch/>
        </p:blipFill>
        <p:spPr>
          <a:xfrm>
            <a:off x="145472" y="128462"/>
            <a:ext cx="1414611" cy="75485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1_One column_no bulletpoints">
    <p:spTree>
      <p:nvGrpSpPr>
        <p:cNvPr id="14" name="Shape 14"/>
        <p:cNvGrpSpPr/>
        <p:nvPr/>
      </p:nvGrpSpPr>
      <p:grpSpPr>
        <a:xfrm>
          <a:off x="0" y="0"/>
          <a:ext cx="0" cy="0"/>
          <a:chOff x="0" y="0"/>
          <a:chExt cx="0" cy="0"/>
        </a:xfrm>
      </p:grpSpPr>
      <p:sp>
        <p:nvSpPr>
          <p:cNvPr id="15" name="Google Shape;15;p3"/>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pic>
        <p:nvPicPr>
          <p:cNvPr descr="A picture containing light&#10;&#10;Description automatically generated" id="16" name="Google Shape;16;p3"/>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17" name="Google Shape;17;p3"/>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18" name="Google Shape;18;p3"/>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
        <p:nvSpPr>
          <p:cNvPr id="19" name="Google Shape;19;p3"/>
          <p:cNvSpPr txBox="1"/>
          <p:nvPr>
            <p:ph idx="1" type="body"/>
          </p:nvPr>
        </p:nvSpPr>
        <p:spPr>
          <a:xfrm>
            <a:off x="323407" y="879614"/>
            <a:ext cx="8497200" cy="3510000"/>
          </a:xfrm>
          <a:prstGeom prst="rect">
            <a:avLst/>
          </a:prstGeom>
          <a:noFill/>
          <a:ln>
            <a:noFill/>
          </a:ln>
        </p:spPr>
        <p:txBody>
          <a:bodyPr anchorCtr="0" anchor="t" bIns="25700" lIns="51425" spcFirstLastPara="1" rIns="51425" wrap="square" tIns="25700">
            <a:normAutofit/>
          </a:bodyPr>
          <a:lstStyle>
            <a:lvl1pPr indent="-228600" lvl="0" marL="457200" algn="l">
              <a:lnSpc>
                <a:spcPct val="90000"/>
              </a:lnSpc>
              <a:spcBef>
                <a:spcPts val="800"/>
              </a:spcBef>
              <a:spcAft>
                <a:spcPts val="0"/>
              </a:spcAft>
              <a:buClr>
                <a:srgbClr val="171616"/>
              </a:buClr>
              <a:buSzPts val="1100"/>
              <a:buNone/>
              <a:defRPr sz="1500"/>
            </a:lvl1pPr>
            <a:lvl2pPr indent="-228600" lvl="1" marL="914400" algn="l">
              <a:lnSpc>
                <a:spcPct val="90000"/>
              </a:lnSpc>
              <a:spcBef>
                <a:spcPts val="400"/>
              </a:spcBef>
              <a:spcAft>
                <a:spcPts val="0"/>
              </a:spcAft>
              <a:buClr>
                <a:srgbClr val="171616"/>
              </a:buClr>
              <a:buSzPts val="900"/>
              <a:buNone/>
              <a:defRPr/>
            </a:lvl2pPr>
            <a:lvl3pPr indent="-228600" lvl="2" marL="1371600" algn="l">
              <a:lnSpc>
                <a:spcPct val="90000"/>
              </a:lnSpc>
              <a:spcBef>
                <a:spcPts val="400"/>
              </a:spcBef>
              <a:spcAft>
                <a:spcPts val="0"/>
              </a:spcAft>
              <a:buClr>
                <a:srgbClr val="171616"/>
              </a:buClr>
              <a:buSzPts val="800"/>
              <a:buNone/>
              <a:defRPr/>
            </a:lvl3pPr>
            <a:lvl4pPr indent="-228600" lvl="3" marL="1828800" algn="l">
              <a:lnSpc>
                <a:spcPct val="90000"/>
              </a:lnSpc>
              <a:spcBef>
                <a:spcPts val="400"/>
              </a:spcBef>
              <a:spcAft>
                <a:spcPts val="0"/>
              </a:spcAft>
              <a:buClr>
                <a:srgbClr val="171616"/>
              </a:buClr>
              <a:buSzPts val="800"/>
              <a:buNone/>
              <a:defRPr/>
            </a:lvl4pPr>
            <a:lvl5pPr indent="-228600" lvl="4" marL="2286000" algn="l">
              <a:lnSpc>
                <a:spcPct val="90000"/>
              </a:lnSpc>
              <a:spcBef>
                <a:spcPts val="400"/>
              </a:spcBef>
              <a:spcAft>
                <a:spcPts val="0"/>
              </a:spcAft>
              <a:buClr>
                <a:srgbClr val="171616"/>
              </a:buClr>
              <a:buSzPts val="800"/>
              <a:buNone/>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lumns-only title">
  <p:cSld name="1_One column_no bulletpoints_1">
    <p:spTree>
      <p:nvGrpSpPr>
        <p:cNvPr id="20" name="Shape 20"/>
        <p:cNvGrpSpPr/>
        <p:nvPr/>
      </p:nvGrpSpPr>
      <p:grpSpPr>
        <a:xfrm>
          <a:off x="0" y="0"/>
          <a:ext cx="0" cy="0"/>
          <a:chOff x="0" y="0"/>
          <a:chExt cx="0" cy="0"/>
        </a:xfrm>
      </p:grpSpPr>
      <p:sp>
        <p:nvSpPr>
          <p:cNvPr id="21" name="Google Shape;21;p4"/>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rtl="0" algn="ctr">
              <a:lnSpc>
                <a:spcPct val="90000"/>
              </a:lnSpc>
              <a:spcBef>
                <a:spcPts val="0"/>
              </a:spcBef>
              <a:spcAft>
                <a:spcPts val="0"/>
              </a:spcAft>
              <a:buClr>
                <a:srgbClr val="171616"/>
              </a:buClr>
              <a:buSzPts val="2300"/>
              <a:buFont typeface="Arial"/>
              <a:buNone/>
              <a:defRPr/>
            </a:lvl1pPr>
            <a:lvl2pPr lvl="1" rtl="0" algn="l">
              <a:lnSpc>
                <a:spcPct val="100000"/>
              </a:lnSpc>
              <a:spcBef>
                <a:spcPts val="0"/>
              </a:spcBef>
              <a:spcAft>
                <a:spcPts val="0"/>
              </a:spcAft>
              <a:buSzPts val="800"/>
              <a:buNone/>
              <a:defRPr/>
            </a:lvl2pPr>
            <a:lvl3pPr lvl="2" rtl="0" algn="l">
              <a:lnSpc>
                <a:spcPct val="100000"/>
              </a:lnSpc>
              <a:spcBef>
                <a:spcPts val="0"/>
              </a:spcBef>
              <a:spcAft>
                <a:spcPts val="0"/>
              </a:spcAft>
              <a:buSzPts val="800"/>
              <a:buNone/>
              <a:defRPr/>
            </a:lvl3pPr>
            <a:lvl4pPr lvl="3" rtl="0" algn="l">
              <a:lnSpc>
                <a:spcPct val="100000"/>
              </a:lnSpc>
              <a:spcBef>
                <a:spcPts val="0"/>
              </a:spcBef>
              <a:spcAft>
                <a:spcPts val="0"/>
              </a:spcAft>
              <a:buSzPts val="800"/>
              <a:buNone/>
              <a:defRPr/>
            </a:lvl4pPr>
            <a:lvl5pPr lvl="4" rtl="0" algn="l">
              <a:lnSpc>
                <a:spcPct val="100000"/>
              </a:lnSpc>
              <a:spcBef>
                <a:spcPts val="0"/>
              </a:spcBef>
              <a:spcAft>
                <a:spcPts val="0"/>
              </a:spcAft>
              <a:buSzPts val="800"/>
              <a:buNone/>
              <a:defRPr/>
            </a:lvl5pPr>
            <a:lvl6pPr lvl="5" rtl="0" algn="l">
              <a:lnSpc>
                <a:spcPct val="100000"/>
              </a:lnSpc>
              <a:spcBef>
                <a:spcPts val="0"/>
              </a:spcBef>
              <a:spcAft>
                <a:spcPts val="0"/>
              </a:spcAft>
              <a:buSzPts val="800"/>
              <a:buNone/>
              <a:defRPr/>
            </a:lvl6pPr>
            <a:lvl7pPr lvl="6" rtl="0" algn="l">
              <a:lnSpc>
                <a:spcPct val="100000"/>
              </a:lnSpc>
              <a:spcBef>
                <a:spcPts val="0"/>
              </a:spcBef>
              <a:spcAft>
                <a:spcPts val="0"/>
              </a:spcAft>
              <a:buSzPts val="800"/>
              <a:buNone/>
              <a:defRPr/>
            </a:lvl7pPr>
            <a:lvl8pPr lvl="7" rtl="0" algn="l">
              <a:lnSpc>
                <a:spcPct val="100000"/>
              </a:lnSpc>
              <a:spcBef>
                <a:spcPts val="0"/>
              </a:spcBef>
              <a:spcAft>
                <a:spcPts val="0"/>
              </a:spcAft>
              <a:buSzPts val="800"/>
              <a:buNone/>
              <a:defRPr/>
            </a:lvl8pPr>
            <a:lvl9pPr lvl="8" rtl="0" algn="l">
              <a:lnSpc>
                <a:spcPct val="100000"/>
              </a:lnSpc>
              <a:spcBef>
                <a:spcPts val="0"/>
              </a:spcBef>
              <a:spcAft>
                <a:spcPts val="0"/>
              </a:spcAft>
              <a:buSzPts val="800"/>
              <a:buNone/>
              <a:defRPr/>
            </a:lvl9pPr>
          </a:lstStyle>
          <a:p/>
        </p:txBody>
      </p:sp>
      <p:pic>
        <p:nvPicPr>
          <p:cNvPr descr="A picture containing light&#10;&#10;Description automatically generated" id="22" name="Google Shape;22;p4"/>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23" name="Google Shape;23;p4"/>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24" name="Google Shape;24;p4"/>
          <p:cNvPicPr preferRelativeResize="0"/>
          <p:nvPr/>
        </p:nvPicPr>
        <p:blipFill rotWithShape="1">
          <a:blip r:embed="rId3">
            <a:alphaModFix/>
          </a:blip>
          <a:srcRect b="0" l="0" r="0" t="0"/>
          <a:stretch/>
        </p:blipFill>
        <p:spPr>
          <a:xfrm>
            <a:off x="108497" y="4703613"/>
            <a:ext cx="972282" cy="35857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Two columns">
    <p:spTree>
      <p:nvGrpSpPr>
        <p:cNvPr id="25" name="Shape 25"/>
        <p:cNvGrpSpPr/>
        <p:nvPr/>
      </p:nvGrpSpPr>
      <p:grpSpPr>
        <a:xfrm>
          <a:off x="0" y="0"/>
          <a:ext cx="0" cy="0"/>
          <a:chOff x="0" y="0"/>
          <a:chExt cx="0" cy="0"/>
        </a:xfrm>
      </p:grpSpPr>
      <p:sp>
        <p:nvSpPr>
          <p:cNvPr id="26" name="Google Shape;26;p5"/>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pic>
        <p:nvPicPr>
          <p:cNvPr descr="A picture containing light&#10;&#10;Description automatically generated" id="27" name="Google Shape;27;p5"/>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28" name="Google Shape;28;p5"/>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29" name="Google Shape;29;p5"/>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
        <p:nvSpPr>
          <p:cNvPr id="30" name="Google Shape;30;p5"/>
          <p:cNvSpPr txBox="1"/>
          <p:nvPr>
            <p:ph idx="1" type="body"/>
          </p:nvPr>
        </p:nvSpPr>
        <p:spPr>
          <a:xfrm>
            <a:off x="628650" y="1115102"/>
            <a:ext cx="3886200" cy="35175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a:lvl1pPr>
            <a:lvl2pPr indent="-285750" lvl="1" marL="914400" algn="l">
              <a:lnSpc>
                <a:spcPct val="90000"/>
              </a:lnSpc>
              <a:spcBef>
                <a:spcPts val="300"/>
              </a:spcBef>
              <a:spcAft>
                <a:spcPts val="0"/>
              </a:spcAft>
              <a:buSzPts val="900"/>
              <a:buChar char="•"/>
              <a:defRPr/>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
        <p:nvSpPr>
          <p:cNvPr id="31" name="Google Shape;31;p5"/>
          <p:cNvSpPr txBox="1"/>
          <p:nvPr>
            <p:ph idx="2" type="body"/>
          </p:nvPr>
        </p:nvSpPr>
        <p:spPr>
          <a:xfrm>
            <a:off x="4629150" y="1115102"/>
            <a:ext cx="3886200" cy="35175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a:lvl1pPr>
            <a:lvl2pPr indent="-285750" lvl="1" marL="914400" algn="l">
              <a:lnSpc>
                <a:spcPct val="90000"/>
              </a:lnSpc>
              <a:spcBef>
                <a:spcPts val="300"/>
              </a:spcBef>
              <a:spcAft>
                <a:spcPts val="0"/>
              </a:spcAft>
              <a:buSzPts val="900"/>
              <a:buChar char="•"/>
              <a:defRPr/>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Three columns">
    <p:spTree>
      <p:nvGrpSpPr>
        <p:cNvPr id="32" name="Shape 32"/>
        <p:cNvGrpSpPr/>
        <p:nvPr/>
      </p:nvGrpSpPr>
      <p:grpSpPr>
        <a:xfrm>
          <a:off x="0" y="0"/>
          <a:ext cx="0" cy="0"/>
          <a:chOff x="0" y="0"/>
          <a:chExt cx="0" cy="0"/>
        </a:xfrm>
      </p:grpSpPr>
      <p:sp>
        <p:nvSpPr>
          <p:cNvPr id="33" name="Google Shape;33;p6"/>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pic>
        <p:nvPicPr>
          <p:cNvPr descr="A picture containing light&#10;&#10;Description automatically generated" id="34" name="Google Shape;34;p6"/>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35" name="Google Shape;35;p6"/>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36" name="Google Shape;36;p6"/>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
        <p:nvSpPr>
          <p:cNvPr id="37" name="Google Shape;37;p6"/>
          <p:cNvSpPr txBox="1"/>
          <p:nvPr>
            <p:ph idx="1" type="body"/>
          </p:nvPr>
        </p:nvSpPr>
        <p:spPr>
          <a:xfrm>
            <a:off x="636104" y="1043609"/>
            <a:ext cx="2358900" cy="35100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sz="1800"/>
            </a:lvl1pPr>
            <a:lvl2pPr indent="-285750" lvl="1" marL="914400" algn="l">
              <a:lnSpc>
                <a:spcPct val="90000"/>
              </a:lnSpc>
              <a:spcBef>
                <a:spcPts val="300"/>
              </a:spcBef>
              <a:spcAft>
                <a:spcPts val="0"/>
              </a:spcAft>
              <a:buSzPts val="900"/>
              <a:buChar char="•"/>
              <a:defRPr sz="1700"/>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
        <p:nvSpPr>
          <p:cNvPr id="38" name="Google Shape;38;p6"/>
          <p:cNvSpPr txBox="1"/>
          <p:nvPr>
            <p:ph idx="2" type="body"/>
          </p:nvPr>
        </p:nvSpPr>
        <p:spPr>
          <a:xfrm>
            <a:off x="3379304" y="1041227"/>
            <a:ext cx="2358900" cy="35100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sz="1800"/>
            </a:lvl1pPr>
            <a:lvl2pPr indent="-285750" lvl="1" marL="914400" algn="l">
              <a:lnSpc>
                <a:spcPct val="90000"/>
              </a:lnSpc>
              <a:spcBef>
                <a:spcPts val="300"/>
              </a:spcBef>
              <a:spcAft>
                <a:spcPts val="0"/>
              </a:spcAft>
              <a:buSzPts val="900"/>
              <a:buChar char="•"/>
              <a:defRPr sz="1700"/>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
        <p:nvSpPr>
          <p:cNvPr id="39" name="Google Shape;39;p6"/>
          <p:cNvSpPr txBox="1"/>
          <p:nvPr>
            <p:ph idx="3" type="body"/>
          </p:nvPr>
        </p:nvSpPr>
        <p:spPr>
          <a:xfrm>
            <a:off x="6122504" y="1041227"/>
            <a:ext cx="2358900" cy="35100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sz="1800"/>
            </a:lvl1pPr>
            <a:lvl2pPr indent="-285750" lvl="1" marL="914400" algn="l">
              <a:lnSpc>
                <a:spcPct val="90000"/>
              </a:lnSpc>
              <a:spcBef>
                <a:spcPts val="300"/>
              </a:spcBef>
              <a:spcAft>
                <a:spcPts val="0"/>
              </a:spcAft>
              <a:buSzPts val="900"/>
              <a:buChar char="•"/>
              <a:defRPr sz="1700"/>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No title - one column">
    <p:spTree>
      <p:nvGrpSpPr>
        <p:cNvPr id="40" name="Shape 40"/>
        <p:cNvGrpSpPr/>
        <p:nvPr/>
      </p:nvGrpSpPr>
      <p:grpSpPr>
        <a:xfrm>
          <a:off x="0" y="0"/>
          <a:ext cx="0" cy="0"/>
          <a:chOff x="0" y="0"/>
          <a:chExt cx="0" cy="0"/>
        </a:xfrm>
      </p:grpSpPr>
      <p:sp>
        <p:nvSpPr>
          <p:cNvPr id="41" name="Google Shape;41;p7"/>
          <p:cNvSpPr txBox="1"/>
          <p:nvPr>
            <p:ph idx="1" type="body"/>
          </p:nvPr>
        </p:nvSpPr>
        <p:spPr>
          <a:xfrm>
            <a:off x="323407" y="497909"/>
            <a:ext cx="8497200" cy="4129800"/>
          </a:xfrm>
          <a:prstGeom prst="rect">
            <a:avLst/>
          </a:prstGeom>
          <a:noFill/>
          <a:ln>
            <a:noFill/>
          </a:ln>
        </p:spPr>
        <p:txBody>
          <a:bodyPr anchorCtr="0" anchor="t" bIns="25700" lIns="51425" spcFirstLastPara="1" rIns="51425" wrap="square" tIns="25700">
            <a:normAutofit/>
          </a:bodyPr>
          <a:lstStyle>
            <a:lvl1pPr indent="-228600" lvl="0" marL="457200" algn="l">
              <a:lnSpc>
                <a:spcPct val="90000"/>
              </a:lnSpc>
              <a:spcBef>
                <a:spcPts val="800"/>
              </a:spcBef>
              <a:spcAft>
                <a:spcPts val="0"/>
              </a:spcAft>
              <a:buClr>
                <a:srgbClr val="171616"/>
              </a:buClr>
              <a:buSzPts val="1100"/>
              <a:buNone/>
              <a:defRPr sz="1500"/>
            </a:lvl1pPr>
            <a:lvl2pPr indent="-228600" lvl="1" marL="914400" algn="l">
              <a:lnSpc>
                <a:spcPct val="90000"/>
              </a:lnSpc>
              <a:spcBef>
                <a:spcPts val="400"/>
              </a:spcBef>
              <a:spcAft>
                <a:spcPts val="0"/>
              </a:spcAft>
              <a:buClr>
                <a:srgbClr val="171616"/>
              </a:buClr>
              <a:buSzPts val="900"/>
              <a:buNone/>
              <a:defRPr/>
            </a:lvl2pPr>
            <a:lvl3pPr indent="-228600" lvl="2" marL="1371600" algn="l">
              <a:lnSpc>
                <a:spcPct val="90000"/>
              </a:lnSpc>
              <a:spcBef>
                <a:spcPts val="400"/>
              </a:spcBef>
              <a:spcAft>
                <a:spcPts val="0"/>
              </a:spcAft>
              <a:buClr>
                <a:srgbClr val="171616"/>
              </a:buClr>
              <a:buSzPts val="800"/>
              <a:buNone/>
              <a:defRPr/>
            </a:lvl3pPr>
            <a:lvl4pPr indent="-228600" lvl="3" marL="1828800" algn="l">
              <a:lnSpc>
                <a:spcPct val="90000"/>
              </a:lnSpc>
              <a:spcBef>
                <a:spcPts val="400"/>
              </a:spcBef>
              <a:spcAft>
                <a:spcPts val="0"/>
              </a:spcAft>
              <a:buClr>
                <a:srgbClr val="171616"/>
              </a:buClr>
              <a:buSzPts val="800"/>
              <a:buNone/>
              <a:defRPr/>
            </a:lvl4pPr>
            <a:lvl5pPr indent="-228600" lvl="4" marL="2286000" algn="l">
              <a:lnSpc>
                <a:spcPct val="90000"/>
              </a:lnSpc>
              <a:spcBef>
                <a:spcPts val="400"/>
              </a:spcBef>
              <a:spcAft>
                <a:spcPts val="0"/>
              </a:spcAft>
              <a:buClr>
                <a:srgbClr val="171616"/>
              </a:buClr>
              <a:buSzPts val="800"/>
              <a:buNone/>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pic>
        <p:nvPicPr>
          <p:cNvPr descr="A picture containing light&#10;&#10;Description automatically generated" id="42" name="Google Shape;42;p7"/>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pic>
        <p:nvPicPr>
          <p:cNvPr id="43" name="Google Shape;43;p7"/>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bild">
  <p:cSld name="Rubrikbild">
    <p:spTree>
      <p:nvGrpSpPr>
        <p:cNvPr id="44" name="Shape 44"/>
        <p:cNvGrpSpPr/>
        <p:nvPr/>
      </p:nvGrpSpPr>
      <p:grpSpPr>
        <a:xfrm>
          <a:off x="0" y="0"/>
          <a:ext cx="0" cy="0"/>
          <a:chOff x="0" y="0"/>
          <a:chExt cx="0" cy="0"/>
        </a:xfrm>
      </p:grpSpPr>
      <p:sp>
        <p:nvSpPr>
          <p:cNvPr id="45" name="Google Shape;45;p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6" name="Google Shape;46;p8"/>
          <p:cNvSpPr txBox="1"/>
          <p:nvPr>
            <p:ph type="title"/>
          </p:nvPr>
        </p:nvSpPr>
        <p:spPr>
          <a:xfrm>
            <a:off x="2063148" y="198762"/>
            <a:ext cx="3492600" cy="595200"/>
          </a:xfrm>
          <a:prstGeom prst="rect">
            <a:avLst/>
          </a:prstGeom>
          <a:noFill/>
          <a:ln>
            <a:noFill/>
          </a:ln>
        </p:spPr>
        <p:txBody>
          <a:bodyPr anchorCtr="0" anchor="t" bIns="0" lIns="0" spcFirstLastPara="1" rIns="0" wrap="square" tIns="0">
            <a:normAutofit/>
          </a:bodyPr>
          <a:lstStyle>
            <a:lvl1pPr lvl="0" marR="0" rtl="0" algn="ctr">
              <a:spcBef>
                <a:spcPts val="0"/>
              </a:spcBef>
              <a:spcAft>
                <a:spcPts val="0"/>
              </a:spcAft>
              <a:buClr>
                <a:schemeClr val="dk1"/>
              </a:buClr>
              <a:buSzPts val="1500"/>
              <a:buFont typeface="Arial"/>
              <a:buNone/>
              <a:defRPr b="1" i="0" sz="1500" u="none" cap="none" strike="noStrike">
                <a:solidFill>
                  <a:schemeClr val="dk1"/>
                </a:solidFill>
                <a:latin typeface="Arial"/>
                <a:ea typeface="Arial"/>
                <a:cs typeface="Arial"/>
                <a:sym typeface="Arial"/>
              </a:defRPr>
            </a:lvl1pPr>
            <a:lvl2pPr lvl="1" rtl="0">
              <a:spcBef>
                <a:spcPts val="0"/>
              </a:spcBef>
              <a:spcAft>
                <a:spcPts val="0"/>
              </a:spcAft>
              <a:buSzPts val="800"/>
              <a:buNone/>
              <a:defRPr sz="1800"/>
            </a:lvl2pPr>
            <a:lvl3pPr lvl="2" rtl="0">
              <a:spcBef>
                <a:spcPts val="0"/>
              </a:spcBef>
              <a:spcAft>
                <a:spcPts val="0"/>
              </a:spcAft>
              <a:buSzPts val="800"/>
              <a:buNone/>
              <a:defRPr sz="1800"/>
            </a:lvl3pPr>
            <a:lvl4pPr lvl="3" rtl="0">
              <a:spcBef>
                <a:spcPts val="0"/>
              </a:spcBef>
              <a:spcAft>
                <a:spcPts val="0"/>
              </a:spcAft>
              <a:buSzPts val="800"/>
              <a:buNone/>
              <a:defRPr sz="1800"/>
            </a:lvl4pPr>
            <a:lvl5pPr lvl="4" rtl="0">
              <a:spcBef>
                <a:spcPts val="0"/>
              </a:spcBef>
              <a:spcAft>
                <a:spcPts val="0"/>
              </a:spcAft>
              <a:buSzPts val="800"/>
              <a:buNone/>
              <a:defRPr sz="1800"/>
            </a:lvl5pPr>
            <a:lvl6pPr lvl="5" rtl="0">
              <a:spcBef>
                <a:spcPts val="0"/>
              </a:spcBef>
              <a:spcAft>
                <a:spcPts val="0"/>
              </a:spcAft>
              <a:buSzPts val="800"/>
              <a:buNone/>
              <a:defRPr sz="1800"/>
            </a:lvl6pPr>
            <a:lvl7pPr lvl="6" rtl="0">
              <a:spcBef>
                <a:spcPts val="0"/>
              </a:spcBef>
              <a:spcAft>
                <a:spcPts val="0"/>
              </a:spcAft>
              <a:buSzPts val="800"/>
              <a:buNone/>
              <a:defRPr sz="1800"/>
            </a:lvl7pPr>
            <a:lvl8pPr lvl="7" rtl="0">
              <a:spcBef>
                <a:spcPts val="0"/>
              </a:spcBef>
              <a:spcAft>
                <a:spcPts val="0"/>
              </a:spcAft>
              <a:buSzPts val="800"/>
              <a:buNone/>
              <a:defRPr sz="1800"/>
            </a:lvl8pPr>
            <a:lvl9pPr lvl="8" rtl="0">
              <a:spcBef>
                <a:spcPts val="0"/>
              </a:spcBef>
              <a:spcAft>
                <a:spcPts val="0"/>
              </a:spcAft>
              <a:buSzPts val="800"/>
              <a:buNone/>
              <a:defRPr sz="1800"/>
            </a:lvl9pPr>
          </a:lstStyle>
          <a:p/>
        </p:txBody>
      </p:sp>
      <p:sp>
        <p:nvSpPr>
          <p:cNvPr id="47" name="Google Shape;47;p8"/>
          <p:cNvSpPr txBox="1"/>
          <p:nvPr>
            <p:ph idx="1" type="body"/>
          </p:nvPr>
        </p:nvSpPr>
        <p:spPr>
          <a:xfrm>
            <a:off x="307974" y="1337107"/>
            <a:ext cx="8038800" cy="918000"/>
          </a:xfrm>
          <a:prstGeom prst="rect">
            <a:avLst/>
          </a:prstGeom>
          <a:noFill/>
          <a:ln>
            <a:noFill/>
          </a:ln>
        </p:spPr>
        <p:txBody>
          <a:bodyPr anchorCtr="0" anchor="t" bIns="0" lIns="0" spcFirstLastPara="1" rIns="0" wrap="square" tIns="0">
            <a:normAutofit/>
          </a:bodyPr>
          <a:lstStyle>
            <a:lvl1pPr indent="-228600" lvl="0" marL="457200" marR="0" rtl="0" algn="l">
              <a:spcBef>
                <a:spcPts val="64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indent="-228600" lvl="1" marL="914400" marR="0" rtl="0" algn="l">
              <a:spcBef>
                <a:spcPts val="64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2pPr>
            <a:lvl3pPr indent="-228600" lvl="2" marL="1371600" marR="0" rtl="0" algn="l">
              <a:spcBef>
                <a:spcPts val="64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3pPr>
            <a:lvl4pPr indent="-228600" lvl="3" marL="1828800" marR="0" rtl="0" algn="l">
              <a:spcBef>
                <a:spcPts val="64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4pPr>
            <a:lvl5pPr indent="-228600" lvl="4" marL="2286000" marR="0" rtl="0" algn="l">
              <a:spcBef>
                <a:spcPts val="64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8" name="Google Shape;48;p8"/>
          <p:cNvSpPr txBox="1"/>
          <p:nvPr>
            <p:ph idx="2" type="body"/>
          </p:nvPr>
        </p:nvSpPr>
        <p:spPr>
          <a:xfrm>
            <a:off x="307975" y="2462846"/>
            <a:ext cx="8039100" cy="1782300"/>
          </a:xfrm>
          <a:prstGeom prst="rect">
            <a:avLst/>
          </a:prstGeom>
          <a:noFill/>
          <a:ln>
            <a:noFill/>
          </a:ln>
        </p:spPr>
        <p:txBody>
          <a:bodyPr anchorCtr="0" anchor="t" bIns="0" lIns="0" spcFirstLastPara="1" rIns="0" wrap="square" tIns="0">
            <a:norm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49" name="Shape 49"/>
        <p:cNvGrpSpPr/>
        <p:nvPr/>
      </p:nvGrpSpPr>
      <p:grpSpPr>
        <a:xfrm>
          <a:off x="0" y="0"/>
          <a:ext cx="0" cy="0"/>
          <a:chOff x="0" y="0"/>
          <a:chExt cx="0" cy="0"/>
        </a:xfrm>
      </p:grpSpPr>
      <p:sp>
        <p:nvSpPr>
          <p:cNvPr id="50" name="Google Shape;50;p9"/>
          <p:cNvSpPr txBox="1"/>
          <p:nvPr>
            <p:ph type="title"/>
          </p:nvPr>
        </p:nvSpPr>
        <p:spPr>
          <a:xfrm>
            <a:off x="1521980" y="155463"/>
            <a:ext cx="5437500" cy="476400"/>
          </a:xfrm>
          <a:prstGeom prst="rect">
            <a:avLst/>
          </a:prstGeom>
          <a:noFill/>
          <a:ln>
            <a:noFill/>
          </a:ln>
        </p:spPr>
        <p:txBody>
          <a:bodyPr anchorCtr="0" anchor="t" bIns="0" lIns="0" spcFirstLastPara="1" rIns="0" wrap="square" tIns="0">
            <a:normAutofit/>
          </a:bodyPr>
          <a:lstStyle>
            <a:lvl1pPr lvl="0" marR="0" rtl="0" algn="ctr">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rtl="0">
              <a:spcBef>
                <a:spcPts val="0"/>
              </a:spcBef>
              <a:spcAft>
                <a:spcPts val="0"/>
              </a:spcAft>
              <a:buSzPts val="800"/>
              <a:buNone/>
              <a:defRPr sz="1800"/>
            </a:lvl2pPr>
            <a:lvl3pPr lvl="2" rtl="0">
              <a:spcBef>
                <a:spcPts val="0"/>
              </a:spcBef>
              <a:spcAft>
                <a:spcPts val="0"/>
              </a:spcAft>
              <a:buSzPts val="800"/>
              <a:buNone/>
              <a:defRPr sz="1800"/>
            </a:lvl3pPr>
            <a:lvl4pPr lvl="3" rtl="0">
              <a:spcBef>
                <a:spcPts val="0"/>
              </a:spcBef>
              <a:spcAft>
                <a:spcPts val="0"/>
              </a:spcAft>
              <a:buSzPts val="800"/>
              <a:buNone/>
              <a:defRPr sz="1800"/>
            </a:lvl4pPr>
            <a:lvl5pPr lvl="4" rtl="0">
              <a:spcBef>
                <a:spcPts val="0"/>
              </a:spcBef>
              <a:spcAft>
                <a:spcPts val="0"/>
              </a:spcAft>
              <a:buSzPts val="800"/>
              <a:buNone/>
              <a:defRPr sz="1800"/>
            </a:lvl5pPr>
            <a:lvl6pPr lvl="5" rtl="0">
              <a:spcBef>
                <a:spcPts val="0"/>
              </a:spcBef>
              <a:spcAft>
                <a:spcPts val="0"/>
              </a:spcAft>
              <a:buSzPts val="800"/>
              <a:buNone/>
              <a:defRPr sz="1800"/>
            </a:lvl6pPr>
            <a:lvl7pPr lvl="6" rtl="0">
              <a:spcBef>
                <a:spcPts val="0"/>
              </a:spcBef>
              <a:spcAft>
                <a:spcPts val="0"/>
              </a:spcAft>
              <a:buSzPts val="800"/>
              <a:buNone/>
              <a:defRPr sz="1800"/>
            </a:lvl7pPr>
            <a:lvl8pPr lvl="7" rtl="0">
              <a:spcBef>
                <a:spcPts val="0"/>
              </a:spcBef>
              <a:spcAft>
                <a:spcPts val="0"/>
              </a:spcAft>
              <a:buSzPts val="800"/>
              <a:buNone/>
              <a:defRPr sz="1800"/>
            </a:lvl8pPr>
            <a:lvl9pPr lvl="8" rtl="0">
              <a:spcBef>
                <a:spcPts val="0"/>
              </a:spcBef>
              <a:spcAft>
                <a:spcPts val="0"/>
              </a:spcAft>
              <a:buSzPts val="800"/>
              <a:buNone/>
              <a:defRPr sz="1800"/>
            </a:lvl9pPr>
          </a:lstStyle>
          <a:p/>
        </p:txBody>
      </p:sp>
      <p:sp>
        <p:nvSpPr>
          <p:cNvPr id="51" name="Google Shape;51;p9"/>
          <p:cNvSpPr txBox="1"/>
          <p:nvPr>
            <p:ph idx="1" type="body"/>
          </p:nvPr>
        </p:nvSpPr>
        <p:spPr>
          <a:xfrm>
            <a:off x="307886" y="880403"/>
            <a:ext cx="8544000" cy="3714300"/>
          </a:xfrm>
          <a:prstGeom prst="rect">
            <a:avLst/>
          </a:prstGeom>
          <a:noFill/>
          <a:ln>
            <a:noFill/>
          </a:ln>
        </p:spPr>
        <p:txBody>
          <a:bodyPr anchorCtr="0" anchor="t" bIns="0" lIns="0" spcFirstLastPara="1" rIns="0" wrap="square" tIns="0">
            <a:norm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2" name="Google Shape;52;p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53" name="Shape 53"/>
        <p:cNvGrpSpPr/>
        <p:nvPr/>
      </p:nvGrpSpPr>
      <p:grpSpPr>
        <a:xfrm>
          <a:off x="0" y="0"/>
          <a:ext cx="0" cy="0"/>
          <a:chOff x="0" y="0"/>
          <a:chExt cx="0" cy="0"/>
        </a:xfrm>
      </p:grpSpPr>
      <p:sp>
        <p:nvSpPr>
          <p:cNvPr id="54" name="Google Shape;54;p10"/>
          <p:cNvSpPr txBox="1"/>
          <p:nvPr>
            <p:ph type="title"/>
          </p:nvPr>
        </p:nvSpPr>
        <p:spPr>
          <a:xfrm>
            <a:off x="1587500" y="155463"/>
            <a:ext cx="5334000" cy="429000"/>
          </a:xfrm>
          <a:prstGeom prst="rect">
            <a:avLst/>
          </a:prstGeom>
          <a:noFill/>
          <a:ln>
            <a:noFill/>
          </a:ln>
        </p:spPr>
        <p:txBody>
          <a:bodyPr anchorCtr="0" anchor="t" bIns="0" lIns="0" spcFirstLastPara="1" rIns="0" wrap="square" tIns="0">
            <a:normAutofit/>
          </a:bodyPr>
          <a:lstStyle>
            <a:lvl1pPr lvl="0" marR="0" rtl="0" algn="ctr">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rtl="0">
              <a:spcBef>
                <a:spcPts val="0"/>
              </a:spcBef>
              <a:spcAft>
                <a:spcPts val="0"/>
              </a:spcAft>
              <a:buSzPts val="800"/>
              <a:buNone/>
              <a:defRPr sz="1800"/>
            </a:lvl2pPr>
            <a:lvl3pPr lvl="2" rtl="0">
              <a:spcBef>
                <a:spcPts val="0"/>
              </a:spcBef>
              <a:spcAft>
                <a:spcPts val="0"/>
              </a:spcAft>
              <a:buSzPts val="800"/>
              <a:buNone/>
              <a:defRPr sz="1800"/>
            </a:lvl3pPr>
            <a:lvl4pPr lvl="3" rtl="0">
              <a:spcBef>
                <a:spcPts val="0"/>
              </a:spcBef>
              <a:spcAft>
                <a:spcPts val="0"/>
              </a:spcAft>
              <a:buSzPts val="800"/>
              <a:buNone/>
              <a:defRPr sz="1800"/>
            </a:lvl4pPr>
            <a:lvl5pPr lvl="4" rtl="0">
              <a:spcBef>
                <a:spcPts val="0"/>
              </a:spcBef>
              <a:spcAft>
                <a:spcPts val="0"/>
              </a:spcAft>
              <a:buSzPts val="800"/>
              <a:buNone/>
              <a:defRPr sz="1800"/>
            </a:lvl5pPr>
            <a:lvl6pPr lvl="5" rtl="0">
              <a:spcBef>
                <a:spcPts val="0"/>
              </a:spcBef>
              <a:spcAft>
                <a:spcPts val="0"/>
              </a:spcAft>
              <a:buSzPts val="800"/>
              <a:buNone/>
              <a:defRPr sz="1800"/>
            </a:lvl6pPr>
            <a:lvl7pPr lvl="6" rtl="0">
              <a:spcBef>
                <a:spcPts val="0"/>
              </a:spcBef>
              <a:spcAft>
                <a:spcPts val="0"/>
              </a:spcAft>
              <a:buSzPts val="800"/>
              <a:buNone/>
              <a:defRPr sz="1800"/>
            </a:lvl7pPr>
            <a:lvl8pPr lvl="7" rtl="0">
              <a:spcBef>
                <a:spcPts val="0"/>
              </a:spcBef>
              <a:spcAft>
                <a:spcPts val="0"/>
              </a:spcAft>
              <a:buSzPts val="800"/>
              <a:buNone/>
              <a:defRPr sz="1800"/>
            </a:lvl8pPr>
            <a:lvl9pPr lvl="8" rtl="0">
              <a:spcBef>
                <a:spcPts val="0"/>
              </a:spcBef>
              <a:spcAft>
                <a:spcPts val="0"/>
              </a:spcAft>
              <a:buSzPts val="800"/>
              <a:buNone/>
              <a:defRPr sz="1800"/>
            </a:lvl9pPr>
          </a:lstStyle>
          <a:p/>
        </p:txBody>
      </p:sp>
      <p:sp>
        <p:nvSpPr>
          <p:cNvPr id="55" name="Google Shape;55;p1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56" name="Shape 56"/>
        <p:cNvGrpSpPr/>
        <p:nvPr/>
      </p:nvGrpSpPr>
      <p:grpSpPr>
        <a:xfrm>
          <a:off x="0" y="0"/>
          <a:ext cx="0" cy="0"/>
          <a:chOff x="0" y="0"/>
          <a:chExt cx="0" cy="0"/>
        </a:xfrm>
      </p:grpSpPr>
      <p:sp>
        <p:nvSpPr>
          <p:cNvPr id="57" name="Google Shape;57;p11"/>
          <p:cNvSpPr txBox="1"/>
          <p:nvPr>
            <p:ph type="title"/>
          </p:nvPr>
        </p:nvSpPr>
        <p:spPr>
          <a:xfrm>
            <a:off x="1587500" y="155463"/>
            <a:ext cx="5334000" cy="429000"/>
          </a:xfrm>
          <a:prstGeom prst="rect">
            <a:avLst/>
          </a:prstGeom>
          <a:noFill/>
          <a:ln>
            <a:noFill/>
          </a:ln>
        </p:spPr>
        <p:txBody>
          <a:bodyPr anchorCtr="0" anchor="t" bIns="0" lIns="0" spcFirstLastPara="1" rIns="0" wrap="square" tIns="0">
            <a:normAutofit/>
          </a:bodyPr>
          <a:lstStyle>
            <a:lvl1pPr lvl="0" marR="0" rtl="0" algn="ctr">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rtl="0">
              <a:spcBef>
                <a:spcPts val="0"/>
              </a:spcBef>
              <a:spcAft>
                <a:spcPts val="0"/>
              </a:spcAft>
              <a:buSzPts val="800"/>
              <a:buNone/>
              <a:defRPr sz="1800"/>
            </a:lvl2pPr>
            <a:lvl3pPr lvl="2" rtl="0">
              <a:spcBef>
                <a:spcPts val="0"/>
              </a:spcBef>
              <a:spcAft>
                <a:spcPts val="0"/>
              </a:spcAft>
              <a:buSzPts val="800"/>
              <a:buNone/>
              <a:defRPr sz="1800"/>
            </a:lvl3pPr>
            <a:lvl4pPr lvl="3" rtl="0">
              <a:spcBef>
                <a:spcPts val="0"/>
              </a:spcBef>
              <a:spcAft>
                <a:spcPts val="0"/>
              </a:spcAft>
              <a:buSzPts val="800"/>
              <a:buNone/>
              <a:defRPr sz="1800"/>
            </a:lvl4pPr>
            <a:lvl5pPr lvl="4" rtl="0">
              <a:spcBef>
                <a:spcPts val="0"/>
              </a:spcBef>
              <a:spcAft>
                <a:spcPts val="0"/>
              </a:spcAft>
              <a:buSzPts val="800"/>
              <a:buNone/>
              <a:defRPr sz="1800"/>
            </a:lvl5pPr>
            <a:lvl6pPr lvl="5" rtl="0">
              <a:spcBef>
                <a:spcPts val="0"/>
              </a:spcBef>
              <a:spcAft>
                <a:spcPts val="0"/>
              </a:spcAft>
              <a:buSzPts val="800"/>
              <a:buNone/>
              <a:defRPr sz="1800"/>
            </a:lvl6pPr>
            <a:lvl7pPr lvl="6" rtl="0">
              <a:spcBef>
                <a:spcPts val="0"/>
              </a:spcBef>
              <a:spcAft>
                <a:spcPts val="0"/>
              </a:spcAft>
              <a:buSzPts val="800"/>
              <a:buNone/>
              <a:defRPr sz="1800"/>
            </a:lvl7pPr>
            <a:lvl8pPr lvl="7" rtl="0">
              <a:spcBef>
                <a:spcPts val="0"/>
              </a:spcBef>
              <a:spcAft>
                <a:spcPts val="0"/>
              </a:spcAft>
              <a:buSzPts val="800"/>
              <a:buNone/>
              <a:defRPr sz="1800"/>
            </a:lvl8pPr>
            <a:lvl9pPr lvl="8" rtl="0">
              <a:spcBef>
                <a:spcPts val="0"/>
              </a:spcBef>
              <a:spcAft>
                <a:spcPts val="0"/>
              </a:spcAft>
              <a:buSzPts val="800"/>
              <a:buNone/>
              <a:defRPr sz="1800"/>
            </a:lvl9pPr>
          </a:lstStyle>
          <a:p/>
        </p:txBody>
      </p:sp>
      <p:sp>
        <p:nvSpPr>
          <p:cNvPr id="58" name="Google Shape;58;p11"/>
          <p:cNvSpPr txBox="1"/>
          <p:nvPr>
            <p:ph idx="1" type="body"/>
          </p:nvPr>
        </p:nvSpPr>
        <p:spPr>
          <a:xfrm>
            <a:off x="341748" y="923701"/>
            <a:ext cx="4038600" cy="3670800"/>
          </a:xfrm>
          <a:prstGeom prst="rect">
            <a:avLst/>
          </a:prstGeom>
          <a:noFill/>
          <a:ln>
            <a:noFill/>
          </a:ln>
        </p:spPr>
        <p:txBody>
          <a:bodyPr anchorCtr="0" anchor="t" bIns="0" lIns="0" spcFirstLastPara="1" rIns="0" wrap="square" tIns="0">
            <a:norm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9" name="Google Shape;59;p11"/>
          <p:cNvSpPr txBox="1"/>
          <p:nvPr>
            <p:ph idx="2" type="body"/>
          </p:nvPr>
        </p:nvSpPr>
        <p:spPr>
          <a:xfrm>
            <a:off x="4773273" y="923701"/>
            <a:ext cx="4038600" cy="3670800"/>
          </a:xfrm>
          <a:prstGeom prst="rect">
            <a:avLst/>
          </a:prstGeom>
          <a:noFill/>
          <a:ln>
            <a:noFill/>
          </a:ln>
        </p:spPr>
        <p:txBody>
          <a:bodyPr anchorCtr="0" anchor="t" bIns="0" lIns="0" spcFirstLastPara="1" rIns="0" wrap="square" tIns="0">
            <a:norm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0" name="Google Shape;60;p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bild 1">
  <p:cSld name="Rubrikbild_1">
    <p:spTree>
      <p:nvGrpSpPr>
        <p:cNvPr id="61" name="Shape 61"/>
        <p:cNvGrpSpPr/>
        <p:nvPr/>
      </p:nvGrpSpPr>
      <p:grpSpPr>
        <a:xfrm>
          <a:off x="0" y="0"/>
          <a:ext cx="0" cy="0"/>
          <a:chOff x="0" y="0"/>
          <a:chExt cx="0" cy="0"/>
        </a:xfrm>
      </p:grpSpPr>
      <p:sp>
        <p:nvSpPr>
          <p:cNvPr id="62" name="Google Shape;62;p1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3" name="Google Shape;63;p12"/>
          <p:cNvSpPr txBox="1"/>
          <p:nvPr>
            <p:ph type="title"/>
          </p:nvPr>
        </p:nvSpPr>
        <p:spPr>
          <a:xfrm>
            <a:off x="1502592" y="155463"/>
            <a:ext cx="5453700" cy="429000"/>
          </a:xfrm>
          <a:prstGeom prst="rect">
            <a:avLst/>
          </a:prstGeom>
          <a:noFill/>
          <a:ln>
            <a:noFill/>
          </a:ln>
        </p:spPr>
        <p:txBody>
          <a:bodyPr anchorCtr="0" anchor="t" bIns="0" lIns="0" spcFirstLastPara="1" rIns="0" wrap="square" tIns="0">
            <a:normAutofit/>
          </a:bodyPr>
          <a:lstStyle>
            <a:lvl1pPr lvl="0" marR="0" rtl="0" algn="ctr">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rtl="0">
              <a:spcBef>
                <a:spcPts val="0"/>
              </a:spcBef>
              <a:spcAft>
                <a:spcPts val="0"/>
              </a:spcAft>
              <a:buSzPts val="800"/>
              <a:buNone/>
              <a:defRPr sz="1800"/>
            </a:lvl2pPr>
            <a:lvl3pPr lvl="2" rtl="0">
              <a:spcBef>
                <a:spcPts val="0"/>
              </a:spcBef>
              <a:spcAft>
                <a:spcPts val="0"/>
              </a:spcAft>
              <a:buSzPts val="800"/>
              <a:buNone/>
              <a:defRPr sz="1800"/>
            </a:lvl3pPr>
            <a:lvl4pPr lvl="3" rtl="0">
              <a:spcBef>
                <a:spcPts val="0"/>
              </a:spcBef>
              <a:spcAft>
                <a:spcPts val="0"/>
              </a:spcAft>
              <a:buSzPts val="800"/>
              <a:buNone/>
              <a:defRPr sz="1800"/>
            </a:lvl4pPr>
            <a:lvl5pPr lvl="4" rtl="0">
              <a:spcBef>
                <a:spcPts val="0"/>
              </a:spcBef>
              <a:spcAft>
                <a:spcPts val="0"/>
              </a:spcAft>
              <a:buSzPts val="800"/>
              <a:buNone/>
              <a:defRPr sz="1800"/>
            </a:lvl5pPr>
            <a:lvl6pPr lvl="5" rtl="0">
              <a:spcBef>
                <a:spcPts val="0"/>
              </a:spcBef>
              <a:spcAft>
                <a:spcPts val="0"/>
              </a:spcAft>
              <a:buSzPts val="800"/>
              <a:buNone/>
              <a:defRPr sz="1800"/>
            </a:lvl6pPr>
            <a:lvl7pPr lvl="6" rtl="0">
              <a:spcBef>
                <a:spcPts val="0"/>
              </a:spcBef>
              <a:spcAft>
                <a:spcPts val="0"/>
              </a:spcAft>
              <a:buSzPts val="800"/>
              <a:buNone/>
              <a:defRPr sz="1800"/>
            </a:lvl7pPr>
            <a:lvl8pPr lvl="7" rtl="0">
              <a:spcBef>
                <a:spcPts val="0"/>
              </a:spcBef>
              <a:spcAft>
                <a:spcPts val="0"/>
              </a:spcAft>
              <a:buSzPts val="800"/>
              <a:buNone/>
              <a:defRPr sz="1800"/>
            </a:lvl8pPr>
            <a:lvl9pPr lvl="8" rtl="0">
              <a:spcBef>
                <a:spcPts val="0"/>
              </a:spcBef>
              <a:spcAft>
                <a:spcPts val="0"/>
              </a:spcAft>
              <a:buSzPts val="800"/>
              <a:buNone/>
              <a:defRPr sz="1800"/>
            </a:lvl9pPr>
          </a:lstStyle>
          <a:p/>
        </p:txBody>
      </p:sp>
      <p:sp>
        <p:nvSpPr>
          <p:cNvPr id="64" name="Google Shape;64;p12"/>
          <p:cNvSpPr txBox="1"/>
          <p:nvPr>
            <p:ph idx="1" type="body"/>
          </p:nvPr>
        </p:nvSpPr>
        <p:spPr>
          <a:xfrm>
            <a:off x="307886" y="880403"/>
            <a:ext cx="8544000" cy="3714300"/>
          </a:xfrm>
          <a:prstGeom prst="rect">
            <a:avLst/>
          </a:prstGeom>
          <a:noFill/>
          <a:ln>
            <a:noFill/>
          </a:ln>
        </p:spPr>
        <p:txBody>
          <a:bodyPr anchorCtr="0" anchor="t" bIns="0" lIns="0" spcFirstLastPara="1" rIns="0" wrap="square" tIns="0">
            <a:norm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92460" y="273844"/>
            <a:ext cx="4944000" cy="994200"/>
          </a:xfrm>
          <a:prstGeom prst="rect">
            <a:avLst/>
          </a:prstGeom>
          <a:noFill/>
          <a:ln>
            <a:noFill/>
          </a:ln>
        </p:spPr>
        <p:txBody>
          <a:bodyPr anchorCtr="0" anchor="ctr" bIns="25700" lIns="51425" spcFirstLastPara="1" rIns="51425" wrap="square" tIns="25700">
            <a:normAutofit/>
          </a:bodyPr>
          <a:lstStyle>
            <a:lvl1pPr lvl="0" marR="0" rtl="0" algn="ctr">
              <a:lnSpc>
                <a:spcPct val="90000"/>
              </a:lnSpc>
              <a:spcBef>
                <a:spcPts val="0"/>
              </a:spcBef>
              <a:spcAft>
                <a:spcPts val="0"/>
              </a:spcAft>
              <a:buClr>
                <a:srgbClr val="171616"/>
              </a:buClr>
              <a:buSzPts val="2300"/>
              <a:buFont typeface="Arial"/>
              <a:buNone/>
              <a:defRPr b="1" i="0" sz="2300" u="none" cap="none" strike="noStrike">
                <a:solidFill>
                  <a:srgbClr val="171616"/>
                </a:solidFill>
                <a:latin typeface="Arial"/>
                <a:ea typeface="Arial"/>
                <a:cs typeface="Arial"/>
                <a:sym typeface="Arial"/>
              </a:defRPr>
            </a:lvl1pPr>
            <a:lvl2pPr lvl="1"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25700" lIns="51425" spcFirstLastPara="1" rIns="51425" wrap="square" tIns="25700">
            <a:normAutofit/>
          </a:bodyPr>
          <a:lstStyle>
            <a:lvl1pPr indent="-298450" lvl="0" marL="457200" marR="0" rtl="0" algn="l">
              <a:lnSpc>
                <a:spcPct val="90000"/>
              </a:lnSpc>
              <a:spcBef>
                <a:spcPts val="600"/>
              </a:spcBef>
              <a:spcAft>
                <a:spcPts val="0"/>
              </a:spcAft>
              <a:buClr>
                <a:srgbClr val="171616"/>
              </a:buClr>
              <a:buSzPts val="1100"/>
              <a:buFont typeface="Arial"/>
              <a:buChar char="•"/>
              <a:defRPr b="0" i="0" sz="1100" u="none" cap="none" strike="noStrike">
                <a:solidFill>
                  <a:srgbClr val="171616"/>
                </a:solidFill>
                <a:latin typeface="Arial"/>
                <a:ea typeface="Arial"/>
                <a:cs typeface="Arial"/>
                <a:sym typeface="Arial"/>
              </a:defRPr>
            </a:lvl1pPr>
            <a:lvl2pPr indent="-285750" lvl="1" marL="914400" marR="0" rtl="0" algn="l">
              <a:lnSpc>
                <a:spcPct val="90000"/>
              </a:lnSpc>
              <a:spcBef>
                <a:spcPts val="300"/>
              </a:spcBef>
              <a:spcAft>
                <a:spcPts val="0"/>
              </a:spcAft>
              <a:buClr>
                <a:srgbClr val="171616"/>
              </a:buClr>
              <a:buSzPts val="900"/>
              <a:buFont typeface="Arial"/>
              <a:buChar char="•"/>
              <a:defRPr b="0" i="0" sz="900" u="none" cap="none" strike="noStrike">
                <a:solidFill>
                  <a:srgbClr val="171616"/>
                </a:solidFill>
                <a:latin typeface="Arial"/>
                <a:ea typeface="Arial"/>
                <a:cs typeface="Arial"/>
                <a:sym typeface="Arial"/>
              </a:defRPr>
            </a:lvl2pPr>
            <a:lvl3pPr indent="-279400" lvl="2" marL="1371600" marR="0" rtl="0" algn="l">
              <a:lnSpc>
                <a:spcPct val="90000"/>
              </a:lnSpc>
              <a:spcBef>
                <a:spcPts val="300"/>
              </a:spcBef>
              <a:spcAft>
                <a:spcPts val="0"/>
              </a:spcAft>
              <a:buClr>
                <a:srgbClr val="171616"/>
              </a:buClr>
              <a:buSzPts val="800"/>
              <a:buFont typeface="Arial"/>
              <a:buChar char="•"/>
              <a:defRPr b="0" i="0" sz="800" u="none" cap="none" strike="noStrike">
                <a:solidFill>
                  <a:srgbClr val="171616"/>
                </a:solidFill>
                <a:latin typeface="Arial"/>
                <a:ea typeface="Arial"/>
                <a:cs typeface="Arial"/>
                <a:sym typeface="Arial"/>
              </a:defRPr>
            </a:lvl3pPr>
            <a:lvl4pPr indent="-279400" lvl="3" marL="1828800" marR="0" rtl="0" algn="l">
              <a:lnSpc>
                <a:spcPct val="90000"/>
              </a:lnSpc>
              <a:spcBef>
                <a:spcPts val="300"/>
              </a:spcBef>
              <a:spcAft>
                <a:spcPts val="0"/>
              </a:spcAft>
              <a:buClr>
                <a:srgbClr val="171616"/>
              </a:buClr>
              <a:buSzPts val="800"/>
              <a:buFont typeface="Arial"/>
              <a:buChar char="•"/>
              <a:defRPr b="0" i="0" sz="800" u="none" cap="none" strike="noStrike">
                <a:solidFill>
                  <a:srgbClr val="171616"/>
                </a:solidFill>
                <a:latin typeface="Arial"/>
                <a:ea typeface="Arial"/>
                <a:cs typeface="Arial"/>
                <a:sym typeface="Arial"/>
              </a:defRPr>
            </a:lvl4pPr>
            <a:lvl5pPr indent="-279400" lvl="4" marL="2286000" marR="0" rtl="0" algn="l">
              <a:lnSpc>
                <a:spcPct val="90000"/>
              </a:lnSpc>
              <a:spcBef>
                <a:spcPts val="300"/>
              </a:spcBef>
              <a:spcAft>
                <a:spcPts val="0"/>
              </a:spcAft>
              <a:buClr>
                <a:srgbClr val="171616"/>
              </a:buClr>
              <a:buSzPts val="800"/>
              <a:buFont typeface="Arial"/>
              <a:buChar char="•"/>
              <a:defRPr b="0" i="0" sz="800" u="none" cap="none" strike="noStrike">
                <a:solidFill>
                  <a:srgbClr val="171616"/>
                </a:solidFill>
                <a:latin typeface="Arial"/>
                <a:ea typeface="Arial"/>
                <a:cs typeface="Arial"/>
                <a:sym typeface="Arial"/>
              </a:defRPr>
            </a:lvl5pPr>
            <a:lvl6pPr indent="-298450" lvl="5" marL="27432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6pPr>
            <a:lvl7pPr indent="-298450" lvl="6" marL="32004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7pPr>
            <a:lvl8pPr indent="-298450" lvl="7" marL="36576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8pPr>
            <a:lvl9pPr indent="-298450" lvl="8" marL="41148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hyperlink" Target="https://nbisweden.github.io/module-metadata-dm-practice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hyperlink" Target="https://rdmkit.elixir-europe.org/images/data_life_cycle.p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hyperlink" Target="http://dx.doi.org/10.1038/sdata.2016.1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nbisweden.github.io/module-metadata-dm-practices/files/samples_metadata_lesson.csv"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ebi.ac.uk/ols/ontologies/hp/terms?iri=http%3A%2F%2Fpurl.obolibrary.org%2Fobo%2FHP_0001658" TargetMode="External"/><Relationship Id="rId4" Type="http://schemas.openxmlformats.org/officeDocument/2006/relationships/image" Target="../media/image8.png"/><Relationship Id="rId5" Type="http://schemas.openxmlformats.org/officeDocument/2006/relationships/hyperlink" Target="https://www.ebi.ac.uk/ols/ontologies/hp/terms?iri=http%3A%2F%2Fpurl.obolibrary.org%2Fobo%2FHP_000165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ebi.ac.uk/ols/ontologies/bto/terms?iri=http%3A%2F%2Fpurl.obolibrary.org%2Fobo%2FBTO_0000564" TargetMode="External"/><Relationship Id="rId4" Type="http://schemas.openxmlformats.org/officeDocument/2006/relationships/image" Target="../media/image7.png"/><Relationship Id="rId5" Type="http://schemas.openxmlformats.org/officeDocument/2006/relationships/hyperlink" Target="https://www.ebi.ac.uk/ols/ontologies/bto/terms?iri=http%3A%2F%2Fpurl.obolibrary.org%2Fobo%2FBTO_000056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hyperlink" Target="https://xkcd.com/927/" TargetMode="External"/><Relationship Id="rId5" Type="http://schemas.openxmlformats.org/officeDocument/2006/relationships/hyperlink" Target="https://creativecommons.org/licenses/by-nc/2.5/"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dublincore.org/specifications/dublin-core/dces/" TargetMode="External"/><Relationship Id="rId4" Type="http://schemas.openxmlformats.org/officeDocument/2006/relationships/image" Target="../media/image13.png"/><Relationship Id="rId5" Type="http://schemas.openxmlformats.org/officeDocument/2006/relationships/hyperlink" Target="https://creativecommons.org/licenses/by/3.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ebi.ac.uk/ena/browser/view/ERC000033" TargetMode="Externa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hyperlink" Target="https://fairsharing.org/summary-statistics/" TargetMode="External"/><Relationship Id="rId6" Type="http://schemas.openxmlformats.org/officeDocument/2006/relationships/hyperlink" Target="https://creativecommons.org/licenses/by-sa/4.0/legalcod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19.png"/><Relationship Id="rId5" Type="http://schemas.openxmlformats.org/officeDocument/2006/relationships/hyperlink" Target="https://nbisweden.github.io/module-metadata-dm-practices/files/samples_metadata_lesson.csv" TargetMode="External"/><Relationship Id="rId6" Type="http://schemas.openxmlformats.org/officeDocument/2006/relationships/hyperlink" Target="https://nbisweden.github.io/module-metadata-dm-practices/files/samples_metadata_lesson.csv"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www.ebi.ac.uk/ena/browser/checklist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hyperlink" Target="https://www.ebi.ac.uk/ena/browser/view/ERC000033"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hyperlink" Target="https://www.ebi.ac.uk/ena/browser/view/ERC000033"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fairsharing.org/" TargetMode="External"/><Relationship Id="rId4" Type="http://schemas.openxmlformats.org/officeDocument/2006/relationships/hyperlink" Target="https://www.ebi.ac.uk/spot/ontology/" TargetMode="External"/><Relationship Id="rId11" Type="http://schemas.openxmlformats.org/officeDocument/2006/relationships/hyperlink" Target="https://creativecommons.org/licenses/by-sa/4.0/legalcode" TargetMode="External"/><Relationship Id="rId10" Type="http://schemas.openxmlformats.org/officeDocument/2006/relationships/hyperlink" Target="https://fairsharing.org/" TargetMode="External"/><Relationship Id="rId12" Type="http://schemas.openxmlformats.org/officeDocument/2006/relationships/hyperlink" Target="https://www.ebi.ac.uk/spot/ontology/" TargetMode="External"/><Relationship Id="rId9" Type="http://schemas.openxmlformats.org/officeDocument/2006/relationships/image" Target="../media/image16.png"/><Relationship Id="rId5" Type="http://schemas.openxmlformats.org/officeDocument/2006/relationships/hyperlink" Target="https://www.ebi.ac.uk/ols/" TargetMode="External"/><Relationship Id="rId6" Type="http://schemas.openxmlformats.org/officeDocument/2006/relationships/hyperlink" Target="https://www.ebi.ac.uk/spot/zooma/" TargetMode="External"/><Relationship Id="rId7" Type="http://schemas.openxmlformats.org/officeDocument/2006/relationships/image" Target="../media/image24.png"/><Relationship Id="rId8"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fairsharing.org/" TargetMode="External"/><Relationship Id="rId4" Type="http://schemas.openxmlformats.org/officeDocument/2006/relationships/hyperlink" Target="https://creativecommons.org/licenses/by-sa/4.0/legalcode" TargetMode="External"/><Relationship Id="rId5"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www.ebi.ac.uk/ols" TargetMode="External"/><Relationship Id="rId4" Type="http://schemas.openxmlformats.org/officeDocument/2006/relationships/image" Target="../media/image18.png"/><Relationship Id="rId5" Type="http://schemas.openxmlformats.org/officeDocument/2006/relationships/hyperlink" Target="https://www.ebi.ac.uk/ol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www.ebi.ac.uk/spot/zooma/" TargetMode="External"/><Relationship Id="rId4" Type="http://schemas.openxmlformats.org/officeDocument/2006/relationships/image" Target="../media/image27.png"/><Relationship Id="rId5" Type="http://schemas.openxmlformats.org/officeDocument/2006/relationships/hyperlink" Target="https://www.ebi.ac.uk/training/online/courses/cellular-microscopy-phenotype-ontology-quick-tour/annotating-data-with-cmpo/" TargetMode="External"/><Relationship Id="rId6" Type="http://schemas.openxmlformats.org/officeDocument/2006/relationships/hyperlink" Target="https://creativecommons.org/licenses/by/4.0/"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hyperlink" Target="https://nbisweden.github.io/module-metadata-dm-practice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5.jpg"/><Relationship Id="rId4" Type="http://schemas.openxmlformats.org/officeDocument/2006/relationships/image" Target="../media/image36.png"/><Relationship Id="rId5"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hyperlink" Target="https://www.fosteropenscience.eu/content/what-open-science-introducti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7.png"/><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1.png"/><Relationship Id="rId4" Type="http://schemas.openxmlformats.org/officeDocument/2006/relationships/hyperlink" Target="https://rdmkit.elixir-europe.org/images/data_life_cycle.png" TargetMode="External"/></Relationships>
</file>

<file path=ppt/slides/_rels/slide50.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1.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2.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3.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4.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5.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6.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7.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47.jpg"/><Relationship Id="rId13" Type="http://schemas.openxmlformats.org/officeDocument/2006/relationships/image" Target="../media/image4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4.png"/><Relationship Id="rId4" Type="http://schemas.openxmlformats.org/officeDocument/2006/relationships/image" Target="../media/image52.png"/><Relationship Id="rId5" Type="http://schemas.openxmlformats.org/officeDocument/2006/relationships/image" Target="../media/image5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1.png"/><Relationship Id="rId6"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7.png"/><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57.png"/><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61.png"/><Relationship Id="rId4" Type="http://schemas.openxmlformats.org/officeDocument/2006/relationships/image" Target="../media/image6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63.png"/><Relationship Id="rId4" Type="http://schemas.openxmlformats.org/officeDocument/2006/relationships/image" Target="../media/image58.png"/><Relationship Id="rId5" Type="http://schemas.openxmlformats.org/officeDocument/2006/relationships/image" Target="../media/image65.png"/><Relationship Id="rId6" Type="http://schemas.openxmlformats.org/officeDocument/2006/relationships/image" Target="../media/image60.png"/><Relationship Id="rId7"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ctrTitle"/>
          </p:nvPr>
        </p:nvSpPr>
        <p:spPr>
          <a:xfrm>
            <a:off x="1143000" y="1200150"/>
            <a:ext cx="6858000" cy="1432500"/>
          </a:xfrm>
          <a:prstGeom prst="rect">
            <a:avLst/>
          </a:prstGeom>
        </p:spPr>
        <p:txBody>
          <a:bodyPr anchorCtr="0" anchor="b" bIns="25700" lIns="51425" spcFirstLastPara="1" rIns="51425" wrap="square" tIns="25700">
            <a:normAutofit/>
          </a:bodyPr>
          <a:lstStyle/>
          <a:p>
            <a:pPr indent="0" lvl="0" marL="0" rtl="0" algn="l">
              <a:spcBef>
                <a:spcPts val="0"/>
              </a:spcBef>
              <a:spcAft>
                <a:spcPts val="0"/>
              </a:spcAft>
              <a:buNone/>
            </a:pPr>
            <a:r>
              <a:rPr lang="en-GB"/>
              <a:t>(Meta)data</a:t>
            </a:r>
            <a:endParaRPr/>
          </a:p>
        </p:txBody>
      </p:sp>
      <p:sp>
        <p:nvSpPr>
          <p:cNvPr id="70" name="Google Shape;70;p13"/>
          <p:cNvSpPr txBox="1"/>
          <p:nvPr>
            <p:ph idx="1" type="subTitle"/>
          </p:nvPr>
        </p:nvSpPr>
        <p:spPr>
          <a:xfrm>
            <a:off x="1143000" y="2701529"/>
            <a:ext cx="6858000" cy="1241700"/>
          </a:xfrm>
          <a:prstGeom prst="rect">
            <a:avLst/>
          </a:prstGeom>
        </p:spPr>
        <p:txBody>
          <a:bodyPr anchorCtr="0" anchor="t" bIns="25700" lIns="51425" spcFirstLastPara="1" rIns="51425" wrap="square" tIns="25700">
            <a:normAutofit/>
          </a:bodyPr>
          <a:lstStyle/>
          <a:p>
            <a:pPr indent="0" lvl="0" marL="0" rtl="0" algn="l">
              <a:lnSpc>
                <a:spcPct val="100000"/>
              </a:lnSpc>
              <a:spcBef>
                <a:spcPts val="400"/>
              </a:spcBef>
              <a:spcAft>
                <a:spcPts val="0"/>
              </a:spcAft>
              <a:buClr>
                <a:schemeClr val="dk1"/>
              </a:buClr>
              <a:buSzPts val="1100"/>
              <a:buFont typeface="Arial"/>
              <a:buNone/>
            </a:pPr>
            <a:r>
              <a:rPr i="1" lang="en-GB" sz="2000">
                <a:solidFill>
                  <a:schemeClr val="dk1"/>
                </a:solidFill>
                <a:latin typeface="Source Sans Pro"/>
                <a:ea typeface="Source Sans Pro"/>
                <a:cs typeface="Source Sans Pro"/>
                <a:sym typeface="Source Sans Pro"/>
              </a:rPr>
              <a:t>Introduction to Data Management Practices course</a:t>
            </a:r>
            <a:endParaRPr i="1" sz="2000">
              <a:solidFill>
                <a:schemeClr val="dk1"/>
              </a:solidFill>
              <a:latin typeface="Source Sans Pro"/>
              <a:ea typeface="Source Sans Pro"/>
              <a:cs typeface="Source Sans Pro"/>
              <a:sym typeface="Source Sans Pro"/>
            </a:endParaRPr>
          </a:p>
          <a:p>
            <a:pPr indent="0" lvl="0" marL="0" rtl="0" algn="l">
              <a:lnSpc>
                <a:spcPct val="100000"/>
              </a:lnSpc>
              <a:spcBef>
                <a:spcPts val="400"/>
              </a:spcBef>
              <a:spcAft>
                <a:spcPts val="0"/>
              </a:spcAft>
              <a:buNone/>
            </a:pPr>
            <a:r>
              <a:rPr lang="en-GB" sz="2000">
                <a:solidFill>
                  <a:schemeClr val="dk1"/>
                </a:solidFill>
                <a:latin typeface="Source Sans Pro"/>
                <a:ea typeface="Source Sans Pro"/>
                <a:cs typeface="Source Sans Pro"/>
                <a:sym typeface="Source Sans Pro"/>
              </a:rPr>
              <a:t>NBIS DM Team</a:t>
            </a:r>
            <a:endParaRPr sz="2000">
              <a:solidFill>
                <a:schemeClr val="dk1"/>
              </a:solidFill>
              <a:latin typeface="Source Sans Pro"/>
              <a:ea typeface="Source Sans Pro"/>
              <a:cs typeface="Source Sans Pro"/>
              <a:sym typeface="Source Sans Pro"/>
            </a:endParaRPr>
          </a:p>
          <a:p>
            <a:pPr indent="0" lvl="0" marL="0" rtl="0" algn="l">
              <a:lnSpc>
                <a:spcPct val="100000"/>
              </a:lnSpc>
              <a:spcBef>
                <a:spcPts val="400"/>
              </a:spcBef>
              <a:spcAft>
                <a:spcPts val="0"/>
              </a:spcAft>
              <a:buClr>
                <a:schemeClr val="dk1"/>
              </a:buClr>
              <a:buSzPts val="1100"/>
              <a:buFont typeface="Arial"/>
              <a:buNone/>
            </a:pPr>
            <a:r>
              <a:rPr lang="en-GB" sz="2000">
                <a:solidFill>
                  <a:schemeClr val="dk1"/>
                </a:solidFill>
                <a:latin typeface="Source Sans Pro"/>
                <a:ea typeface="Source Sans Pro"/>
                <a:cs typeface="Source Sans Pro"/>
                <a:sym typeface="Source Sans Pro"/>
              </a:rPr>
              <a:t>data-management@scilifelab.se</a:t>
            </a:r>
            <a:endParaRPr sz="2000">
              <a:solidFill>
                <a:schemeClr val="dk1"/>
              </a:solidFill>
              <a:latin typeface="Source Sans Pro"/>
              <a:ea typeface="Source Sans Pro"/>
              <a:cs typeface="Source Sans Pro"/>
              <a:sym typeface="Source Sans Pro"/>
            </a:endParaRPr>
          </a:p>
        </p:txBody>
      </p:sp>
      <p:pic>
        <p:nvPicPr>
          <p:cNvPr id="71" name="Google Shape;71;p13"/>
          <p:cNvPicPr preferRelativeResize="0"/>
          <p:nvPr/>
        </p:nvPicPr>
        <p:blipFill rotWithShape="1">
          <a:blip r:embed="rId3">
            <a:alphaModFix/>
          </a:blip>
          <a:srcRect b="0" l="0" r="0" t="0"/>
          <a:stretch/>
        </p:blipFill>
        <p:spPr>
          <a:xfrm>
            <a:off x="7087475" y="4409497"/>
            <a:ext cx="1710789" cy="597418"/>
          </a:xfrm>
          <a:prstGeom prst="rect">
            <a:avLst/>
          </a:prstGeom>
          <a:noFill/>
          <a:ln>
            <a:noFill/>
          </a:ln>
        </p:spPr>
      </p:pic>
      <p:sp>
        <p:nvSpPr>
          <p:cNvPr id="72" name="Google Shape;72;p13"/>
          <p:cNvSpPr txBox="1"/>
          <p:nvPr/>
        </p:nvSpPr>
        <p:spPr>
          <a:xfrm>
            <a:off x="96700" y="4727925"/>
            <a:ext cx="60357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hlink"/>
                </a:solidFill>
                <a:hlinkClick r:id="rId4"/>
              </a:rPr>
              <a:t>https://nbisweden.github.io/module-metadata-dm-practices/index.html</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What is the problem?</a:t>
            </a:r>
            <a:endParaRPr/>
          </a:p>
        </p:txBody>
      </p:sp>
      <p:sp>
        <p:nvSpPr>
          <p:cNvPr id="78" name="Google Shape;78;p14"/>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0" lvl="0" marL="0" rtl="0" algn="ctr">
              <a:spcBef>
                <a:spcPts val="600"/>
              </a:spcBef>
              <a:spcAft>
                <a:spcPts val="0"/>
              </a:spcAft>
              <a:buNone/>
            </a:pPr>
            <a:r>
              <a:rPr i="1" lang="en-GB" sz="2600"/>
              <a:t>“Someone unfamiliar with your project should be able to look at your computer files and understand in detail what you did and why.”</a:t>
            </a:r>
            <a:endParaRPr i="1" sz="2600"/>
          </a:p>
          <a:p>
            <a:pPr indent="0" lvl="0" marL="0" rtl="0" algn="ctr">
              <a:spcBef>
                <a:spcPts val="600"/>
              </a:spcBef>
              <a:spcAft>
                <a:spcPts val="0"/>
              </a:spcAft>
              <a:buNone/>
            </a:pPr>
            <a:r>
              <a:t/>
            </a:r>
            <a:endParaRPr i="1" sz="2600"/>
          </a:p>
          <a:p>
            <a:pPr indent="0" lvl="0" marL="0" rtl="0" algn="ctr">
              <a:spcBef>
                <a:spcPts val="600"/>
              </a:spcBef>
              <a:spcAft>
                <a:spcPts val="0"/>
              </a:spcAft>
              <a:buNone/>
            </a:pPr>
            <a:r>
              <a:t/>
            </a:r>
            <a:endParaRPr i="1" sz="2600"/>
          </a:p>
          <a:p>
            <a:pPr indent="0" lvl="0" marL="0" rtl="0" algn="l">
              <a:spcBef>
                <a:spcPts val="600"/>
              </a:spcBef>
              <a:spcAft>
                <a:spcPts val="0"/>
              </a:spcAft>
              <a:buNone/>
            </a:pPr>
            <a:r>
              <a:t/>
            </a:r>
            <a:endParaRPr i="1" sz="2600"/>
          </a:p>
          <a:p>
            <a:pPr indent="0" lvl="0" marL="0" rtl="0" algn="ctr">
              <a:spcBef>
                <a:spcPts val="600"/>
              </a:spcBef>
              <a:spcAft>
                <a:spcPts val="0"/>
              </a:spcAft>
              <a:buNone/>
            </a:pPr>
            <a:r>
              <a:rPr i="1" lang="en-GB" sz="2600"/>
              <a:t>“Your primary collaborator is yourself six months from now, and your past self don’t answer e-mails.”</a:t>
            </a:r>
            <a:endParaRPr i="1"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Metadata</a:t>
            </a:r>
            <a:endParaRPr/>
          </a:p>
        </p:txBody>
      </p:sp>
      <p:sp>
        <p:nvSpPr>
          <p:cNvPr id="84" name="Google Shape;84;p15"/>
          <p:cNvSpPr txBox="1"/>
          <p:nvPr>
            <p:ph idx="4294967295" type="body"/>
          </p:nvPr>
        </p:nvSpPr>
        <p:spPr>
          <a:xfrm>
            <a:off x="307875" y="1879350"/>
            <a:ext cx="8544000" cy="2715300"/>
          </a:xfrm>
          <a:prstGeom prst="rect">
            <a:avLst/>
          </a:prstGeom>
        </p:spPr>
        <p:txBody>
          <a:bodyPr anchorCtr="0" anchor="t" bIns="25700" lIns="51425" spcFirstLastPara="1" rIns="51425" wrap="square" tIns="25700">
            <a:normAutofit/>
          </a:bodyPr>
          <a:lstStyle/>
          <a:p>
            <a:pPr indent="0" lvl="0" marL="0" rtl="0" algn="ctr">
              <a:spcBef>
                <a:spcPts val="600"/>
              </a:spcBef>
              <a:spcAft>
                <a:spcPts val="0"/>
              </a:spcAft>
              <a:buNone/>
            </a:pPr>
            <a:r>
              <a:rPr lang="en-GB" sz="2600"/>
              <a:t>The data about the data (or anything really)</a:t>
            </a:r>
            <a:endParaRPr sz="2600"/>
          </a:p>
          <a:p>
            <a:pPr indent="0" lvl="0" marL="0" rtl="0" algn="ctr">
              <a:spcBef>
                <a:spcPts val="600"/>
              </a:spcBef>
              <a:spcAft>
                <a:spcPts val="0"/>
              </a:spcAft>
              <a:buNone/>
            </a:pPr>
            <a:r>
              <a:t/>
            </a:r>
            <a:endParaRPr sz="2600"/>
          </a:p>
          <a:p>
            <a:pPr indent="0" lvl="0" marL="0" rtl="0" algn="ctr">
              <a:spcBef>
                <a:spcPts val="600"/>
              </a:spcBef>
              <a:spcAft>
                <a:spcPts val="0"/>
              </a:spcAft>
              <a:buNone/>
            </a:pPr>
            <a:r>
              <a:t/>
            </a:r>
            <a:endParaRPr sz="2600"/>
          </a:p>
          <a:p>
            <a:pPr indent="0" lvl="0" marL="0" rtl="0" algn="ctr">
              <a:spcBef>
                <a:spcPts val="600"/>
              </a:spcBef>
              <a:spcAft>
                <a:spcPts val="0"/>
              </a:spcAft>
              <a:buNone/>
            </a:pPr>
            <a:r>
              <a:t/>
            </a:r>
            <a:endParaRPr sz="2600"/>
          </a:p>
          <a:p>
            <a:pPr indent="0" lvl="0" marL="0" rtl="0" algn="ctr">
              <a:spcBef>
                <a:spcPts val="600"/>
              </a:spcBef>
              <a:spcAft>
                <a:spcPts val="0"/>
              </a:spcAft>
              <a:buNone/>
            </a:pPr>
            <a:r>
              <a:rPr i="1" lang="en-GB" sz="2600"/>
              <a:t>“One person’s metadata, is another person’s data”</a:t>
            </a:r>
            <a:endParaRPr i="1" sz="2600"/>
          </a:p>
          <a:p>
            <a:pPr indent="0" lvl="0" marL="0" rtl="0" algn="l">
              <a:spcBef>
                <a:spcPts val="600"/>
              </a:spcBef>
              <a:spcAft>
                <a:spcPts val="0"/>
              </a:spcAft>
              <a:buNone/>
            </a:pPr>
            <a:r>
              <a:t/>
            </a:r>
            <a:endParaRPr i="1"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Metadata</a:t>
            </a:r>
            <a:endParaRPr/>
          </a:p>
        </p:txBody>
      </p:sp>
      <p:sp>
        <p:nvSpPr>
          <p:cNvPr id="90" name="Google Shape;90;p16"/>
          <p:cNvSpPr txBox="1"/>
          <p:nvPr>
            <p:ph idx="4294967295" type="body"/>
          </p:nvPr>
        </p:nvSpPr>
        <p:spPr>
          <a:xfrm>
            <a:off x="307875" y="880400"/>
            <a:ext cx="8544000" cy="4131300"/>
          </a:xfrm>
          <a:prstGeom prst="rect">
            <a:avLst/>
          </a:prstGeom>
        </p:spPr>
        <p:txBody>
          <a:bodyPr anchorCtr="0" anchor="t" bIns="25700" lIns="51425" spcFirstLastPara="1" rIns="51425" wrap="square" tIns="25700">
            <a:normAutofit/>
          </a:bodyPr>
          <a:lstStyle/>
          <a:p>
            <a:pPr indent="-361950" lvl="0" marL="457200" rtl="0" algn="l">
              <a:spcBef>
                <a:spcPts val="600"/>
              </a:spcBef>
              <a:spcAft>
                <a:spcPts val="0"/>
              </a:spcAft>
              <a:buSzPts val="2100"/>
              <a:buChar char="•"/>
            </a:pPr>
            <a:r>
              <a:rPr lang="en-GB" sz="2100"/>
              <a:t>Describe data at different levels</a:t>
            </a:r>
            <a:endParaRPr sz="2100"/>
          </a:p>
          <a:p>
            <a:pPr indent="-349250" lvl="1" marL="914400" rtl="0" algn="l">
              <a:spcBef>
                <a:spcPts val="0"/>
              </a:spcBef>
              <a:spcAft>
                <a:spcPts val="0"/>
              </a:spcAft>
              <a:buSzPts val="1900"/>
              <a:buChar char="•"/>
            </a:pPr>
            <a:r>
              <a:rPr lang="en-GB" sz="1900"/>
              <a:t>e</a:t>
            </a:r>
            <a:r>
              <a:rPr lang="en-GB" sz="1900"/>
              <a:t>.g. a whole study vs the samples</a:t>
            </a:r>
            <a:endParaRPr sz="1900"/>
          </a:p>
          <a:p>
            <a:pPr indent="0" lvl="0" marL="0" rtl="0" algn="l">
              <a:spcBef>
                <a:spcPts val="600"/>
              </a:spcBef>
              <a:spcAft>
                <a:spcPts val="0"/>
              </a:spcAft>
              <a:buNone/>
            </a:pPr>
            <a:r>
              <a:t/>
            </a:r>
            <a:endParaRPr sz="2100"/>
          </a:p>
          <a:p>
            <a:pPr indent="0" lvl="0" marL="3600000" rtl="0" algn="l">
              <a:spcBef>
                <a:spcPts val="600"/>
              </a:spcBef>
              <a:spcAft>
                <a:spcPts val="0"/>
              </a:spcAft>
              <a:buNone/>
            </a:pPr>
            <a:r>
              <a:rPr i="1" lang="en-GB" sz="2100"/>
              <a:t>Examples</a:t>
            </a:r>
            <a:endParaRPr i="1" sz="2100"/>
          </a:p>
          <a:p>
            <a:pPr indent="-361950" lvl="0" marL="3869999" rtl="0" algn="l">
              <a:spcBef>
                <a:spcPts val="600"/>
              </a:spcBef>
              <a:spcAft>
                <a:spcPts val="0"/>
              </a:spcAft>
              <a:buSzPts val="2100"/>
              <a:buChar char="•"/>
            </a:pPr>
            <a:r>
              <a:rPr lang="en-GB" sz="2100"/>
              <a:t>Creators</a:t>
            </a:r>
            <a:endParaRPr sz="2100"/>
          </a:p>
          <a:p>
            <a:pPr indent="-361950" lvl="0" marL="3869999" rtl="0" algn="l">
              <a:spcBef>
                <a:spcPts val="0"/>
              </a:spcBef>
              <a:spcAft>
                <a:spcPts val="0"/>
              </a:spcAft>
              <a:buSzPts val="2100"/>
              <a:buChar char="•"/>
            </a:pPr>
            <a:r>
              <a:rPr lang="en-GB" sz="2100"/>
              <a:t>File types and formats of the data</a:t>
            </a:r>
            <a:endParaRPr sz="2100"/>
          </a:p>
          <a:p>
            <a:pPr indent="-361950" lvl="0" marL="3869999" rtl="0" algn="l">
              <a:spcBef>
                <a:spcPts val="0"/>
              </a:spcBef>
              <a:spcAft>
                <a:spcPts val="0"/>
              </a:spcAft>
              <a:buSzPts val="2100"/>
              <a:buChar char="•"/>
            </a:pPr>
            <a:r>
              <a:rPr lang="en-GB" sz="2100"/>
              <a:t>Licence for re-use of the data</a:t>
            </a:r>
            <a:endParaRPr sz="2100"/>
          </a:p>
          <a:p>
            <a:pPr indent="-361950" lvl="0" marL="3869999" rtl="0" algn="l">
              <a:spcBef>
                <a:spcPts val="0"/>
              </a:spcBef>
              <a:spcAft>
                <a:spcPts val="0"/>
              </a:spcAft>
              <a:buSzPts val="2100"/>
              <a:buChar char="•"/>
            </a:pPr>
            <a:r>
              <a:rPr lang="en-GB" sz="2100"/>
              <a:t>Methodology for data collection</a:t>
            </a:r>
            <a:endParaRPr sz="2100"/>
          </a:p>
          <a:p>
            <a:pPr indent="-361950" lvl="0" marL="3869999" rtl="0" algn="l">
              <a:spcBef>
                <a:spcPts val="0"/>
              </a:spcBef>
              <a:spcAft>
                <a:spcPts val="0"/>
              </a:spcAft>
              <a:buSzPts val="2100"/>
              <a:buChar char="•"/>
            </a:pPr>
            <a:r>
              <a:rPr lang="en-GB" sz="2100"/>
              <a:t>Analytical and procedural information</a:t>
            </a:r>
            <a:endParaRPr sz="2100"/>
          </a:p>
          <a:p>
            <a:pPr indent="-361950" lvl="0" marL="3869999" rtl="0" algn="l">
              <a:spcBef>
                <a:spcPts val="0"/>
              </a:spcBef>
              <a:spcAft>
                <a:spcPts val="0"/>
              </a:spcAft>
              <a:buSzPts val="2100"/>
              <a:buChar char="•"/>
            </a:pPr>
            <a:r>
              <a:rPr lang="en-GB" sz="2100"/>
              <a:t>Sources of samples</a:t>
            </a:r>
            <a:endParaRPr sz="2100"/>
          </a:p>
          <a:p>
            <a:pPr indent="-361950" lvl="0" marL="3869999" rtl="0" algn="l">
              <a:spcBef>
                <a:spcPts val="0"/>
              </a:spcBef>
              <a:spcAft>
                <a:spcPts val="0"/>
              </a:spcAft>
              <a:buSzPts val="2100"/>
              <a:buChar char="•"/>
            </a:pPr>
            <a:r>
              <a:rPr lang="en-GB" sz="2100"/>
              <a:t>Sample treatment</a:t>
            </a:r>
            <a:endParaRPr sz="2100"/>
          </a:p>
          <a:p>
            <a:pPr indent="-361950" lvl="0" marL="3869999" rtl="0" algn="l">
              <a:spcBef>
                <a:spcPts val="0"/>
              </a:spcBef>
              <a:spcAft>
                <a:spcPts val="0"/>
              </a:spcAft>
              <a:buSzPts val="2100"/>
              <a:buChar char="•"/>
            </a:pPr>
            <a:r>
              <a:rPr lang="en-GB" sz="2100"/>
              <a:t>Geolocation(s) of samples</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Metadata in the Data Life Cycle</a:t>
            </a:r>
            <a:endParaRPr/>
          </a:p>
        </p:txBody>
      </p:sp>
      <p:pic>
        <p:nvPicPr>
          <p:cNvPr id="96" name="Google Shape;96;p17"/>
          <p:cNvPicPr preferRelativeResize="0"/>
          <p:nvPr/>
        </p:nvPicPr>
        <p:blipFill>
          <a:blip r:embed="rId3">
            <a:alphaModFix/>
          </a:blip>
          <a:stretch>
            <a:fillRect/>
          </a:stretch>
        </p:blipFill>
        <p:spPr>
          <a:xfrm>
            <a:off x="2362000" y="880400"/>
            <a:ext cx="3618427" cy="3621026"/>
          </a:xfrm>
          <a:prstGeom prst="rect">
            <a:avLst/>
          </a:prstGeom>
          <a:noFill/>
          <a:ln>
            <a:noFill/>
          </a:ln>
        </p:spPr>
      </p:pic>
      <p:sp>
        <p:nvSpPr>
          <p:cNvPr id="97" name="Google Shape;97;p17"/>
          <p:cNvSpPr txBox="1"/>
          <p:nvPr/>
        </p:nvSpPr>
        <p:spPr>
          <a:xfrm>
            <a:off x="5411650" y="880400"/>
            <a:ext cx="255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Determine what metadata is needed </a:t>
            </a:r>
            <a:r>
              <a:rPr lang="en-GB" sz="1100"/>
              <a:t>f</a:t>
            </a:r>
            <a:r>
              <a:rPr lang="en-GB" sz="1100"/>
              <a:t>or doing the project and sharing data</a:t>
            </a:r>
            <a:endParaRPr sz="1100"/>
          </a:p>
        </p:txBody>
      </p:sp>
      <p:sp>
        <p:nvSpPr>
          <p:cNvPr id="98" name="Google Shape;98;p17"/>
          <p:cNvSpPr txBox="1"/>
          <p:nvPr/>
        </p:nvSpPr>
        <p:spPr>
          <a:xfrm>
            <a:off x="6105700" y="2048550"/>
            <a:ext cx="141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Collecting metadata</a:t>
            </a:r>
            <a:endParaRPr sz="1100"/>
          </a:p>
        </p:txBody>
      </p:sp>
      <p:sp>
        <p:nvSpPr>
          <p:cNvPr id="99" name="Google Shape;99;p17"/>
          <p:cNvSpPr txBox="1"/>
          <p:nvPr/>
        </p:nvSpPr>
        <p:spPr>
          <a:xfrm>
            <a:off x="1722625" y="3664550"/>
            <a:ext cx="87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Describing </a:t>
            </a:r>
            <a:endParaRPr sz="1100"/>
          </a:p>
          <a:p>
            <a:pPr indent="0" lvl="0" marL="0" rtl="0" algn="l">
              <a:spcBef>
                <a:spcPts val="0"/>
              </a:spcBef>
              <a:spcAft>
                <a:spcPts val="0"/>
              </a:spcAft>
              <a:buNone/>
            </a:pPr>
            <a:r>
              <a:rPr lang="en-GB" sz="1100"/>
              <a:t>datasets</a:t>
            </a:r>
            <a:endParaRPr sz="1100"/>
          </a:p>
        </p:txBody>
      </p:sp>
      <p:sp>
        <p:nvSpPr>
          <p:cNvPr id="100" name="Google Shape;100;p17"/>
          <p:cNvSpPr txBox="1"/>
          <p:nvPr/>
        </p:nvSpPr>
        <p:spPr>
          <a:xfrm>
            <a:off x="3384000" y="4545950"/>
            <a:ext cx="1574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Using metadata to perform analysis</a:t>
            </a:r>
            <a:endParaRPr sz="1100"/>
          </a:p>
        </p:txBody>
      </p:sp>
      <p:sp>
        <p:nvSpPr>
          <p:cNvPr id="101" name="Google Shape;101;p17"/>
          <p:cNvSpPr txBox="1"/>
          <p:nvPr/>
        </p:nvSpPr>
        <p:spPr>
          <a:xfrm>
            <a:off x="1484500" y="1862913"/>
            <a:ext cx="87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Describing datasets</a:t>
            </a:r>
            <a:endParaRPr sz="1100"/>
          </a:p>
        </p:txBody>
      </p:sp>
      <p:sp>
        <p:nvSpPr>
          <p:cNvPr id="102" name="Google Shape;102;p17"/>
          <p:cNvSpPr txBox="1"/>
          <p:nvPr/>
        </p:nvSpPr>
        <p:spPr>
          <a:xfrm>
            <a:off x="2043650" y="839750"/>
            <a:ext cx="1123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Understanding</a:t>
            </a:r>
            <a:r>
              <a:rPr lang="en-GB" sz="1100"/>
              <a:t> datasets</a:t>
            </a:r>
            <a:endParaRPr sz="1100"/>
          </a:p>
        </p:txBody>
      </p:sp>
      <p:sp>
        <p:nvSpPr>
          <p:cNvPr id="103" name="Google Shape;103;p17"/>
          <p:cNvSpPr txBox="1"/>
          <p:nvPr/>
        </p:nvSpPr>
        <p:spPr>
          <a:xfrm>
            <a:off x="5803075" y="3501025"/>
            <a:ext cx="1656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O</a:t>
            </a:r>
            <a:r>
              <a:rPr lang="en-GB" sz="1100"/>
              <a:t>rganising metadata in appropriate format(s)</a:t>
            </a:r>
            <a:endParaRPr sz="1100"/>
          </a:p>
        </p:txBody>
      </p:sp>
      <p:sp>
        <p:nvSpPr>
          <p:cNvPr id="104" name="Google Shape;104;p17"/>
          <p:cNvSpPr txBox="1"/>
          <p:nvPr/>
        </p:nvSpPr>
        <p:spPr>
          <a:xfrm>
            <a:off x="6227575" y="4622900"/>
            <a:ext cx="2507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200">
                <a:solidFill>
                  <a:srgbClr val="0088CC"/>
                </a:solidFill>
                <a:highlight>
                  <a:srgbClr val="FFFFFF"/>
                </a:highlight>
                <a:uFill>
                  <a:noFill/>
                </a:uFill>
                <a:latin typeface="Helvetica Neue"/>
                <a:ea typeface="Helvetica Neue"/>
                <a:cs typeface="Helvetica Neue"/>
                <a:sym typeface="Helvetica Neue"/>
                <a:hlinkClick r:id="rId4">
                  <a:extLst>
                    <a:ext uri="{A12FA001-AC4F-418D-AE19-62706E023703}">
                      <ahyp:hlinkClr val="tx"/>
                    </a:ext>
                  </a:extLst>
                </a:hlinkClick>
              </a:rPr>
              <a:t>RDM life cycle, by ELIXIR RDMkit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FAIR principles</a:t>
            </a:r>
            <a:endParaRPr/>
          </a:p>
        </p:txBody>
      </p:sp>
      <p:pic>
        <p:nvPicPr>
          <p:cNvPr id="110" name="Google Shape;110;p18"/>
          <p:cNvPicPr preferRelativeResize="0"/>
          <p:nvPr/>
        </p:nvPicPr>
        <p:blipFill rotWithShape="1">
          <a:blip r:embed="rId3">
            <a:alphaModFix/>
          </a:blip>
          <a:srcRect b="0" l="0" r="0" t="0"/>
          <a:stretch/>
        </p:blipFill>
        <p:spPr>
          <a:xfrm>
            <a:off x="1213550" y="882876"/>
            <a:ext cx="6375601" cy="3839325"/>
          </a:xfrm>
          <a:prstGeom prst="rect">
            <a:avLst/>
          </a:prstGeom>
          <a:noFill/>
          <a:ln>
            <a:noFill/>
          </a:ln>
        </p:spPr>
      </p:pic>
      <p:sp>
        <p:nvSpPr>
          <p:cNvPr id="111" name="Google Shape;111;p18"/>
          <p:cNvSpPr/>
          <p:nvPr/>
        </p:nvSpPr>
        <p:spPr>
          <a:xfrm>
            <a:off x="1535725" y="1592625"/>
            <a:ext cx="666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3120225" y="1720625"/>
            <a:ext cx="609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1564225" y="1883225"/>
            <a:ext cx="5646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a:off x="1564225" y="2045825"/>
            <a:ext cx="609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p:nvPr/>
        </p:nvSpPr>
        <p:spPr>
          <a:xfrm>
            <a:off x="1535725" y="2409150"/>
            <a:ext cx="666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1564225" y="2846150"/>
            <a:ext cx="609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p:nvPr/>
        </p:nvSpPr>
        <p:spPr>
          <a:xfrm>
            <a:off x="1541875" y="3266899"/>
            <a:ext cx="609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p:nvPr/>
        </p:nvSpPr>
        <p:spPr>
          <a:xfrm>
            <a:off x="1541875" y="3429499"/>
            <a:ext cx="609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8"/>
          <p:cNvSpPr/>
          <p:nvPr/>
        </p:nvSpPr>
        <p:spPr>
          <a:xfrm>
            <a:off x="1535725" y="3557524"/>
            <a:ext cx="609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8"/>
          <p:cNvSpPr/>
          <p:nvPr/>
        </p:nvSpPr>
        <p:spPr>
          <a:xfrm>
            <a:off x="1564225" y="3953699"/>
            <a:ext cx="609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a:off x="1639550" y="4099675"/>
            <a:ext cx="666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p:nvPr/>
        </p:nvSpPr>
        <p:spPr>
          <a:xfrm>
            <a:off x="1639550" y="4213400"/>
            <a:ext cx="666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8"/>
          <p:cNvSpPr/>
          <p:nvPr/>
        </p:nvSpPr>
        <p:spPr>
          <a:xfrm>
            <a:off x="1639550" y="4349875"/>
            <a:ext cx="666300" cy="16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8"/>
          <p:cNvSpPr txBox="1"/>
          <p:nvPr/>
        </p:nvSpPr>
        <p:spPr>
          <a:xfrm>
            <a:off x="2808795" y="4705860"/>
            <a:ext cx="602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000">
                <a:solidFill>
                  <a:srgbClr val="333333"/>
                </a:solidFill>
                <a:highlight>
                  <a:srgbClr val="FFFFFF"/>
                </a:highlight>
                <a:latin typeface="Helvetica Neue"/>
                <a:ea typeface="Helvetica Neue"/>
                <a:cs typeface="Helvetica Neue"/>
                <a:sym typeface="Helvetica Neue"/>
              </a:rPr>
              <a:t>from Wilkinson, Mark et al. “The FAIR Guiding Principles for scientific data management and stewardship”. Scientific Data 3, Article number: 160018 (2016) </a:t>
            </a:r>
            <a:r>
              <a:rPr i="1" lang="en-GB" sz="1000">
                <a:solidFill>
                  <a:srgbClr val="0088CC"/>
                </a:solidFill>
                <a:highlight>
                  <a:srgbClr val="FFFFFF"/>
                </a:highlight>
                <a:uFill>
                  <a:noFill/>
                </a:uFill>
                <a:latin typeface="Helvetica Neue"/>
                <a:ea typeface="Helvetica Neue"/>
                <a:cs typeface="Helvetica Neue"/>
                <a:sym typeface="Helvetica Neue"/>
                <a:hlinkClick r:id="rId4">
                  <a:extLst>
                    <a:ext uri="{A12FA001-AC4F-418D-AE19-62706E023703}">
                      <ahyp:hlinkClr val="tx"/>
                    </a:ext>
                  </a:extLst>
                </a:hlinkClick>
              </a:rPr>
              <a:t>http://dx.doi.org/10.1038/sdata.2016.18</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t/>
            </a:r>
            <a:endParaRPr/>
          </a:p>
        </p:txBody>
      </p:sp>
      <p:sp>
        <p:nvSpPr>
          <p:cNvPr id="130" name="Google Shape;130;p19"/>
          <p:cNvSpPr txBox="1"/>
          <p:nvPr>
            <p:ph idx="4294967295" type="body"/>
          </p:nvPr>
        </p:nvSpPr>
        <p:spPr>
          <a:xfrm>
            <a:off x="307875" y="880400"/>
            <a:ext cx="8544000" cy="3570300"/>
          </a:xfrm>
          <a:prstGeom prst="rect">
            <a:avLst/>
          </a:prstGeom>
        </p:spPr>
        <p:txBody>
          <a:bodyPr anchorCtr="0" anchor="ctr" bIns="25700" lIns="51425" spcFirstLastPara="1" rIns="51425" wrap="square" tIns="25700">
            <a:normAutofit/>
          </a:bodyPr>
          <a:lstStyle/>
          <a:p>
            <a:pPr indent="0" lvl="0" marL="0" rtl="0" algn="ctr">
              <a:spcBef>
                <a:spcPts val="600"/>
              </a:spcBef>
              <a:spcAft>
                <a:spcPts val="0"/>
              </a:spcAft>
              <a:buNone/>
            </a:pPr>
            <a:r>
              <a:rPr b="1" lang="en-GB" sz="3000"/>
              <a:t>What problems do you see with the descriptions of these samples?</a:t>
            </a:r>
            <a:endParaRPr b="1" sz="3000"/>
          </a:p>
        </p:txBody>
      </p:sp>
      <p:sp>
        <p:nvSpPr>
          <p:cNvPr id="131" name="Google Shape;131;p19"/>
          <p:cNvSpPr txBox="1"/>
          <p:nvPr/>
        </p:nvSpPr>
        <p:spPr>
          <a:xfrm>
            <a:off x="5082875" y="43702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hlinkClick r:id="rId3"/>
              </a:rPr>
              <a:t>samples_metadata_lesson.csv</a:t>
            </a:r>
            <a:endParaRPr/>
          </a:p>
        </p:txBody>
      </p:sp>
      <p:pic>
        <p:nvPicPr>
          <p:cNvPr id="132" name="Google Shape;132;p19"/>
          <p:cNvPicPr preferRelativeResize="0"/>
          <p:nvPr/>
        </p:nvPicPr>
        <p:blipFill>
          <a:blip r:embed="rId4">
            <a:alphaModFix/>
          </a:blip>
          <a:stretch>
            <a:fillRect/>
          </a:stretch>
        </p:blipFill>
        <p:spPr>
          <a:xfrm>
            <a:off x="4758605" y="3318476"/>
            <a:ext cx="3375494" cy="1051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Problems</a:t>
            </a:r>
            <a:endParaRPr/>
          </a:p>
        </p:txBody>
      </p:sp>
      <p:sp>
        <p:nvSpPr>
          <p:cNvPr id="138" name="Google Shape;138;p20"/>
          <p:cNvSpPr txBox="1"/>
          <p:nvPr>
            <p:ph idx="1" type="body"/>
          </p:nvPr>
        </p:nvSpPr>
        <p:spPr>
          <a:xfrm>
            <a:off x="323407" y="879614"/>
            <a:ext cx="8497200" cy="3510000"/>
          </a:xfrm>
          <a:prstGeom prst="rect">
            <a:avLst/>
          </a:prstGeom>
        </p:spPr>
        <p:txBody>
          <a:bodyPr anchorCtr="0" anchor="t" bIns="25700" lIns="51425" spcFirstLastPara="1" rIns="51425" wrap="square" tIns="25700">
            <a:normAutofit/>
          </a:bodyPr>
          <a:lstStyle/>
          <a:p>
            <a:pPr indent="-368300" lvl="0" marL="457200" rtl="0" algn="l">
              <a:lnSpc>
                <a:spcPct val="115000"/>
              </a:lnSpc>
              <a:spcBef>
                <a:spcPts val="800"/>
              </a:spcBef>
              <a:spcAft>
                <a:spcPts val="0"/>
              </a:spcAft>
              <a:buSzPts val="2200"/>
              <a:buChar char="●"/>
            </a:pPr>
            <a:r>
              <a:rPr lang="en-GB" sz="2200"/>
              <a:t>Date formats</a:t>
            </a:r>
            <a:endParaRPr sz="2200"/>
          </a:p>
          <a:p>
            <a:pPr indent="-368300" lvl="0" marL="457200" rtl="0" algn="l">
              <a:lnSpc>
                <a:spcPct val="115000"/>
              </a:lnSpc>
              <a:spcBef>
                <a:spcPts val="0"/>
              </a:spcBef>
              <a:spcAft>
                <a:spcPts val="0"/>
              </a:spcAft>
              <a:buSzPts val="2200"/>
              <a:buChar char="●"/>
            </a:pPr>
            <a:r>
              <a:rPr lang="en-GB" sz="2200"/>
              <a:t>Different terms for the same information</a:t>
            </a:r>
            <a:endParaRPr sz="2200"/>
          </a:p>
          <a:p>
            <a:pPr indent="-368300" lvl="0" marL="457200" rtl="0" algn="l">
              <a:lnSpc>
                <a:spcPct val="115000"/>
              </a:lnSpc>
              <a:spcBef>
                <a:spcPts val="0"/>
              </a:spcBef>
              <a:spcAft>
                <a:spcPts val="0"/>
              </a:spcAft>
              <a:buSzPts val="2200"/>
              <a:buChar char="●"/>
            </a:pPr>
            <a:r>
              <a:rPr lang="en-GB" sz="2200"/>
              <a:t>Misspelled</a:t>
            </a:r>
            <a:r>
              <a:rPr lang="en-GB" sz="2200"/>
              <a:t> terms</a:t>
            </a:r>
            <a:endParaRPr sz="2200"/>
          </a:p>
          <a:p>
            <a:pPr indent="-368300" lvl="0" marL="457200" rtl="0" algn="l">
              <a:lnSpc>
                <a:spcPct val="115000"/>
              </a:lnSpc>
              <a:spcBef>
                <a:spcPts val="0"/>
              </a:spcBef>
              <a:spcAft>
                <a:spcPts val="0"/>
              </a:spcAft>
              <a:buSzPts val="2200"/>
              <a:buChar char="●"/>
            </a:pPr>
            <a:r>
              <a:rPr lang="en-GB" sz="2200"/>
              <a:t>Not clear what a data point means</a:t>
            </a:r>
            <a:endParaRPr sz="2200"/>
          </a:p>
          <a:p>
            <a:pPr indent="-368300" lvl="0" marL="457200" rtl="0" algn="l">
              <a:lnSpc>
                <a:spcPct val="115000"/>
              </a:lnSpc>
              <a:spcBef>
                <a:spcPts val="0"/>
              </a:spcBef>
              <a:spcAft>
                <a:spcPts val="0"/>
              </a:spcAft>
              <a:buSzPts val="2200"/>
              <a:buChar char="●"/>
            </a:pPr>
            <a:r>
              <a:rPr lang="en-GB" sz="2200"/>
              <a:t>Not clear what unit</a:t>
            </a:r>
            <a:endParaRPr i="1"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Stringency</a:t>
            </a:r>
            <a:endParaRPr/>
          </a:p>
        </p:txBody>
      </p:sp>
      <p:sp>
        <p:nvSpPr>
          <p:cNvPr id="144" name="Google Shape;144;p21"/>
          <p:cNvSpPr txBox="1"/>
          <p:nvPr>
            <p:ph idx="4294967295" type="body"/>
          </p:nvPr>
        </p:nvSpPr>
        <p:spPr>
          <a:xfrm>
            <a:off x="307875" y="824275"/>
            <a:ext cx="8544000" cy="3770400"/>
          </a:xfrm>
          <a:prstGeom prst="rect">
            <a:avLst/>
          </a:prstGeom>
        </p:spPr>
        <p:txBody>
          <a:bodyPr anchorCtr="0" anchor="t" bIns="25700" lIns="51425" spcFirstLastPara="1" rIns="51425" wrap="square" tIns="25700">
            <a:normAutofit/>
          </a:bodyPr>
          <a:lstStyle/>
          <a:p>
            <a:pPr indent="-361950" lvl="0" marL="457200" rtl="0" algn="l">
              <a:spcBef>
                <a:spcPts val="600"/>
              </a:spcBef>
              <a:spcAft>
                <a:spcPts val="0"/>
              </a:spcAft>
              <a:buSzPts val="2100"/>
              <a:buChar char="•"/>
            </a:pPr>
            <a:r>
              <a:rPr lang="en-GB" sz="2100"/>
              <a:t>Descriptions must be understandable over time - </a:t>
            </a:r>
            <a:r>
              <a:rPr i="1" lang="en-GB" sz="2100"/>
              <a:t>not only for you</a:t>
            </a:r>
            <a:endParaRPr i="1" sz="2100"/>
          </a:p>
          <a:p>
            <a:pPr indent="-361950" lvl="0" marL="457200" rtl="0" algn="l">
              <a:spcBef>
                <a:spcPts val="1000"/>
              </a:spcBef>
              <a:spcAft>
                <a:spcPts val="0"/>
              </a:spcAft>
              <a:buSzPts val="2100"/>
              <a:buChar char="•"/>
            </a:pPr>
            <a:r>
              <a:rPr lang="en-GB" sz="2100"/>
              <a:t>FAIR principles → also for computers</a:t>
            </a:r>
            <a:endParaRPr sz="2100"/>
          </a:p>
          <a:p>
            <a:pPr indent="-361950" lvl="0" marL="457200" rtl="0" algn="l">
              <a:spcBef>
                <a:spcPts val="1000"/>
              </a:spcBef>
              <a:spcAft>
                <a:spcPts val="0"/>
              </a:spcAft>
              <a:buSzPts val="2100"/>
              <a:buChar char="•"/>
            </a:pPr>
            <a:r>
              <a:rPr lang="en-GB" sz="2100"/>
              <a:t>Consistency</a:t>
            </a:r>
            <a:endParaRPr sz="2100"/>
          </a:p>
          <a:p>
            <a:pPr indent="-361950" lvl="1" marL="914400" rtl="0" algn="l">
              <a:spcBef>
                <a:spcPts val="0"/>
              </a:spcBef>
              <a:spcAft>
                <a:spcPts val="0"/>
              </a:spcAft>
              <a:buSzPts val="2100"/>
              <a:buChar char="•"/>
            </a:pPr>
            <a:r>
              <a:rPr lang="en-GB" sz="2100"/>
              <a:t>Date formats</a:t>
            </a:r>
            <a:endParaRPr sz="2100"/>
          </a:p>
          <a:p>
            <a:pPr indent="-361950" lvl="1" marL="914400" rtl="0" algn="l">
              <a:spcBef>
                <a:spcPts val="0"/>
              </a:spcBef>
              <a:spcAft>
                <a:spcPts val="0"/>
              </a:spcAft>
              <a:buSzPts val="2100"/>
              <a:buChar char="•"/>
            </a:pPr>
            <a:r>
              <a:rPr lang="en-GB" sz="2100"/>
              <a:t>Units</a:t>
            </a:r>
            <a:endParaRPr sz="2100"/>
          </a:p>
          <a:p>
            <a:pPr indent="-361950" lvl="1" marL="914400" rtl="0" algn="l">
              <a:spcBef>
                <a:spcPts val="0"/>
              </a:spcBef>
              <a:spcAft>
                <a:spcPts val="0"/>
              </a:spcAft>
              <a:buSzPts val="2100"/>
              <a:buChar char="•"/>
            </a:pPr>
            <a:r>
              <a:rPr lang="en-GB" sz="2100"/>
              <a:t>Terms</a:t>
            </a:r>
            <a:endParaRPr sz="2100"/>
          </a:p>
          <a:p>
            <a:pPr indent="0" lvl="0" marL="0" rtl="0" algn="l">
              <a:spcBef>
                <a:spcPts val="600"/>
              </a:spcBef>
              <a:spcAft>
                <a:spcPts val="0"/>
              </a:spcAft>
              <a:buNone/>
            </a:pPr>
            <a:r>
              <a:t/>
            </a:r>
            <a:endParaRPr sz="2100"/>
          </a:p>
          <a:p>
            <a:pPr indent="0" lvl="0" marL="0" rtl="0" algn="l">
              <a:spcBef>
                <a:spcPts val="600"/>
              </a:spcBef>
              <a:spcAft>
                <a:spcPts val="0"/>
              </a:spcAft>
              <a:buNone/>
            </a:pPr>
            <a:r>
              <a:t/>
            </a:r>
            <a:endParaRPr i="1"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How much metadata?</a:t>
            </a:r>
            <a:endParaRPr/>
          </a:p>
        </p:txBody>
      </p:sp>
      <p:sp>
        <p:nvSpPr>
          <p:cNvPr id="150" name="Google Shape;150;p22"/>
          <p:cNvSpPr txBox="1"/>
          <p:nvPr>
            <p:ph idx="4294967295" type="body"/>
          </p:nvPr>
        </p:nvSpPr>
        <p:spPr>
          <a:xfrm>
            <a:off x="307875" y="824275"/>
            <a:ext cx="8544000" cy="3770400"/>
          </a:xfrm>
          <a:prstGeom prst="rect">
            <a:avLst/>
          </a:prstGeom>
        </p:spPr>
        <p:txBody>
          <a:bodyPr anchorCtr="0" anchor="t" bIns="25700" lIns="51425" spcFirstLastPara="1" rIns="51425" wrap="square" tIns="25700">
            <a:normAutofit/>
          </a:bodyPr>
          <a:lstStyle/>
          <a:p>
            <a:pPr indent="-368300" lvl="0" marL="457200" rtl="0" algn="l">
              <a:spcBef>
                <a:spcPts val="600"/>
              </a:spcBef>
              <a:spcAft>
                <a:spcPts val="0"/>
              </a:spcAft>
              <a:buSzPts val="2200"/>
              <a:buChar char="•"/>
            </a:pPr>
            <a:r>
              <a:rPr lang="en-GB" sz="2200"/>
              <a:t>What is necessary for you to do your particular analysis</a:t>
            </a:r>
            <a:endParaRPr sz="2200"/>
          </a:p>
          <a:p>
            <a:pPr indent="-368300" lvl="0" marL="457200" rtl="0" algn="l">
              <a:spcBef>
                <a:spcPts val="1000"/>
              </a:spcBef>
              <a:spcAft>
                <a:spcPts val="0"/>
              </a:spcAft>
              <a:buSzPts val="2200"/>
              <a:buChar char="•"/>
            </a:pPr>
            <a:r>
              <a:rPr lang="en-GB" sz="2200"/>
              <a:t>What is necessary for someone to understand the data</a:t>
            </a:r>
            <a:endParaRPr sz="2200"/>
          </a:p>
          <a:p>
            <a:pPr indent="-368300" lvl="0" marL="457200" rtl="0" algn="l">
              <a:spcBef>
                <a:spcPts val="1000"/>
              </a:spcBef>
              <a:spcAft>
                <a:spcPts val="0"/>
              </a:spcAft>
              <a:buSzPts val="2200"/>
              <a:buChar char="•"/>
            </a:pPr>
            <a:r>
              <a:rPr lang="en-GB" sz="2200"/>
              <a:t>All the metadata you have</a:t>
            </a:r>
            <a:endParaRPr sz="2200"/>
          </a:p>
          <a:p>
            <a:pPr indent="0" lvl="0" marL="0" rtl="0" algn="l">
              <a:spcBef>
                <a:spcPts val="1000"/>
              </a:spcBef>
              <a:spcAft>
                <a:spcPts val="0"/>
              </a:spcAft>
              <a:buNone/>
            </a:pPr>
            <a:r>
              <a:t/>
            </a:r>
            <a:endParaRPr sz="2200"/>
          </a:p>
          <a:p>
            <a:pPr indent="-368300" lvl="0" marL="457200" rtl="0" algn="l">
              <a:spcBef>
                <a:spcPts val="1000"/>
              </a:spcBef>
              <a:spcAft>
                <a:spcPts val="0"/>
              </a:spcAft>
              <a:buSzPts val="2200"/>
              <a:buChar char="•"/>
            </a:pPr>
            <a:r>
              <a:rPr i="1" lang="en-GB" sz="2200"/>
              <a:t>“How can I make this dataset as useful as possible for others?”</a:t>
            </a:r>
            <a:endParaRPr i="1" sz="2200"/>
          </a:p>
          <a:p>
            <a:pPr indent="0" lvl="0" marL="0" rtl="0" algn="l">
              <a:spcBef>
                <a:spcPts val="1000"/>
              </a:spcBef>
              <a:spcAft>
                <a:spcPts val="0"/>
              </a:spcAft>
              <a:buNone/>
            </a:pPr>
            <a:r>
              <a:t/>
            </a:r>
            <a:endParaRPr sz="2200"/>
          </a:p>
          <a:p>
            <a:pPr indent="0" lvl="0" marL="0" rtl="0" algn="l">
              <a:spcBef>
                <a:spcPts val="600"/>
              </a:spcBef>
              <a:spcAft>
                <a:spcPts val="0"/>
              </a:spcAft>
              <a:buNone/>
            </a:pPr>
            <a:r>
              <a:t/>
            </a:r>
            <a:endParaRPr i="1"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Terms</a:t>
            </a:r>
            <a:endParaRPr/>
          </a:p>
        </p:txBody>
      </p:sp>
      <p:sp>
        <p:nvSpPr>
          <p:cNvPr id="156" name="Google Shape;156;p23"/>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0" lvl="0" marL="0" rtl="0" algn="ctr">
              <a:spcBef>
                <a:spcPts val="600"/>
              </a:spcBef>
              <a:spcAft>
                <a:spcPts val="0"/>
              </a:spcAft>
              <a:buNone/>
            </a:pPr>
            <a:r>
              <a:rPr i="1" lang="en-GB" sz="2000"/>
              <a:t>“A biologist would rather share a toothbrush with </a:t>
            </a:r>
            <a:endParaRPr i="1" sz="2000"/>
          </a:p>
          <a:p>
            <a:pPr indent="0" lvl="0" marL="0" rtl="0" algn="ctr">
              <a:spcBef>
                <a:spcPts val="600"/>
              </a:spcBef>
              <a:spcAft>
                <a:spcPts val="0"/>
              </a:spcAft>
              <a:buNone/>
            </a:pPr>
            <a:r>
              <a:rPr i="1" lang="en-GB" sz="2000"/>
              <a:t>another biologist than share a gene name”</a:t>
            </a:r>
            <a:endParaRPr i="1" sz="2000"/>
          </a:p>
          <a:p>
            <a:pPr indent="0" lvl="0" marL="0" rtl="0" algn="l">
              <a:spcBef>
                <a:spcPts val="600"/>
              </a:spcBef>
              <a:spcAft>
                <a:spcPts val="0"/>
              </a:spcAft>
              <a:buNone/>
            </a:pPr>
            <a:r>
              <a:t/>
            </a:r>
            <a:endParaRPr sz="2000"/>
          </a:p>
          <a:p>
            <a:pPr indent="-355600" lvl="0" marL="457200" rtl="0" algn="l">
              <a:spcBef>
                <a:spcPts val="600"/>
              </a:spcBef>
              <a:spcAft>
                <a:spcPts val="0"/>
              </a:spcAft>
              <a:buSzPts val="2000"/>
              <a:buChar char="•"/>
            </a:pPr>
            <a:r>
              <a:rPr lang="en-GB" sz="2000"/>
              <a:t>Consistency and stringency</a:t>
            </a:r>
            <a:endParaRPr sz="2000"/>
          </a:p>
          <a:p>
            <a:pPr indent="0" lvl="0" marL="0" rtl="0" algn="l">
              <a:spcBef>
                <a:spcPts val="600"/>
              </a:spcBef>
              <a:spcAft>
                <a:spcPts val="0"/>
              </a:spcAft>
              <a:buNone/>
            </a:pPr>
            <a:r>
              <a:t/>
            </a:r>
            <a:endParaRPr sz="2000"/>
          </a:p>
          <a:p>
            <a:pPr indent="-355600" lvl="0" marL="457200" rtl="0" algn="l">
              <a:spcBef>
                <a:spcPts val="600"/>
              </a:spcBef>
              <a:spcAft>
                <a:spcPts val="0"/>
              </a:spcAft>
              <a:buSzPts val="2000"/>
              <a:buChar char="•"/>
            </a:pPr>
            <a:r>
              <a:rPr b="1" lang="en-GB" sz="2000"/>
              <a:t>Controlled vocabularies</a:t>
            </a:r>
            <a:endParaRPr b="1" sz="2000"/>
          </a:p>
          <a:p>
            <a:pPr indent="-355600" lvl="0" marL="457200" rtl="0" algn="l">
              <a:spcBef>
                <a:spcPts val="0"/>
              </a:spcBef>
              <a:spcAft>
                <a:spcPts val="0"/>
              </a:spcAft>
              <a:buSzPts val="2000"/>
              <a:buChar char="•"/>
            </a:pPr>
            <a:r>
              <a:rPr b="1" lang="en-GB" sz="2000"/>
              <a:t>Ontologies</a:t>
            </a:r>
            <a:endParaRPr b="1" sz="2000"/>
          </a:p>
          <a:p>
            <a:pPr indent="-355600" lvl="0" marL="457200" rtl="0" algn="l">
              <a:spcBef>
                <a:spcPts val="0"/>
              </a:spcBef>
              <a:spcAft>
                <a:spcPts val="0"/>
              </a:spcAft>
              <a:buSzPts val="2000"/>
              <a:buChar char="•"/>
            </a:pPr>
            <a:r>
              <a:rPr lang="en-GB" sz="2000"/>
              <a:t>Thesauruses (Thesauri)</a:t>
            </a:r>
            <a:endParaRPr sz="2000"/>
          </a:p>
          <a:p>
            <a:pPr indent="-355600" lvl="0" marL="457200" rtl="0" algn="l">
              <a:spcBef>
                <a:spcPts val="0"/>
              </a:spcBef>
              <a:spcAft>
                <a:spcPts val="0"/>
              </a:spcAft>
              <a:buSzPts val="2000"/>
              <a:buChar char="•"/>
            </a:pPr>
            <a:r>
              <a:rPr lang="en-GB" sz="2000"/>
              <a:t>Taxonomies</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t/>
            </a:r>
            <a:endParaRPr/>
          </a:p>
        </p:txBody>
      </p:sp>
      <p:sp>
        <p:nvSpPr>
          <p:cNvPr id="162" name="Google Shape;162;p24"/>
          <p:cNvSpPr txBox="1"/>
          <p:nvPr>
            <p:ph idx="4294967295" type="body"/>
          </p:nvPr>
        </p:nvSpPr>
        <p:spPr>
          <a:xfrm>
            <a:off x="307886" y="880403"/>
            <a:ext cx="8544000" cy="3714300"/>
          </a:xfrm>
          <a:prstGeom prst="rect">
            <a:avLst/>
          </a:prstGeom>
        </p:spPr>
        <p:txBody>
          <a:bodyPr anchorCtr="0" anchor="ctr" bIns="25700" lIns="51425" spcFirstLastPara="1" rIns="51425" wrap="square" tIns="25700">
            <a:normAutofit/>
          </a:bodyPr>
          <a:lstStyle/>
          <a:p>
            <a:pPr indent="0" lvl="0" marL="0" rtl="0" algn="ctr">
              <a:spcBef>
                <a:spcPts val="600"/>
              </a:spcBef>
              <a:spcAft>
                <a:spcPts val="0"/>
              </a:spcAft>
              <a:buNone/>
            </a:pPr>
            <a:r>
              <a:rPr b="1" lang="en-GB" sz="3000"/>
              <a:t>How many different medical conditions do you think this list of terms describes?</a:t>
            </a:r>
            <a:endParaRPr b="1" sz="3000"/>
          </a:p>
          <a:p>
            <a:pPr indent="0" lvl="0" marL="0" rtl="0" algn="ctr">
              <a:spcBef>
                <a:spcPts val="600"/>
              </a:spcBef>
              <a:spcAft>
                <a:spcPts val="0"/>
              </a:spcAft>
              <a:buNone/>
            </a:pPr>
            <a:r>
              <a:t/>
            </a:r>
            <a:endParaRPr i="1" sz="2300"/>
          </a:p>
          <a:p>
            <a:pPr indent="0" lvl="0" marL="0" rtl="0" algn="ctr">
              <a:spcBef>
                <a:spcPts val="600"/>
              </a:spcBef>
              <a:spcAft>
                <a:spcPts val="0"/>
              </a:spcAft>
              <a:buNone/>
            </a:pPr>
            <a:r>
              <a:rPr i="1" lang="en-GB" sz="2300"/>
              <a:t>Bloodstream Infection, Circulatory Failure, Toxic Shock Syndrome, Pyemia, Circulatory Collapse, Blood Poisoning, Endotoxin Shock, Pyohemia, Hypovolemic Shock, Septicemia, Sepsis-associated hypotension, Pyaemia</a:t>
            </a:r>
            <a:endParaRPr b="1"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Solution</a:t>
            </a:r>
            <a:endParaRPr/>
          </a:p>
        </p:txBody>
      </p:sp>
      <p:graphicFrame>
        <p:nvGraphicFramePr>
          <p:cNvPr id="168" name="Google Shape;168;p25"/>
          <p:cNvGraphicFramePr/>
          <p:nvPr/>
        </p:nvGraphicFramePr>
        <p:xfrm>
          <a:off x="549625" y="1238250"/>
          <a:ext cx="3000000" cy="3000000"/>
        </p:xfrm>
        <a:graphic>
          <a:graphicData uri="http://schemas.openxmlformats.org/drawingml/2006/table">
            <a:tbl>
              <a:tblPr>
                <a:noFill/>
                <a:tableStyleId>{0A73BEFA-F1CF-4FF6-B1F8-6D50A9DD7A5A}</a:tableStyleId>
              </a:tblPr>
              <a:tblGrid>
                <a:gridCol w="2156625"/>
                <a:gridCol w="2510675"/>
                <a:gridCol w="2974575"/>
              </a:tblGrid>
              <a:tr h="381000">
                <a:tc>
                  <a:txBody>
                    <a:bodyPr/>
                    <a:lstStyle/>
                    <a:p>
                      <a:pPr indent="0" lvl="0" marL="107999" rtl="0" algn="l">
                        <a:lnSpc>
                          <a:spcPct val="130000"/>
                        </a:lnSpc>
                        <a:spcBef>
                          <a:spcPts val="0"/>
                        </a:spcBef>
                        <a:spcAft>
                          <a:spcPts val="0"/>
                        </a:spcAft>
                        <a:buNone/>
                      </a:pPr>
                      <a:r>
                        <a:rPr b="1" lang="en-GB">
                          <a:solidFill>
                            <a:srgbClr val="2D3B45"/>
                          </a:solidFill>
                          <a:latin typeface="Lato"/>
                          <a:ea typeface="Lato"/>
                          <a:cs typeface="Lato"/>
                          <a:sym typeface="Lato"/>
                        </a:rPr>
                        <a:t>Sepsis</a:t>
                      </a:r>
                      <a:endParaRPr b="1">
                        <a:solidFill>
                          <a:srgbClr val="2D3B45"/>
                        </a:solidFill>
                        <a:latin typeface="Lato"/>
                        <a:ea typeface="Lato"/>
                        <a:cs typeface="Lato"/>
                        <a:sym typeface="Lato"/>
                      </a:endParaRPr>
                    </a:p>
                  </a:txBody>
                  <a:tcPr marT="66675" marB="33350" marR="66675" marL="66675" anchor="ctr">
                    <a:lnB cap="flat" cmpd="sng" w="9525">
                      <a:solidFill>
                        <a:srgbClr val="A5AFB5"/>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b="1" lang="en-GB">
                          <a:solidFill>
                            <a:srgbClr val="2D3B45"/>
                          </a:solidFill>
                          <a:latin typeface="Lato"/>
                          <a:ea typeface="Lato"/>
                          <a:cs typeface="Lato"/>
                          <a:sym typeface="Lato"/>
                        </a:rPr>
                        <a:t>Shock</a:t>
                      </a:r>
                      <a:endParaRPr b="1">
                        <a:solidFill>
                          <a:srgbClr val="2D3B45"/>
                        </a:solidFill>
                        <a:latin typeface="Lato"/>
                        <a:ea typeface="Lato"/>
                        <a:cs typeface="Lato"/>
                        <a:sym typeface="Lato"/>
                      </a:endParaRPr>
                    </a:p>
                  </a:txBody>
                  <a:tcPr marT="66675" marB="33350" marR="66675" marL="66675" anchor="ctr">
                    <a:lnB cap="flat" cmpd="sng" w="9525">
                      <a:solidFill>
                        <a:srgbClr val="A5AFB5"/>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b="1" lang="en-GB">
                          <a:solidFill>
                            <a:srgbClr val="2D3B45"/>
                          </a:solidFill>
                          <a:latin typeface="Lato"/>
                          <a:ea typeface="Lato"/>
                          <a:cs typeface="Lato"/>
                          <a:sym typeface="Lato"/>
                        </a:rPr>
                        <a:t>Septic shock</a:t>
                      </a:r>
                      <a:endParaRPr b="1">
                        <a:solidFill>
                          <a:srgbClr val="2D3B45"/>
                        </a:solidFill>
                        <a:latin typeface="Lato"/>
                        <a:ea typeface="Lato"/>
                        <a:cs typeface="Lato"/>
                        <a:sym typeface="Lato"/>
                      </a:endParaRPr>
                    </a:p>
                  </a:txBody>
                  <a:tcPr marT="66675" marB="33350" marR="66675" marL="66675" anchor="ctr">
                    <a:lnB cap="flat" cmpd="sng" w="9525">
                      <a:solidFill>
                        <a:srgbClr val="A5AFB5"/>
                      </a:solidFill>
                      <a:prstDash val="solid"/>
                      <a:round/>
                      <a:headEnd len="sm" w="sm" type="none"/>
                      <a:tailEnd len="sm" w="sm" type="none"/>
                    </a:lnB>
                  </a:tcPr>
                </a:tc>
              </a:tr>
              <a:tr h="381000">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Blood Poisoning</a:t>
                      </a:r>
                      <a:endParaRPr>
                        <a:solidFill>
                          <a:srgbClr val="2D3B45"/>
                        </a:solidFill>
                        <a:latin typeface="Lato"/>
                        <a:ea typeface="Lato"/>
                        <a:cs typeface="Lato"/>
                        <a:sym typeface="Lato"/>
                      </a:endParaRPr>
                    </a:p>
                  </a:txBody>
                  <a:tcPr marT="19050" marB="19050" marR="19050" marL="19050" anchor="ctr">
                    <a:lnT cap="flat" cmpd="sng" w="9525">
                      <a:solidFill>
                        <a:srgbClr val="A5AFB5"/>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Circulatory Collapse</a:t>
                      </a:r>
                      <a:endParaRPr>
                        <a:solidFill>
                          <a:srgbClr val="2D3B45"/>
                        </a:solidFill>
                        <a:latin typeface="Lato"/>
                        <a:ea typeface="Lato"/>
                        <a:cs typeface="Lato"/>
                        <a:sym typeface="Lato"/>
                      </a:endParaRPr>
                    </a:p>
                  </a:txBody>
                  <a:tcPr marT="19050" marB="19050" marR="19050" marL="19050" anchor="ctr">
                    <a:lnT cap="flat" cmpd="sng" w="9525">
                      <a:solidFill>
                        <a:srgbClr val="A5AFB5"/>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Endotoxin Shock</a:t>
                      </a:r>
                      <a:endParaRPr>
                        <a:solidFill>
                          <a:srgbClr val="2D3B45"/>
                        </a:solidFill>
                        <a:latin typeface="Lato"/>
                        <a:ea typeface="Lato"/>
                        <a:cs typeface="Lato"/>
                        <a:sym typeface="Lato"/>
                      </a:endParaRPr>
                    </a:p>
                  </a:txBody>
                  <a:tcPr marT="19050" marB="19050" marR="19050" marL="19050" anchor="ctr">
                    <a:lnT cap="flat" cmpd="sng" w="9525">
                      <a:solidFill>
                        <a:srgbClr val="A5AFB5"/>
                      </a:solidFill>
                      <a:prstDash val="solid"/>
                      <a:round/>
                      <a:headEnd len="sm" w="sm" type="none"/>
                      <a:tailEnd len="sm" w="sm" type="none"/>
                    </a:lnT>
                    <a:lnB cap="flat" cmpd="sng" w="9525">
                      <a:solidFill>
                        <a:srgbClr val="C7CDD1"/>
                      </a:solidFill>
                      <a:prstDash val="solid"/>
                      <a:round/>
                      <a:headEnd len="sm" w="sm" type="none"/>
                      <a:tailEnd len="sm" w="sm" type="none"/>
                    </a:lnB>
                  </a:tcPr>
                </a:tc>
              </a:tr>
              <a:tr h="381000">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Bloodstream Infection</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Circulatory Failure</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Sepsis-associated hypotension</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r>
              <a:tr h="381000">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Pyaemia</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Hypovolemic Shock</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Toxic Shock Syndrome</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r>
              <a:tr h="381000">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Pyemia</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 </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 </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r>
              <a:tr h="381000">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Pyohemia</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 </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 </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r>
              <a:tr h="381000">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Septicemia</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 </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c>
                  <a:txBody>
                    <a:bodyPr/>
                    <a:lstStyle/>
                    <a:p>
                      <a:pPr indent="0" lvl="0" marL="107999" rtl="0" algn="l">
                        <a:lnSpc>
                          <a:spcPct val="130000"/>
                        </a:lnSpc>
                        <a:spcBef>
                          <a:spcPts val="0"/>
                        </a:spcBef>
                        <a:spcAft>
                          <a:spcPts val="0"/>
                        </a:spcAft>
                        <a:buNone/>
                      </a:pPr>
                      <a:r>
                        <a:rPr lang="en-GB">
                          <a:solidFill>
                            <a:srgbClr val="2D3B45"/>
                          </a:solidFill>
                          <a:latin typeface="Lato"/>
                          <a:ea typeface="Lato"/>
                          <a:cs typeface="Lato"/>
                          <a:sym typeface="Lato"/>
                        </a:rPr>
                        <a:t> </a:t>
                      </a:r>
                      <a:endParaRPr>
                        <a:solidFill>
                          <a:srgbClr val="2D3B45"/>
                        </a:solidFill>
                        <a:latin typeface="Lato"/>
                        <a:ea typeface="Lato"/>
                        <a:cs typeface="Lato"/>
                        <a:sym typeface="Lato"/>
                      </a:endParaRPr>
                    </a:p>
                  </a:txBody>
                  <a:tcPr marT="19050" marB="19050" marR="19050" marL="19050" anchor="ctr">
                    <a:lnT cap="flat" cmpd="sng" w="9525">
                      <a:solidFill>
                        <a:srgbClr val="C7CDD1"/>
                      </a:solidFill>
                      <a:prstDash val="solid"/>
                      <a:round/>
                      <a:headEnd len="sm" w="sm" type="none"/>
                      <a:tailEnd len="sm" w="sm" type="none"/>
                    </a:lnT>
                    <a:lnB cap="flat" cmpd="sng" w="9525">
                      <a:solidFill>
                        <a:srgbClr val="C7CDD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Controlled vocabulary</a:t>
            </a:r>
            <a:endParaRPr/>
          </a:p>
        </p:txBody>
      </p:sp>
      <p:sp>
        <p:nvSpPr>
          <p:cNvPr id="174" name="Google Shape;174;p26"/>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List of terms to describe some domain of knowledge</a:t>
            </a:r>
            <a:endParaRPr sz="2000"/>
          </a:p>
          <a:p>
            <a:pPr indent="-355600" lvl="0" marL="457200" rtl="0" algn="l">
              <a:spcBef>
                <a:spcPts val="0"/>
              </a:spcBef>
              <a:spcAft>
                <a:spcPts val="0"/>
              </a:spcAft>
              <a:buSzPts val="2000"/>
              <a:buChar char="•"/>
            </a:pPr>
            <a:r>
              <a:rPr lang="en-GB" sz="2000"/>
              <a:t>Only one term per phenomenon</a:t>
            </a:r>
            <a:endParaRPr sz="2000"/>
          </a:p>
          <a:p>
            <a:pPr indent="-355600" lvl="0" marL="457200" rtl="0" algn="l">
              <a:spcBef>
                <a:spcPts val="0"/>
              </a:spcBef>
              <a:spcAft>
                <a:spcPts val="0"/>
              </a:spcAft>
              <a:buSzPts val="2000"/>
              <a:buChar char="•"/>
            </a:pPr>
            <a:r>
              <a:rPr lang="en-GB" sz="2000"/>
              <a:t>Term definition</a:t>
            </a:r>
            <a:endParaRPr sz="2000"/>
          </a:p>
          <a:p>
            <a:pPr indent="-355600" lvl="0" marL="457200" rtl="0" algn="l">
              <a:spcBef>
                <a:spcPts val="0"/>
              </a:spcBef>
              <a:spcAft>
                <a:spcPts val="0"/>
              </a:spcAft>
              <a:buSzPts val="2000"/>
              <a:buChar char="•"/>
            </a:pPr>
            <a:r>
              <a:rPr lang="en-GB" sz="2000"/>
              <a:t>List synonyms</a:t>
            </a:r>
            <a:endParaRPr sz="2000"/>
          </a:p>
          <a:p>
            <a:pPr indent="-355600" lvl="0" marL="457200" rtl="0" algn="l">
              <a:spcBef>
                <a:spcPts val="0"/>
              </a:spcBef>
              <a:spcAft>
                <a:spcPts val="0"/>
              </a:spcAft>
              <a:buSzPts val="2000"/>
              <a:buChar char="•"/>
            </a:pPr>
            <a:r>
              <a:rPr lang="en-GB" sz="2000"/>
              <a:t>Each term has a unique identifier</a:t>
            </a:r>
            <a:endParaRPr sz="2000"/>
          </a:p>
          <a:p>
            <a:pPr indent="0" lvl="0" marL="0" rtl="0" algn="l">
              <a:spcBef>
                <a:spcPts val="600"/>
              </a:spcBef>
              <a:spcAft>
                <a:spcPts val="0"/>
              </a:spcAft>
              <a:buNone/>
            </a:pPr>
            <a:r>
              <a:t/>
            </a:r>
            <a:endParaRPr/>
          </a:p>
          <a:p>
            <a:pPr indent="0" lvl="0" marL="4140000" rtl="0" algn="l">
              <a:spcBef>
                <a:spcPts val="600"/>
              </a:spcBef>
              <a:spcAft>
                <a:spcPts val="0"/>
              </a:spcAft>
              <a:buNone/>
            </a:pPr>
            <a:r>
              <a:rPr b="1" lang="en-GB" sz="1600"/>
              <a:t>Medical Subject Headings - MeSH</a:t>
            </a:r>
            <a:endParaRPr b="1" sz="1600"/>
          </a:p>
          <a:p>
            <a:pPr indent="0" lvl="0" marL="4140000" rtl="0" algn="l">
              <a:spcBef>
                <a:spcPts val="600"/>
              </a:spcBef>
              <a:spcAft>
                <a:spcPts val="0"/>
              </a:spcAft>
              <a:buNone/>
            </a:pPr>
            <a:r>
              <a:rPr b="1" lang="en-GB" sz="1400"/>
              <a:t>Sepsis</a:t>
            </a:r>
            <a:endParaRPr b="1" sz="1400"/>
          </a:p>
          <a:p>
            <a:pPr indent="0" lvl="0" marL="4140000" rtl="0" algn="l">
              <a:spcBef>
                <a:spcPts val="600"/>
              </a:spcBef>
              <a:spcAft>
                <a:spcPts val="0"/>
              </a:spcAft>
              <a:buNone/>
            </a:pPr>
            <a:r>
              <a:rPr i="1" lang="en-GB" sz="1400"/>
              <a:t>Definition</a:t>
            </a:r>
            <a:r>
              <a:rPr lang="en-GB" sz="1400"/>
              <a:t>: </a:t>
            </a:r>
            <a:r>
              <a:rPr lang="en-GB" sz="1400"/>
              <a:t>Systemic inflammatory response syndrome with a proven or suspected infectious etiology.</a:t>
            </a:r>
            <a:endParaRPr sz="1400"/>
          </a:p>
          <a:p>
            <a:pPr indent="0" lvl="0" marL="4140000" rtl="0" algn="l">
              <a:spcBef>
                <a:spcPts val="600"/>
              </a:spcBef>
              <a:spcAft>
                <a:spcPts val="0"/>
              </a:spcAft>
              <a:buNone/>
            </a:pPr>
            <a:r>
              <a:rPr i="1" lang="en-GB" sz="1400"/>
              <a:t>Synonyms</a:t>
            </a:r>
            <a:r>
              <a:rPr lang="en-GB" sz="1400"/>
              <a:t>: </a:t>
            </a:r>
            <a:r>
              <a:rPr lang="en-GB" sz="1400"/>
              <a:t> Blood Poisoning, Bloodstream Infection, Pyaemia, Pyemia</a:t>
            </a:r>
            <a:r>
              <a:rPr lang="en-GB" sz="1400"/>
              <a:t>, …</a:t>
            </a:r>
            <a:endParaRPr sz="1400"/>
          </a:p>
          <a:p>
            <a:pPr indent="0" lvl="0" marL="4140000" rtl="0" algn="l">
              <a:spcBef>
                <a:spcPts val="600"/>
              </a:spcBef>
              <a:spcAft>
                <a:spcPts val="0"/>
              </a:spcAft>
              <a:buNone/>
            </a:pPr>
            <a:r>
              <a:rPr i="1" lang="en-GB" sz="1400"/>
              <a:t>MeSH Unique ID</a:t>
            </a:r>
            <a:r>
              <a:rPr lang="en-GB" sz="1400"/>
              <a:t>: </a:t>
            </a:r>
            <a:r>
              <a:rPr lang="en-GB" sz="1400"/>
              <a:t>D018805</a:t>
            </a:r>
            <a:endParaRPr sz="1400"/>
          </a:p>
          <a:p>
            <a:pPr indent="0" lvl="0" marL="0" rtl="0" algn="l">
              <a:spcBef>
                <a:spcPts val="6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Ontology</a:t>
            </a:r>
            <a:endParaRPr/>
          </a:p>
        </p:txBody>
      </p:sp>
      <p:sp>
        <p:nvSpPr>
          <p:cNvPr id="180" name="Google Shape;180;p27"/>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A controlled vocabulary</a:t>
            </a:r>
            <a:endParaRPr sz="2000"/>
          </a:p>
          <a:p>
            <a:pPr indent="-355600" lvl="0" marL="457200" rtl="0" algn="l">
              <a:spcBef>
                <a:spcPts val="0"/>
              </a:spcBef>
              <a:spcAft>
                <a:spcPts val="0"/>
              </a:spcAft>
              <a:buSzPts val="2000"/>
              <a:buChar char="•"/>
            </a:pPr>
            <a:r>
              <a:rPr lang="en-GB" sz="2000"/>
              <a:t>Captures term relationships, e.g.</a:t>
            </a:r>
            <a:endParaRPr sz="2000"/>
          </a:p>
          <a:p>
            <a:pPr indent="-355600" lvl="1" marL="914400" rtl="0" algn="l">
              <a:spcBef>
                <a:spcPts val="0"/>
              </a:spcBef>
              <a:spcAft>
                <a:spcPts val="0"/>
              </a:spcAft>
              <a:buSzPts val="2000"/>
              <a:buChar char="•"/>
            </a:pPr>
            <a:r>
              <a:rPr i="1" lang="en-GB" sz="2000"/>
              <a:t>i</a:t>
            </a:r>
            <a:r>
              <a:rPr i="1" lang="en-GB" sz="2000"/>
              <a:t>s a</a:t>
            </a:r>
            <a:endParaRPr i="1" sz="2000"/>
          </a:p>
          <a:p>
            <a:pPr indent="-355600" lvl="1" marL="914400" rtl="0" algn="l">
              <a:spcBef>
                <a:spcPts val="0"/>
              </a:spcBef>
              <a:spcAft>
                <a:spcPts val="0"/>
              </a:spcAft>
              <a:buSzPts val="2000"/>
              <a:buChar char="•"/>
            </a:pPr>
            <a:r>
              <a:rPr i="1" lang="en-GB" sz="2000"/>
              <a:t>p</a:t>
            </a:r>
            <a:r>
              <a:rPr i="1" lang="en-GB" sz="2000"/>
              <a:t>art of</a:t>
            </a:r>
            <a:endParaRPr i="1" sz="2000"/>
          </a:p>
          <a:p>
            <a:pPr indent="-355600" lvl="1" marL="914400" rtl="0" algn="l">
              <a:spcBef>
                <a:spcPts val="0"/>
              </a:spcBef>
              <a:spcAft>
                <a:spcPts val="0"/>
              </a:spcAft>
              <a:buSzPts val="2000"/>
              <a:buChar char="•"/>
            </a:pPr>
            <a:r>
              <a:rPr i="1" lang="en-GB" sz="2000"/>
              <a:t>c</a:t>
            </a:r>
            <a:r>
              <a:rPr i="1" lang="en-GB" sz="2000"/>
              <a:t>ontained in</a:t>
            </a:r>
            <a:endParaRPr i="1" sz="2000"/>
          </a:p>
          <a:p>
            <a:pPr indent="-355600" lvl="1" marL="914400" rtl="0" algn="l">
              <a:spcBef>
                <a:spcPts val="0"/>
              </a:spcBef>
              <a:spcAft>
                <a:spcPts val="0"/>
              </a:spcAft>
              <a:buSzPts val="2000"/>
              <a:buChar char="•"/>
            </a:pPr>
            <a:r>
              <a:rPr i="1" lang="en-GB" sz="2000"/>
              <a:t>p</a:t>
            </a:r>
            <a:r>
              <a:rPr i="1" lang="en-GB" sz="2000"/>
              <a:t>roduced by</a:t>
            </a:r>
            <a:endParaRPr i="1" sz="2000"/>
          </a:p>
          <a:p>
            <a:pPr indent="-355600" lvl="0" marL="457200" rtl="0" algn="l">
              <a:spcBef>
                <a:spcPts val="1000"/>
              </a:spcBef>
              <a:spcAft>
                <a:spcPts val="0"/>
              </a:spcAft>
              <a:buSzPts val="2000"/>
              <a:buChar char="•"/>
            </a:pPr>
            <a:r>
              <a:rPr lang="en-GB" sz="2000"/>
              <a:t>Hierarchy / Tree</a:t>
            </a:r>
            <a:endParaRPr sz="2000"/>
          </a:p>
          <a:p>
            <a:pPr indent="-355600" lvl="1" marL="914400" rtl="0" algn="l">
              <a:spcBef>
                <a:spcPts val="0"/>
              </a:spcBef>
              <a:spcAft>
                <a:spcPts val="0"/>
              </a:spcAft>
              <a:buSzPts val="2000"/>
              <a:buChar char="•"/>
            </a:pPr>
            <a:r>
              <a:rPr lang="en-GB" sz="2000"/>
              <a:t>A term can be present at several places in the hierarchy</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Human Phenotype Ontology</a:t>
            </a:r>
            <a:endParaRPr/>
          </a:p>
        </p:txBody>
      </p:sp>
      <p:pic>
        <p:nvPicPr>
          <p:cNvPr id="186" name="Google Shape;186;p28">
            <a:hlinkClick r:id="rId3"/>
          </p:cNvPr>
          <p:cNvPicPr preferRelativeResize="0"/>
          <p:nvPr/>
        </p:nvPicPr>
        <p:blipFill>
          <a:blip r:embed="rId4">
            <a:alphaModFix/>
          </a:blip>
          <a:stretch>
            <a:fillRect/>
          </a:stretch>
        </p:blipFill>
        <p:spPr>
          <a:xfrm>
            <a:off x="1745450" y="793575"/>
            <a:ext cx="5176051" cy="4155070"/>
          </a:xfrm>
          <a:prstGeom prst="rect">
            <a:avLst/>
          </a:prstGeom>
          <a:noFill/>
          <a:ln>
            <a:noFill/>
          </a:ln>
        </p:spPr>
      </p:pic>
      <p:sp>
        <p:nvSpPr>
          <p:cNvPr id="187" name="Google Shape;187;p28"/>
          <p:cNvSpPr txBox="1"/>
          <p:nvPr/>
        </p:nvSpPr>
        <p:spPr>
          <a:xfrm>
            <a:off x="3244627" y="4896600"/>
            <a:ext cx="679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u="sng">
                <a:solidFill>
                  <a:schemeClr val="hlink"/>
                </a:solidFill>
                <a:hlinkClick r:id="rId5"/>
              </a:rPr>
              <a:t>https://www.ebi.ac.uk/ols/ontologies/hp/terms?iri=http%3A%2F%2Fpurl.obolibrary.org%2Fobo%2FHP_0001658</a:t>
            </a:r>
            <a:endParaRPr sz="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Brenda Tissue Ontology</a:t>
            </a:r>
            <a:endParaRPr/>
          </a:p>
        </p:txBody>
      </p:sp>
      <p:pic>
        <p:nvPicPr>
          <p:cNvPr id="193" name="Google Shape;193;p29">
            <a:hlinkClick r:id="rId3"/>
          </p:cNvPr>
          <p:cNvPicPr preferRelativeResize="0"/>
          <p:nvPr/>
        </p:nvPicPr>
        <p:blipFill>
          <a:blip r:embed="rId4">
            <a:alphaModFix/>
          </a:blip>
          <a:stretch>
            <a:fillRect/>
          </a:stretch>
        </p:blipFill>
        <p:spPr>
          <a:xfrm>
            <a:off x="805737" y="682364"/>
            <a:ext cx="7532524" cy="4008275"/>
          </a:xfrm>
          <a:prstGeom prst="rect">
            <a:avLst/>
          </a:prstGeom>
          <a:noFill/>
          <a:ln>
            <a:noFill/>
          </a:ln>
        </p:spPr>
      </p:pic>
      <p:sp>
        <p:nvSpPr>
          <p:cNvPr id="194" name="Google Shape;194;p29"/>
          <p:cNvSpPr txBox="1"/>
          <p:nvPr/>
        </p:nvSpPr>
        <p:spPr>
          <a:xfrm>
            <a:off x="2425275" y="4752250"/>
            <a:ext cx="6022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u="sng">
                <a:solidFill>
                  <a:schemeClr val="hlink"/>
                </a:solidFill>
                <a:hlinkClick r:id="rId5"/>
              </a:rPr>
              <a:t>https://www.ebi.ac.uk/ols/ontologies/bto/terms?iri=http%3A%2F%2Fpurl.obolibrary.org%2Fobo%2FBTO_0000564</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A universal standard?</a:t>
            </a:r>
            <a:endParaRPr/>
          </a:p>
        </p:txBody>
      </p:sp>
      <p:pic>
        <p:nvPicPr>
          <p:cNvPr id="200" name="Google Shape;200;p30"/>
          <p:cNvPicPr preferRelativeResize="0"/>
          <p:nvPr/>
        </p:nvPicPr>
        <p:blipFill rotWithShape="1">
          <a:blip r:embed="rId3">
            <a:alphaModFix/>
          </a:blip>
          <a:srcRect b="0" l="0" r="0" t="0"/>
          <a:stretch/>
        </p:blipFill>
        <p:spPr>
          <a:xfrm>
            <a:off x="1135125" y="787050"/>
            <a:ext cx="7408826" cy="4167200"/>
          </a:xfrm>
          <a:prstGeom prst="rect">
            <a:avLst/>
          </a:prstGeom>
          <a:noFill/>
          <a:ln>
            <a:noFill/>
          </a:ln>
        </p:spPr>
      </p:pic>
      <p:sp>
        <p:nvSpPr>
          <p:cNvPr id="201" name="Google Shape;201;p30"/>
          <p:cNvSpPr txBox="1"/>
          <p:nvPr/>
        </p:nvSpPr>
        <p:spPr>
          <a:xfrm>
            <a:off x="6762525" y="4304475"/>
            <a:ext cx="163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u="sng">
                <a:solidFill>
                  <a:schemeClr val="hlink"/>
                </a:solidFill>
                <a:hlinkClick r:id="rId4"/>
              </a:rPr>
              <a:t>https://xkcd.com/927/</a:t>
            </a:r>
            <a:endParaRPr sz="1200"/>
          </a:p>
        </p:txBody>
      </p:sp>
      <p:sp>
        <p:nvSpPr>
          <p:cNvPr id="202" name="Google Shape;202;p30"/>
          <p:cNvSpPr txBox="1"/>
          <p:nvPr/>
        </p:nvSpPr>
        <p:spPr>
          <a:xfrm>
            <a:off x="7409576" y="4615550"/>
            <a:ext cx="1103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u="sng">
                <a:solidFill>
                  <a:schemeClr val="hlink"/>
                </a:solidFill>
                <a:hlinkClick r:id="rId5"/>
              </a:rPr>
              <a:t>CC BY-NC 2.5</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Making your own?</a:t>
            </a:r>
            <a:endParaRPr/>
          </a:p>
        </p:txBody>
      </p:sp>
      <p:sp>
        <p:nvSpPr>
          <p:cNvPr id="208" name="Google Shape;208;p31"/>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At what point does it make sense to use something that exists?</a:t>
            </a:r>
            <a:endParaRPr sz="2000"/>
          </a:p>
          <a:p>
            <a:pPr indent="-355600" lvl="1" marL="914400" rtl="0" algn="l">
              <a:spcBef>
                <a:spcPts val="0"/>
              </a:spcBef>
              <a:spcAft>
                <a:spcPts val="0"/>
              </a:spcAft>
              <a:buSzPts val="2000"/>
              <a:buChar char="•"/>
            </a:pPr>
            <a:r>
              <a:rPr lang="en-GB" sz="2000"/>
              <a:t>Number of terms</a:t>
            </a:r>
            <a:endParaRPr sz="2000"/>
          </a:p>
          <a:p>
            <a:pPr indent="-355600" lvl="1" marL="914400" rtl="0" algn="l">
              <a:spcBef>
                <a:spcPts val="0"/>
              </a:spcBef>
              <a:spcAft>
                <a:spcPts val="0"/>
              </a:spcAft>
              <a:buSzPts val="2000"/>
              <a:buChar char="•"/>
            </a:pPr>
            <a:r>
              <a:rPr lang="en-GB" sz="2000"/>
              <a:t>Nature of terms</a:t>
            </a:r>
            <a:endParaRPr sz="2000"/>
          </a:p>
          <a:p>
            <a:pPr indent="-355600" lvl="1" marL="914400" rtl="0" algn="l">
              <a:spcBef>
                <a:spcPts val="0"/>
              </a:spcBef>
              <a:spcAft>
                <a:spcPts val="0"/>
              </a:spcAft>
              <a:buSzPts val="2000"/>
              <a:buChar char="•"/>
            </a:pPr>
            <a:r>
              <a:rPr lang="en-GB" sz="2000"/>
              <a:t>R</a:t>
            </a:r>
            <a:r>
              <a:rPr lang="en-GB" sz="2000"/>
              <a:t>elationships of terms</a:t>
            </a:r>
            <a:endParaRPr sz="2000"/>
          </a:p>
          <a:p>
            <a:pPr indent="-355600" lvl="1" marL="914400" rtl="0" algn="l">
              <a:spcBef>
                <a:spcPts val="0"/>
              </a:spcBef>
              <a:spcAft>
                <a:spcPts val="0"/>
              </a:spcAft>
              <a:buSzPts val="2000"/>
              <a:buChar char="•"/>
            </a:pPr>
            <a:r>
              <a:rPr lang="en-GB" sz="2000"/>
              <a:t>Terms management</a:t>
            </a:r>
            <a:endParaRPr sz="2000"/>
          </a:p>
          <a:p>
            <a:pPr indent="-355600" lvl="2" marL="1371600" rtl="0" algn="l">
              <a:spcBef>
                <a:spcPts val="0"/>
              </a:spcBef>
              <a:spcAft>
                <a:spcPts val="0"/>
              </a:spcAft>
              <a:buSzPts val="2000"/>
              <a:buChar char="•"/>
            </a:pPr>
            <a:r>
              <a:rPr lang="en-GB" sz="2000"/>
              <a:t>Definitions</a:t>
            </a:r>
            <a:endParaRPr sz="2000"/>
          </a:p>
          <a:p>
            <a:pPr indent="-355600" lvl="0" marL="457200" rtl="0" algn="l">
              <a:spcBef>
                <a:spcPts val="0"/>
              </a:spcBef>
              <a:spcAft>
                <a:spcPts val="0"/>
              </a:spcAft>
              <a:buSzPts val="2000"/>
              <a:buChar char="•"/>
            </a:pPr>
            <a:r>
              <a:rPr lang="en-GB" sz="2000"/>
              <a:t>FAIRness</a:t>
            </a:r>
            <a:endParaRPr sz="2000"/>
          </a:p>
          <a:p>
            <a:pPr indent="-355600" lvl="1" marL="914400" rtl="0" algn="l">
              <a:spcBef>
                <a:spcPts val="0"/>
              </a:spcBef>
              <a:spcAft>
                <a:spcPts val="0"/>
              </a:spcAft>
              <a:buSzPts val="2000"/>
              <a:buChar char="•"/>
            </a:pPr>
            <a:r>
              <a:rPr lang="en-GB" sz="2000"/>
              <a:t>Unique identifiers</a:t>
            </a:r>
            <a:endParaRPr sz="2000"/>
          </a:p>
          <a:p>
            <a:pPr indent="-355600" lvl="1" marL="914400" rtl="0" algn="l">
              <a:spcBef>
                <a:spcPts val="0"/>
              </a:spcBef>
              <a:spcAft>
                <a:spcPts val="0"/>
              </a:spcAft>
              <a:buSzPts val="2000"/>
              <a:buChar char="•"/>
            </a:pPr>
            <a:r>
              <a:rPr lang="en-GB" sz="2000"/>
              <a:t>Home brew vocabularies makes it harder to achieve machine </a:t>
            </a:r>
            <a:r>
              <a:rPr lang="en-GB" sz="2000"/>
              <a:t>readability</a:t>
            </a:r>
            <a:r>
              <a:rPr lang="en-GB" sz="2000"/>
              <a:t> </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Metadata standards</a:t>
            </a:r>
            <a:endParaRPr/>
          </a:p>
        </p:txBody>
      </p:sp>
      <p:sp>
        <p:nvSpPr>
          <p:cNvPr id="214" name="Google Shape;214;p32"/>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Collections of metadata </a:t>
            </a:r>
            <a:r>
              <a:rPr b="1" lang="en-GB" sz="2000"/>
              <a:t>elements</a:t>
            </a:r>
            <a:r>
              <a:rPr lang="en-GB" sz="2000"/>
              <a:t> of relevance for a particular purpose</a:t>
            </a:r>
            <a:endParaRPr sz="2000"/>
          </a:p>
          <a:p>
            <a:pPr indent="-355600" lvl="0" marL="457200" rtl="0" algn="l">
              <a:spcBef>
                <a:spcPts val="0"/>
              </a:spcBef>
              <a:spcAft>
                <a:spcPts val="0"/>
              </a:spcAft>
              <a:buSzPts val="2000"/>
              <a:buChar char="•"/>
            </a:pPr>
            <a:r>
              <a:rPr lang="en-GB" sz="2000"/>
              <a:t>Elements</a:t>
            </a:r>
            <a:endParaRPr sz="2000"/>
          </a:p>
          <a:p>
            <a:pPr indent="-355600" lvl="1" marL="914400" rtl="0" algn="l">
              <a:spcBef>
                <a:spcPts val="0"/>
              </a:spcBef>
              <a:spcAft>
                <a:spcPts val="0"/>
              </a:spcAft>
              <a:buSzPts val="2000"/>
              <a:buChar char="•"/>
            </a:pPr>
            <a:r>
              <a:rPr lang="en-GB" sz="2000"/>
              <a:t>Mandatory, Recommended, or Optional</a:t>
            </a:r>
            <a:endParaRPr sz="2000"/>
          </a:p>
          <a:p>
            <a:pPr indent="-355600" lvl="1" marL="914400" rtl="0" algn="l">
              <a:spcBef>
                <a:spcPts val="0"/>
              </a:spcBef>
              <a:spcAft>
                <a:spcPts val="0"/>
              </a:spcAft>
              <a:buSzPts val="2000"/>
              <a:buChar char="•"/>
            </a:pPr>
            <a:r>
              <a:rPr lang="en-GB" sz="2000"/>
              <a:t>Defined input </a:t>
            </a:r>
            <a:r>
              <a:rPr lang="en-GB" sz="2000"/>
              <a:t>value </a:t>
            </a:r>
            <a:r>
              <a:rPr lang="en-GB" sz="2000"/>
              <a:t>type</a:t>
            </a:r>
            <a:endParaRPr sz="2000"/>
          </a:p>
          <a:p>
            <a:pPr indent="-355600" lvl="2" marL="1371600" rtl="0" algn="l">
              <a:spcBef>
                <a:spcPts val="0"/>
              </a:spcBef>
              <a:spcAft>
                <a:spcPts val="0"/>
              </a:spcAft>
              <a:buSzPts val="2000"/>
              <a:buChar char="•"/>
            </a:pPr>
            <a:r>
              <a:rPr lang="en-GB" sz="2000"/>
              <a:t>Free text, data, geographical position, numerical values, ontology terms</a:t>
            </a:r>
            <a:endParaRPr sz="2000"/>
          </a:p>
          <a:p>
            <a:pPr indent="-355600" lvl="1" marL="914400" rtl="0" algn="l">
              <a:spcBef>
                <a:spcPts val="0"/>
              </a:spcBef>
              <a:spcAft>
                <a:spcPts val="0"/>
              </a:spcAft>
              <a:buSzPts val="2000"/>
              <a:buChar char="•"/>
            </a:pPr>
            <a:r>
              <a:rPr lang="en-GB" sz="2000"/>
              <a:t>Can itself be an ontology term</a:t>
            </a:r>
            <a:endParaRPr sz="2000"/>
          </a:p>
          <a:p>
            <a:pPr indent="-355600" lvl="0" marL="457200" rtl="0" algn="l">
              <a:spcBef>
                <a:spcPts val="0"/>
              </a:spcBef>
              <a:spcAft>
                <a:spcPts val="0"/>
              </a:spcAft>
              <a:buSzPts val="2000"/>
              <a:buChar char="•"/>
            </a:pPr>
            <a:r>
              <a:rPr lang="en-GB" sz="2000"/>
              <a:t>Stricter → potentially increased FAIRness</a:t>
            </a:r>
            <a:endParaRPr sz="2000"/>
          </a:p>
          <a:p>
            <a:pPr indent="-355600" lvl="0" marL="457200" rtl="0" algn="l">
              <a:spcBef>
                <a:spcPts val="0"/>
              </a:spcBef>
              <a:spcAft>
                <a:spcPts val="0"/>
              </a:spcAft>
              <a:buSzPts val="2000"/>
              <a:buChar char="•"/>
            </a:pPr>
            <a:r>
              <a:rPr lang="en-GB" sz="2000"/>
              <a:t>Generic to Specific</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Generic - Dublin Core</a:t>
            </a:r>
            <a:endParaRPr/>
          </a:p>
        </p:txBody>
      </p:sp>
      <p:sp>
        <p:nvSpPr>
          <p:cNvPr id="220" name="Google Shape;220;p33"/>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Describing digital and physical resources</a:t>
            </a:r>
            <a:endParaRPr sz="2000"/>
          </a:p>
          <a:p>
            <a:pPr indent="-355600" lvl="0" marL="457200" rtl="0" algn="l">
              <a:spcBef>
                <a:spcPts val="0"/>
              </a:spcBef>
              <a:spcAft>
                <a:spcPts val="0"/>
              </a:spcAft>
              <a:buSzPts val="2000"/>
              <a:buChar char="•"/>
            </a:pPr>
            <a:r>
              <a:rPr lang="en-GB" sz="2000"/>
              <a:t>15 elements</a:t>
            </a:r>
            <a:endParaRPr sz="2000"/>
          </a:p>
        </p:txBody>
      </p:sp>
      <p:sp>
        <p:nvSpPr>
          <p:cNvPr id="221" name="Google Shape;221;p33"/>
          <p:cNvSpPr txBox="1"/>
          <p:nvPr/>
        </p:nvSpPr>
        <p:spPr>
          <a:xfrm>
            <a:off x="2792950" y="4628575"/>
            <a:ext cx="5068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u="sng">
                <a:solidFill>
                  <a:schemeClr val="hlink"/>
                </a:solidFill>
                <a:hlinkClick r:id="rId3"/>
              </a:rPr>
              <a:t>https://www.dublincore.org/specifications/dublin-core/dces/</a:t>
            </a:r>
            <a:endParaRPr sz="900"/>
          </a:p>
        </p:txBody>
      </p:sp>
      <p:pic>
        <p:nvPicPr>
          <p:cNvPr id="222" name="Google Shape;222;p33"/>
          <p:cNvPicPr preferRelativeResize="0"/>
          <p:nvPr/>
        </p:nvPicPr>
        <p:blipFill>
          <a:blip r:embed="rId4">
            <a:alphaModFix/>
          </a:blip>
          <a:stretch>
            <a:fillRect/>
          </a:stretch>
        </p:blipFill>
        <p:spPr>
          <a:xfrm>
            <a:off x="2825725" y="1266323"/>
            <a:ext cx="4675963" cy="3328375"/>
          </a:xfrm>
          <a:prstGeom prst="rect">
            <a:avLst/>
          </a:prstGeom>
          <a:noFill/>
          <a:ln>
            <a:noFill/>
          </a:ln>
        </p:spPr>
      </p:pic>
      <p:sp>
        <p:nvSpPr>
          <p:cNvPr id="223" name="Google Shape;223;p33"/>
          <p:cNvSpPr txBox="1"/>
          <p:nvPr/>
        </p:nvSpPr>
        <p:spPr>
          <a:xfrm>
            <a:off x="2802195" y="4848137"/>
            <a:ext cx="1106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u="sng">
                <a:solidFill>
                  <a:schemeClr val="hlink"/>
                </a:solidFill>
                <a:hlinkClick r:id="rId5"/>
              </a:rPr>
              <a:t>CC BY 3.0</a:t>
            </a:r>
            <a:endParaRPr sz="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sz="2200"/>
              <a:t>Specific</a:t>
            </a:r>
            <a:r>
              <a:rPr lang="en-GB" sz="2200"/>
              <a:t> - an ENA checklist</a:t>
            </a:r>
            <a:endParaRPr sz="2200"/>
          </a:p>
        </p:txBody>
      </p:sp>
      <p:sp>
        <p:nvSpPr>
          <p:cNvPr id="229" name="Google Shape;229;p34"/>
          <p:cNvSpPr txBox="1"/>
          <p:nvPr>
            <p:ph idx="4294967295" type="body"/>
          </p:nvPr>
        </p:nvSpPr>
        <p:spPr>
          <a:xfrm>
            <a:off x="307874" y="880400"/>
            <a:ext cx="41181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i="1" lang="en-GB" sz="2000"/>
              <a:t>ENA virus pathogen reporting standard checklist</a:t>
            </a:r>
            <a:endParaRPr i="1" sz="2000"/>
          </a:p>
          <a:p>
            <a:pPr indent="-355600" lvl="0" marL="457200" rtl="0" algn="l">
              <a:spcBef>
                <a:spcPts val="0"/>
              </a:spcBef>
              <a:spcAft>
                <a:spcPts val="0"/>
              </a:spcAft>
              <a:buSzPts val="2000"/>
              <a:buChar char="•"/>
            </a:pPr>
            <a:r>
              <a:rPr lang="en-GB" sz="2000"/>
              <a:t>Reporting metadata of virus pathogen samples associated with genomic data</a:t>
            </a:r>
            <a:endParaRPr sz="2000"/>
          </a:p>
          <a:p>
            <a:pPr indent="-355600" lvl="0" marL="457200" rtl="0" algn="l">
              <a:spcBef>
                <a:spcPts val="0"/>
              </a:spcBef>
              <a:spcAft>
                <a:spcPts val="0"/>
              </a:spcAft>
              <a:buSzPts val="2000"/>
              <a:buChar char="•"/>
            </a:pPr>
            <a:r>
              <a:rPr lang="en-GB" sz="2000"/>
              <a:t>35 elements - 9 mandatory and 15 recommended</a:t>
            </a:r>
            <a:endParaRPr sz="2000"/>
          </a:p>
        </p:txBody>
      </p:sp>
      <p:sp>
        <p:nvSpPr>
          <p:cNvPr id="230" name="Google Shape;230;p34"/>
          <p:cNvSpPr txBox="1"/>
          <p:nvPr/>
        </p:nvSpPr>
        <p:spPr>
          <a:xfrm>
            <a:off x="4478325" y="4743300"/>
            <a:ext cx="455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hlinkClick r:id="rId3"/>
              </a:rPr>
              <a:t>https://www.ebi.ac.uk/ena/browser/view/ERC000033</a:t>
            </a:r>
            <a:endParaRPr/>
          </a:p>
        </p:txBody>
      </p:sp>
      <p:pic>
        <p:nvPicPr>
          <p:cNvPr id="231" name="Google Shape;231;p34"/>
          <p:cNvPicPr preferRelativeResize="0"/>
          <p:nvPr/>
        </p:nvPicPr>
        <p:blipFill>
          <a:blip r:embed="rId4">
            <a:alphaModFix/>
          </a:blip>
          <a:stretch>
            <a:fillRect/>
          </a:stretch>
        </p:blipFill>
        <p:spPr>
          <a:xfrm>
            <a:off x="4572000" y="880400"/>
            <a:ext cx="4554251" cy="36164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How do I know what to use?</a:t>
            </a:r>
            <a:endParaRPr/>
          </a:p>
        </p:txBody>
      </p:sp>
      <p:pic>
        <p:nvPicPr>
          <p:cNvPr id="237" name="Google Shape;237;p35"/>
          <p:cNvPicPr preferRelativeResize="0"/>
          <p:nvPr/>
        </p:nvPicPr>
        <p:blipFill>
          <a:blip r:embed="rId3">
            <a:alphaModFix/>
          </a:blip>
          <a:stretch>
            <a:fillRect/>
          </a:stretch>
        </p:blipFill>
        <p:spPr>
          <a:xfrm>
            <a:off x="1521975" y="880400"/>
            <a:ext cx="4080974" cy="4166401"/>
          </a:xfrm>
          <a:prstGeom prst="rect">
            <a:avLst/>
          </a:prstGeom>
          <a:noFill/>
          <a:ln>
            <a:noFill/>
          </a:ln>
        </p:spPr>
      </p:pic>
      <p:pic>
        <p:nvPicPr>
          <p:cNvPr id="238" name="Google Shape;238;p35"/>
          <p:cNvPicPr preferRelativeResize="0"/>
          <p:nvPr/>
        </p:nvPicPr>
        <p:blipFill>
          <a:blip r:embed="rId4">
            <a:alphaModFix/>
          </a:blip>
          <a:stretch>
            <a:fillRect/>
          </a:stretch>
        </p:blipFill>
        <p:spPr>
          <a:xfrm>
            <a:off x="4686971" y="1131796"/>
            <a:ext cx="2431850" cy="2340075"/>
          </a:xfrm>
          <a:prstGeom prst="rect">
            <a:avLst/>
          </a:prstGeom>
          <a:noFill/>
          <a:ln>
            <a:noFill/>
          </a:ln>
        </p:spPr>
      </p:pic>
      <p:sp>
        <p:nvSpPr>
          <p:cNvPr id="239" name="Google Shape;239;p35"/>
          <p:cNvSpPr/>
          <p:nvPr/>
        </p:nvSpPr>
        <p:spPr>
          <a:xfrm>
            <a:off x="7238990" y="1571062"/>
            <a:ext cx="324900" cy="145800"/>
          </a:xfrm>
          <a:prstGeom prst="leftArrow">
            <a:avLst>
              <a:gd fmla="val 50000" name="adj1"/>
              <a:gd fmla="val 5000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5"/>
          <p:cNvSpPr/>
          <p:nvPr/>
        </p:nvSpPr>
        <p:spPr>
          <a:xfrm rot="-5400000">
            <a:off x="2994741" y="1044262"/>
            <a:ext cx="324900" cy="145800"/>
          </a:xfrm>
          <a:prstGeom prst="leftArrow">
            <a:avLst>
              <a:gd fmla="val 50000" name="adj1"/>
              <a:gd fmla="val 5000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5"/>
          <p:cNvSpPr txBox="1"/>
          <p:nvPr/>
        </p:nvSpPr>
        <p:spPr>
          <a:xfrm>
            <a:off x="6654675" y="4747500"/>
            <a:ext cx="2086200" cy="1230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lang="en-GB" sz="800" u="sng">
                <a:solidFill>
                  <a:schemeClr val="hlink"/>
                </a:solidFill>
                <a:hlinkClick r:id="rId5"/>
              </a:rPr>
              <a:t>https://fairsharing.org/summary-statistics/</a:t>
            </a:r>
            <a:r>
              <a:rPr lang="en-GB" sz="800"/>
              <a:t> </a:t>
            </a:r>
            <a:endParaRPr sz="800"/>
          </a:p>
        </p:txBody>
      </p:sp>
      <p:sp>
        <p:nvSpPr>
          <p:cNvPr id="242" name="Google Shape;242;p35"/>
          <p:cNvSpPr txBox="1"/>
          <p:nvPr/>
        </p:nvSpPr>
        <p:spPr>
          <a:xfrm>
            <a:off x="6662225" y="4919817"/>
            <a:ext cx="1038600" cy="1230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lang="en-GB" sz="800" u="sng">
                <a:solidFill>
                  <a:schemeClr val="hlink"/>
                </a:solidFill>
                <a:hlinkClick r:id="rId6"/>
              </a:rPr>
              <a:t>CC BY-SA 4.0</a:t>
            </a:r>
            <a:endParaRPr sz="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Data dictionary</a:t>
            </a:r>
            <a:endParaRPr/>
          </a:p>
        </p:txBody>
      </p:sp>
      <p:sp>
        <p:nvSpPr>
          <p:cNvPr id="248" name="Google Shape;248;p36"/>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74650" lvl="0" marL="457200" rtl="0" algn="l">
              <a:spcBef>
                <a:spcPts val="600"/>
              </a:spcBef>
              <a:spcAft>
                <a:spcPts val="0"/>
              </a:spcAft>
              <a:buSzPts val="2300"/>
              <a:buChar char="•"/>
            </a:pPr>
            <a:r>
              <a:rPr lang="en-GB" sz="2300"/>
              <a:t>Your own metadata standard</a:t>
            </a:r>
            <a:endParaRPr sz="2300"/>
          </a:p>
          <a:p>
            <a:pPr indent="-374650" lvl="0" marL="457200" rtl="0" algn="l">
              <a:spcBef>
                <a:spcPts val="0"/>
              </a:spcBef>
              <a:spcAft>
                <a:spcPts val="0"/>
              </a:spcAft>
              <a:buSzPts val="2300"/>
              <a:buChar char="•"/>
            </a:pPr>
            <a:r>
              <a:rPr lang="en-GB" sz="2300"/>
              <a:t>Document what type of information is supposed to be entered for the metadata fields</a:t>
            </a:r>
            <a:endParaRPr sz="2300"/>
          </a:p>
          <a:p>
            <a:pPr indent="-374650" lvl="0" marL="457200" rtl="0" algn="l">
              <a:spcBef>
                <a:spcPts val="0"/>
              </a:spcBef>
              <a:spcAft>
                <a:spcPts val="0"/>
              </a:spcAft>
              <a:buSzPts val="2300"/>
              <a:buChar char="•"/>
            </a:pPr>
            <a:r>
              <a:rPr lang="en-GB" sz="2300"/>
              <a:t>Name, units, allowed values, definitions, ...</a:t>
            </a:r>
            <a:endParaRPr sz="23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idx="1" type="body"/>
          </p:nvPr>
        </p:nvSpPr>
        <p:spPr>
          <a:xfrm>
            <a:off x="323407" y="497909"/>
            <a:ext cx="8497200" cy="4129800"/>
          </a:xfrm>
          <a:prstGeom prst="rect">
            <a:avLst/>
          </a:prstGeom>
        </p:spPr>
        <p:txBody>
          <a:bodyPr anchorCtr="0" anchor="ctr" bIns="25700" lIns="51425" spcFirstLastPara="1" rIns="51425" wrap="square" tIns="25700">
            <a:normAutofit/>
          </a:bodyPr>
          <a:lstStyle/>
          <a:p>
            <a:pPr indent="0" lvl="0" marL="0" rtl="0" algn="ctr">
              <a:spcBef>
                <a:spcPts val="800"/>
              </a:spcBef>
              <a:spcAft>
                <a:spcPts val="0"/>
              </a:spcAft>
              <a:buNone/>
            </a:pPr>
            <a:r>
              <a:rPr b="1" lang="en-GB" sz="3000"/>
              <a:t>Exercise: </a:t>
            </a:r>
            <a:endParaRPr b="1" sz="3000"/>
          </a:p>
          <a:p>
            <a:pPr indent="0" lvl="0" marL="0" rtl="0" algn="ctr">
              <a:spcBef>
                <a:spcPts val="800"/>
              </a:spcBef>
              <a:spcAft>
                <a:spcPts val="0"/>
              </a:spcAft>
              <a:buNone/>
            </a:pPr>
            <a:r>
              <a:rPr b="1" lang="en-GB" sz="3000"/>
              <a:t>Start a data dictionary</a:t>
            </a:r>
            <a:endParaRPr b="1" sz="3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8"/>
          <p:cNvPicPr preferRelativeResize="0"/>
          <p:nvPr/>
        </p:nvPicPr>
        <p:blipFill>
          <a:blip r:embed="rId3">
            <a:alphaModFix/>
          </a:blip>
          <a:stretch>
            <a:fillRect/>
          </a:stretch>
        </p:blipFill>
        <p:spPr>
          <a:xfrm>
            <a:off x="4971400" y="1121150"/>
            <a:ext cx="4057199" cy="1188954"/>
          </a:xfrm>
          <a:prstGeom prst="rect">
            <a:avLst/>
          </a:prstGeom>
          <a:noFill/>
          <a:ln>
            <a:noFill/>
          </a:ln>
        </p:spPr>
      </p:pic>
      <p:pic>
        <p:nvPicPr>
          <p:cNvPr id="259" name="Google Shape;259;p38"/>
          <p:cNvPicPr preferRelativeResize="0"/>
          <p:nvPr/>
        </p:nvPicPr>
        <p:blipFill>
          <a:blip r:embed="rId4">
            <a:alphaModFix/>
          </a:blip>
          <a:stretch>
            <a:fillRect/>
          </a:stretch>
        </p:blipFill>
        <p:spPr>
          <a:xfrm>
            <a:off x="35057" y="3308278"/>
            <a:ext cx="5994276" cy="1963938"/>
          </a:xfrm>
          <a:prstGeom prst="rect">
            <a:avLst/>
          </a:prstGeom>
          <a:noFill/>
          <a:ln>
            <a:noFill/>
          </a:ln>
        </p:spPr>
      </p:pic>
      <p:sp>
        <p:nvSpPr>
          <p:cNvPr id="260" name="Google Shape;260;p38"/>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Start a </a:t>
            </a:r>
            <a:r>
              <a:rPr lang="en-GB"/>
              <a:t>Data dictionary</a:t>
            </a:r>
            <a:endParaRPr/>
          </a:p>
        </p:txBody>
      </p:sp>
      <p:sp>
        <p:nvSpPr>
          <p:cNvPr id="261" name="Google Shape;261;p38"/>
          <p:cNvSpPr/>
          <p:nvPr/>
        </p:nvSpPr>
        <p:spPr>
          <a:xfrm rot="5400000">
            <a:off x="2906925" y="318200"/>
            <a:ext cx="352500" cy="5650500"/>
          </a:xfrm>
          <a:prstGeom prst="leftBrace">
            <a:avLst>
              <a:gd fmla="val 50000" name="adj1"/>
              <a:gd fmla="val 5000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8"/>
          <p:cNvSpPr/>
          <p:nvPr/>
        </p:nvSpPr>
        <p:spPr>
          <a:xfrm>
            <a:off x="4572000" y="1376425"/>
            <a:ext cx="281700" cy="897600"/>
          </a:xfrm>
          <a:prstGeom prst="leftBrace">
            <a:avLst>
              <a:gd fmla="val 50000" name="adj1"/>
              <a:gd fmla="val 5000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8"/>
          <p:cNvSpPr/>
          <p:nvPr/>
        </p:nvSpPr>
        <p:spPr>
          <a:xfrm>
            <a:off x="4977925" y="1366100"/>
            <a:ext cx="858900" cy="8976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38"/>
          <p:cNvCxnSpPr>
            <a:stCxn id="261" idx="1"/>
            <a:endCxn id="262" idx="1"/>
          </p:cNvCxnSpPr>
          <p:nvPr/>
        </p:nvCxnSpPr>
        <p:spPr>
          <a:xfrm rot="-5400000">
            <a:off x="3256575" y="1651700"/>
            <a:ext cx="1142100" cy="1488900"/>
          </a:xfrm>
          <a:prstGeom prst="bentConnector2">
            <a:avLst/>
          </a:prstGeom>
          <a:noFill/>
          <a:ln cap="flat" cmpd="sng" w="19050">
            <a:solidFill>
              <a:schemeClr val="accent2"/>
            </a:solidFill>
            <a:prstDash val="solid"/>
            <a:round/>
            <a:headEnd len="med" w="med" type="none"/>
            <a:tailEnd len="med" w="med" type="triangle"/>
          </a:ln>
        </p:spPr>
      </p:cxnSp>
      <p:sp>
        <p:nvSpPr>
          <p:cNvPr id="265" name="Google Shape;265;p38"/>
          <p:cNvSpPr/>
          <p:nvPr/>
        </p:nvSpPr>
        <p:spPr>
          <a:xfrm>
            <a:off x="4977925" y="1241900"/>
            <a:ext cx="4057200" cy="1242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8"/>
          <p:cNvSpPr txBox="1"/>
          <p:nvPr>
            <p:ph idx="4294967295" type="body"/>
          </p:nvPr>
        </p:nvSpPr>
        <p:spPr>
          <a:xfrm>
            <a:off x="307875" y="880400"/>
            <a:ext cx="4181700" cy="2086800"/>
          </a:xfrm>
          <a:prstGeom prst="rect">
            <a:avLst/>
          </a:prstGeom>
        </p:spPr>
        <p:txBody>
          <a:bodyPr anchorCtr="0" anchor="t" bIns="25700" lIns="51425" spcFirstLastPara="1" rIns="51425" wrap="square" tIns="25700">
            <a:normAutofit/>
          </a:bodyPr>
          <a:lstStyle/>
          <a:p>
            <a:pPr indent="-304800" lvl="0" marL="457200" rtl="0" algn="l">
              <a:spcBef>
                <a:spcPts val="600"/>
              </a:spcBef>
              <a:spcAft>
                <a:spcPts val="0"/>
              </a:spcAft>
              <a:buSzPts val="1200"/>
              <a:buAutoNum type="arabicPeriod"/>
            </a:pPr>
            <a:r>
              <a:rPr lang="en-GB" sz="1200"/>
              <a:t>Open </a:t>
            </a:r>
            <a:r>
              <a:rPr b="1" lang="en-GB" sz="1200">
                <a:solidFill>
                  <a:srgbClr val="204A6F"/>
                </a:solidFill>
              </a:rPr>
              <a:t>samples_metadata_lesson.csv</a:t>
            </a:r>
            <a:endParaRPr b="1" sz="1200">
              <a:solidFill>
                <a:srgbClr val="204A6F"/>
              </a:solidFill>
            </a:endParaRPr>
          </a:p>
          <a:p>
            <a:pPr indent="-304800" lvl="0" marL="457200" rtl="0" algn="l">
              <a:spcBef>
                <a:spcPts val="0"/>
              </a:spcBef>
              <a:spcAft>
                <a:spcPts val="0"/>
              </a:spcAft>
              <a:buClr>
                <a:srgbClr val="000000"/>
              </a:buClr>
              <a:buSzPts val="1200"/>
              <a:buAutoNum type="arabicPeriod"/>
            </a:pPr>
            <a:r>
              <a:rPr lang="en-GB" sz="1200">
                <a:solidFill>
                  <a:srgbClr val="000000"/>
                </a:solidFill>
              </a:rPr>
              <a:t>Create a new </a:t>
            </a:r>
            <a:r>
              <a:rPr b="1" lang="en-GB" sz="1200">
                <a:solidFill>
                  <a:srgbClr val="204A6F"/>
                </a:solidFill>
              </a:rPr>
              <a:t>data_dictionary</a:t>
            </a:r>
            <a:r>
              <a:rPr lang="en-GB" sz="1200">
                <a:solidFill>
                  <a:srgbClr val="000000"/>
                </a:solidFill>
              </a:rPr>
              <a:t> file</a:t>
            </a:r>
            <a:endParaRPr sz="1200">
              <a:solidFill>
                <a:srgbClr val="000000"/>
              </a:solidFill>
            </a:endParaRPr>
          </a:p>
          <a:p>
            <a:pPr indent="-304800" lvl="0" marL="457200" rtl="0" algn="l">
              <a:spcBef>
                <a:spcPts val="0"/>
              </a:spcBef>
              <a:spcAft>
                <a:spcPts val="0"/>
              </a:spcAft>
              <a:buClr>
                <a:srgbClr val="000000"/>
              </a:buClr>
              <a:buSzPts val="1200"/>
              <a:buAutoNum type="arabicPeriod"/>
            </a:pPr>
            <a:r>
              <a:rPr lang="en-GB" sz="1200">
                <a:solidFill>
                  <a:srgbClr val="000000"/>
                </a:solidFill>
              </a:rPr>
              <a:t>Add headings to </a:t>
            </a:r>
            <a:r>
              <a:rPr b="1" lang="en-GB" sz="1200">
                <a:solidFill>
                  <a:srgbClr val="204A6F"/>
                </a:solidFill>
              </a:rPr>
              <a:t>data_dictionary</a:t>
            </a:r>
            <a:endParaRPr sz="1200">
              <a:solidFill>
                <a:srgbClr val="000000"/>
              </a:solidFill>
            </a:endParaRPr>
          </a:p>
          <a:p>
            <a:pPr indent="-304800" lvl="1" marL="914400" rtl="0" algn="l">
              <a:spcBef>
                <a:spcPts val="0"/>
              </a:spcBef>
              <a:spcAft>
                <a:spcPts val="0"/>
              </a:spcAft>
              <a:buClr>
                <a:srgbClr val="000000"/>
              </a:buClr>
              <a:buSzPts val="1200"/>
              <a:buChar char="•"/>
            </a:pPr>
            <a:r>
              <a:rPr lang="en-GB" sz="1200">
                <a:solidFill>
                  <a:srgbClr val="000000"/>
                </a:solidFill>
              </a:rPr>
              <a:t>Current variable name</a:t>
            </a:r>
            <a:endParaRPr sz="1200">
              <a:solidFill>
                <a:srgbClr val="000000"/>
              </a:solidFill>
            </a:endParaRPr>
          </a:p>
          <a:p>
            <a:pPr indent="-304800" lvl="1" marL="914400" rtl="0" algn="l">
              <a:spcBef>
                <a:spcPts val="0"/>
              </a:spcBef>
              <a:spcAft>
                <a:spcPts val="0"/>
              </a:spcAft>
              <a:buClr>
                <a:srgbClr val="000000"/>
              </a:buClr>
              <a:buSzPts val="1200"/>
              <a:buChar char="•"/>
            </a:pPr>
            <a:r>
              <a:rPr lang="en-GB" sz="1200">
                <a:solidFill>
                  <a:srgbClr val="000000"/>
                </a:solidFill>
              </a:rPr>
              <a:t>ENA variable name</a:t>
            </a:r>
            <a:endParaRPr sz="1200">
              <a:solidFill>
                <a:srgbClr val="000000"/>
              </a:solidFill>
            </a:endParaRPr>
          </a:p>
          <a:p>
            <a:pPr indent="-304800" lvl="1" marL="914400" rtl="0" algn="l">
              <a:spcBef>
                <a:spcPts val="0"/>
              </a:spcBef>
              <a:spcAft>
                <a:spcPts val="0"/>
              </a:spcAft>
              <a:buClr>
                <a:srgbClr val="000000"/>
              </a:buClr>
              <a:buSzPts val="1200"/>
              <a:buChar char="•"/>
            </a:pPr>
            <a:r>
              <a:rPr lang="en-GB" sz="1200">
                <a:solidFill>
                  <a:srgbClr val="000000"/>
                </a:solidFill>
              </a:rPr>
              <a:t>Measurement unit</a:t>
            </a:r>
            <a:endParaRPr sz="1200">
              <a:solidFill>
                <a:srgbClr val="000000"/>
              </a:solidFill>
            </a:endParaRPr>
          </a:p>
          <a:p>
            <a:pPr indent="-304800" lvl="1" marL="914400" rtl="0" algn="l">
              <a:spcBef>
                <a:spcPts val="0"/>
              </a:spcBef>
              <a:spcAft>
                <a:spcPts val="0"/>
              </a:spcAft>
              <a:buClr>
                <a:srgbClr val="000000"/>
              </a:buClr>
              <a:buSzPts val="1200"/>
              <a:buChar char="•"/>
            </a:pPr>
            <a:r>
              <a:rPr lang="en-GB" sz="1200">
                <a:solidFill>
                  <a:srgbClr val="000000"/>
                </a:solidFill>
              </a:rPr>
              <a:t>Allowed values</a:t>
            </a:r>
            <a:endParaRPr sz="1200">
              <a:solidFill>
                <a:srgbClr val="000000"/>
              </a:solidFill>
            </a:endParaRPr>
          </a:p>
          <a:p>
            <a:pPr indent="-304800" lvl="1" marL="914400" rtl="0" algn="l">
              <a:spcBef>
                <a:spcPts val="0"/>
              </a:spcBef>
              <a:spcAft>
                <a:spcPts val="0"/>
              </a:spcAft>
              <a:buClr>
                <a:srgbClr val="000000"/>
              </a:buClr>
              <a:buSzPts val="1200"/>
              <a:buChar char="•"/>
            </a:pPr>
            <a:r>
              <a:rPr lang="en-GB" sz="1200">
                <a:solidFill>
                  <a:srgbClr val="000000"/>
                </a:solidFill>
              </a:rPr>
              <a:t>Definition</a:t>
            </a:r>
            <a:endParaRPr sz="1200">
              <a:solidFill>
                <a:srgbClr val="000000"/>
              </a:solidFill>
            </a:endParaRPr>
          </a:p>
        </p:txBody>
      </p:sp>
      <p:sp>
        <p:nvSpPr>
          <p:cNvPr id="267" name="Google Shape;267;p38"/>
          <p:cNvSpPr txBox="1"/>
          <p:nvPr/>
        </p:nvSpPr>
        <p:spPr>
          <a:xfrm>
            <a:off x="1407675" y="4190400"/>
            <a:ext cx="3164400" cy="384900"/>
          </a:xfrm>
          <a:prstGeom prst="rect">
            <a:avLst/>
          </a:prstGeom>
          <a:solidFill>
            <a:srgbClr val="EFEFEF">
              <a:alpha val="74860"/>
            </a:srgbClr>
          </a:solid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Helvetica Neue"/>
              <a:buAutoNum type="arabicPeriod"/>
            </a:pPr>
            <a:r>
              <a:rPr b="1" lang="en-GB" sz="1300">
                <a:solidFill>
                  <a:srgbClr val="204A6F"/>
                </a:solidFill>
                <a:uFill>
                  <a:noFill/>
                </a:uFill>
                <a:latin typeface="Helvetica Neue"/>
                <a:ea typeface="Helvetica Neue"/>
                <a:cs typeface="Helvetica Neue"/>
                <a:sym typeface="Helvetica Neue"/>
                <a:hlinkClick r:id="rId5">
                  <a:extLst>
                    <a:ext uri="{A12FA001-AC4F-418D-AE19-62706E023703}">
                      <ahyp:hlinkClr val="tx"/>
                    </a:ext>
                  </a:extLst>
                </a:hlinkClick>
              </a:rPr>
              <a:t>samples_metadata_lesson.csv</a:t>
            </a:r>
            <a:endParaRPr b="1" sz="1300"/>
          </a:p>
        </p:txBody>
      </p:sp>
      <p:sp>
        <p:nvSpPr>
          <p:cNvPr id="268" name="Google Shape;268;p38"/>
          <p:cNvSpPr txBox="1"/>
          <p:nvPr/>
        </p:nvSpPr>
        <p:spPr>
          <a:xfrm>
            <a:off x="6137025" y="1632763"/>
            <a:ext cx="2597700" cy="384900"/>
          </a:xfrm>
          <a:prstGeom prst="rect">
            <a:avLst/>
          </a:prstGeom>
          <a:solidFill>
            <a:srgbClr val="EFEFEF">
              <a:alpha val="74860"/>
            </a:srgbClr>
          </a:solid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Helvetica Neue"/>
              <a:buAutoNum type="arabicPeriod" startAt="2"/>
            </a:pPr>
            <a:r>
              <a:rPr b="1" lang="en-GB" sz="1300">
                <a:solidFill>
                  <a:srgbClr val="204A6F"/>
                </a:solidFill>
                <a:uFill>
                  <a:noFill/>
                </a:uFill>
                <a:latin typeface="Helvetica Neue"/>
                <a:ea typeface="Helvetica Neue"/>
                <a:cs typeface="Helvetica Neue"/>
                <a:sym typeface="Helvetica Neue"/>
                <a:hlinkClick r:id="rId6">
                  <a:extLst>
                    <a:ext uri="{A12FA001-AC4F-418D-AE19-62706E023703}">
                      <ahyp:hlinkClr val="tx"/>
                    </a:ext>
                  </a:extLst>
                </a:hlinkClick>
              </a:rPr>
              <a:t>data_dictionary</a:t>
            </a:r>
            <a:endParaRPr b="1" sz="1300"/>
          </a:p>
        </p:txBody>
      </p:sp>
      <p:sp>
        <p:nvSpPr>
          <p:cNvPr id="269" name="Google Shape;269;p38"/>
          <p:cNvSpPr txBox="1"/>
          <p:nvPr>
            <p:ph idx="4294967295" type="body"/>
          </p:nvPr>
        </p:nvSpPr>
        <p:spPr>
          <a:xfrm>
            <a:off x="6137025" y="3144025"/>
            <a:ext cx="2959800" cy="2086800"/>
          </a:xfrm>
          <a:prstGeom prst="rect">
            <a:avLst/>
          </a:prstGeom>
        </p:spPr>
        <p:txBody>
          <a:bodyPr anchorCtr="0" anchor="t" bIns="25700" lIns="51425" spcFirstLastPara="1" rIns="51425" wrap="square" tIns="25700">
            <a:normAutofit/>
          </a:bodyPr>
          <a:lstStyle/>
          <a:p>
            <a:pPr indent="-304800" lvl="0" marL="457200" rtl="0" algn="l">
              <a:spcBef>
                <a:spcPts val="600"/>
              </a:spcBef>
              <a:spcAft>
                <a:spcPts val="0"/>
              </a:spcAft>
              <a:buSzPts val="1200"/>
              <a:buAutoNum type="arabicPeriod" startAt="4"/>
            </a:pPr>
            <a:r>
              <a:rPr lang="en-GB" sz="1200"/>
              <a:t>Copy headings from </a:t>
            </a:r>
            <a:r>
              <a:rPr b="1" lang="en-GB" sz="1200">
                <a:solidFill>
                  <a:srgbClr val="204A6F"/>
                </a:solidFill>
              </a:rPr>
              <a:t>samples_metadata_lesson.csv</a:t>
            </a:r>
            <a:r>
              <a:rPr lang="en-GB" sz="1200"/>
              <a:t> to </a:t>
            </a:r>
            <a:r>
              <a:rPr b="1" lang="en-GB" sz="1200"/>
              <a:t>rows</a:t>
            </a:r>
            <a:r>
              <a:rPr lang="en-GB" sz="1200"/>
              <a:t> in </a:t>
            </a:r>
            <a:r>
              <a:rPr b="1" lang="en-GB" sz="1200">
                <a:solidFill>
                  <a:srgbClr val="204A6F"/>
                </a:solidFill>
              </a:rPr>
              <a:t>data_dictionary</a:t>
            </a:r>
            <a:endParaRPr sz="1200"/>
          </a:p>
          <a:p>
            <a:pPr indent="0" lvl="0" marL="0" rtl="0" algn="l">
              <a:spcBef>
                <a:spcPts val="600"/>
              </a:spcBef>
              <a:spcAft>
                <a:spcPts val="0"/>
              </a:spcAft>
              <a:buNone/>
            </a:pPr>
            <a:r>
              <a:t/>
            </a:r>
            <a:endParaRPr sz="1200"/>
          </a:p>
          <a:p>
            <a:pPr indent="-304800" lvl="0" marL="457200" rtl="0" algn="l">
              <a:spcBef>
                <a:spcPts val="600"/>
              </a:spcBef>
              <a:spcAft>
                <a:spcPts val="0"/>
              </a:spcAft>
              <a:buSzPts val="1200"/>
              <a:buChar char="•"/>
            </a:pPr>
            <a:r>
              <a:rPr lang="en-GB" sz="1200"/>
              <a:t>Add some definitions</a:t>
            </a:r>
            <a:endParaRPr sz="1200"/>
          </a:p>
          <a:p>
            <a:pPr indent="-304800" lvl="0" marL="457200" rtl="0" algn="l">
              <a:spcBef>
                <a:spcPts val="0"/>
              </a:spcBef>
              <a:spcAft>
                <a:spcPts val="0"/>
              </a:spcAft>
              <a:buSzPts val="1200"/>
              <a:buChar char="•"/>
            </a:pPr>
            <a:r>
              <a:rPr lang="en-GB" sz="1200"/>
              <a:t>Add some units</a:t>
            </a:r>
            <a:endParaRPr sz="1200"/>
          </a:p>
          <a:p>
            <a:pPr indent="-304800" lvl="0" marL="457200" rtl="0" algn="l">
              <a:spcBef>
                <a:spcPts val="0"/>
              </a:spcBef>
              <a:spcAft>
                <a:spcPts val="0"/>
              </a:spcAft>
              <a:buSzPts val="1200"/>
              <a:buChar char="•"/>
            </a:pPr>
            <a:r>
              <a:rPr lang="en-GB" sz="1200"/>
              <a:t>Add some allowed value definitions</a:t>
            </a:r>
            <a:endParaRPr sz="1200"/>
          </a:p>
        </p:txBody>
      </p:sp>
      <p:sp>
        <p:nvSpPr>
          <p:cNvPr id="270" name="Google Shape;270;p38"/>
          <p:cNvSpPr txBox="1"/>
          <p:nvPr/>
        </p:nvSpPr>
        <p:spPr>
          <a:xfrm>
            <a:off x="4988275" y="951650"/>
            <a:ext cx="362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t>3.</a:t>
            </a:r>
            <a:endParaRPr b="1" sz="1200"/>
          </a:p>
        </p:txBody>
      </p:sp>
      <p:sp>
        <p:nvSpPr>
          <p:cNvPr id="271" name="Google Shape;271;p38"/>
          <p:cNvSpPr txBox="1"/>
          <p:nvPr/>
        </p:nvSpPr>
        <p:spPr>
          <a:xfrm>
            <a:off x="3339950" y="2138950"/>
            <a:ext cx="362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t>4.</a:t>
            </a:r>
            <a:endParaRPr b="1" sz="1200"/>
          </a:p>
        </p:txBody>
      </p:sp>
      <p:sp>
        <p:nvSpPr>
          <p:cNvPr id="272" name="Google Shape;272;p38"/>
          <p:cNvSpPr/>
          <p:nvPr/>
        </p:nvSpPr>
        <p:spPr>
          <a:xfrm>
            <a:off x="164675" y="3415200"/>
            <a:ext cx="5829600" cy="1242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Data dictionary - start</a:t>
            </a:r>
            <a:endParaRPr/>
          </a:p>
        </p:txBody>
      </p:sp>
      <p:pic>
        <p:nvPicPr>
          <p:cNvPr id="278" name="Google Shape;278;p39"/>
          <p:cNvPicPr preferRelativeResize="0"/>
          <p:nvPr/>
        </p:nvPicPr>
        <p:blipFill>
          <a:blip r:embed="rId3">
            <a:alphaModFix/>
          </a:blip>
          <a:stretch>
            <a:fillRect/>
          </a:stretch>
        </p:blipFill>
        <p:spPr>
          <a:xfrm>
            <a:off x="248650" y="1288300"/>
            <a:ext cx="8422102" cy="2349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Plan ahead</a:t>
            </a:r>
            <a:endParaRPr/>
          </a:p>
        </p:txBody>
      </p:sp>
      <p:sp>
        <p:nvSpPr>
          <p:cNvPr id="284" name="Google Shape;284;p40"/>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Use standards of deposition databases were you plan to publish your data</a:t>
            </a:r>
            <a:endParaRPr sz="2000"/>
          </a:p>
          <a:p>
            <a:pPr indent="-355600" lvl="0" marL="457200" rtl="0" algn="l">
              <a:spcBef>
                <a:spcPts val="0"/>
              </a:spcBef>
              <a:spcAft>
                <a:spcPts val="0"/>
              </a:spcAft>
              <a:buSzPts val="2000"/>
              <a:buChar char="•"/>
            </a:pPr>
            <a:r>
              <a:rPr lang="en-GB" sz="2000"/>
              <a:t>Helps with selecting elements</a:t>
            </a:r>
            <a:endParaRPr sz="2000"/>
          </a:p>
          <a:p>
            <a:pPr indent="-355600" lvl="0" marL="457200" rtl="0" algn="l">
              <a:spcBef>
                <a:spcPts val="0"/>
              </a:spcBef>
              <a:spcAft>
                <a:spcPts val="0"/>
              </a:spcAft>
              <a:buSzPts val="2000"/>
              <a:buChar char="•"/>
            </a:pPr>
            <a:r>
              <a:rPr lang="en-GB" sz="2000"/>
              <a:t>Makes data submission much easier</a:t>
            </a:r>
            <a:endParaRPr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t/>
            </a:r>
            <a:endParaRPr/>
          </a:p>
        </p:txBody>
      </p:sp>
      <p:sp>
        <p:nvSpPr>
          <p:cNvPr id="290" name="Google Shape;290;p41"/>
          <p:cNvSpPr txBox="1"/>
          <p:nvPr>
            <p:ph idx="1" type="body"/>
          </p:nvPr>
        </p:nvSpPr>
        <p:spPr>
          <a:xfrm>
            <a:off x="323407" y="879614"/>
            <a:ext cx="8497200" cy="3510000"/>
          </a:xfrm>
          <a:prstGeom prst="rect">
            <a:avLst/>
          </a:prstGeom>
        </p:spPr>
        <p:txBody>
          <a:bodyPr anchorCtr="0" anchor="ctr" bIns="25700" lIns="51425" spcFirstLastPara="1" rIns="51425" wrap="square" tIns="25700">
            <a:normAutofit/>
          </a:bodyPr>
          <a:lstStyle/>
          <a:p>
            <a:pPr indent="0" lvl="0" marL="0" rtl="0" algn="ctr">
              <a:spcBef>
                <a:spcPts val="800"/>
              </a:spcBef>
              <a:spcAft>
                <a:spcPts val="0"/>
              </a:spcAft>
              <a:buNone/>
            </a:pPr>
            <a:r>
              <a:rPr b="1" lang="en-GB" sz="3000"/>
              <a:t>Exercise: </a:t>
            </a:r>
            <a:endParaRPr b="1" sz="3000"/>
          </a:p>
          <a:p>
            <a:pPr indent="0" lvl="0" marL="0" rtl="0" algn="ctr">
              <a:spcBef>
                <a:spcPts val="800"/>
              </a:spcBef>
              <a:spcAft>
                <a:spcPts val="0"/>
              </a:spcAft>
              <a:buNone/>
            </a:pPr>
            <a:r>
              <a:rPr b="1" lang="en-GB" sz="3000"/>
              <a:t>Look up an ENA checklist to improve the data dictionary</a:t>
            </a:r>
            <a:endParaRPr b="1" sz="3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Improve the data dictionary</a:t>
            </a:r>
            <a:endParaRPr/>
          </a:p>
        </p:txBody>
      </p:sp>
      <p:sp>
        <p:nvSpPr>
          <p:cNvPr id="296" name="Google Shape;296;p42"/>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49250" lvl="0" marL="457200" rtl="0" algn="l">
              <a:spcBef>
                <a:spcPts val="600"/>
              </a:spcBef>
              <a:spcAft>
                <a:spcPts val="0"/>
              </a:spcAft>
              <a:buSzPts val="1900"/>
              <a:buAutoNum type="arabicPeriod"/>
            </a:pPr>
            <a:r>
              <a:rPr lang="en-GB" sz="1900"/>
              <a:t>Go to </a:t>
            </a:r>
            <a:r>
              <a:rPr lang="en-GB" sz="1900" u="sng">
                <a:solidFill>
                  <a:schemeClr val="hlink"/>
                </a:solidFill>
                <a:hlinkClick r:id="rId3"/>
              </a:rPr>
              <a:t>https://www.ebi.ac.uk/ena/browser/checklists</a:t>
            </a:r>
            <a:r>
              <a:rPr lang="en-GB" sz="1900"/>
              <a:t> to see the </a:t>
            </a:r>
            <a:r>
              <a:rPr lang="en-GB" sz="1900"/>
              <a:t>available</a:t>
            </a:r>
            <a:r>
              <a:rPr lang="en-GB" sz="1900"/>
              <a:t> </a:t>
            </a:r>
            <a:r>
              <a:rPr lang="en-GB" sz="1900"/>
              <a:t>checklists</a:t>
            </a:r>
            <a:endParaRPr sz="1900"/>
          </a:p>
          <a:p>
            <a:pPr indent="-349250" lvl="0" marL="457200" rtl="0" algn="l">
              <a:spcBef>
                <a:spcPts val="0"/>
              </a:spcBef>
              <a:spcAft>
                <a:spcPts val="0"/>
              </a:spcAft>
              <a:buSzPts val="1900"/>
              <a:buAutoNum type="arabicPeriod"/>
            </a:pPr>
            <a:r>
              <a:rPr lang="en-GB" sz="1900"/>
              <a:t>Scroll down the listing until you find the </a:t>
            </a:r>
            <a:r>
              <a:rPr b="1" lang="en-GB" sz="1900"/>
              <a:t>ERC000033 ENA virus pathogen reporting standard checklist</a:t>
            </a:r>
            <a:endParaRPr b="1" sz="1900"/>
          </a:p>
          <a:p>
            <a:pPr indent="0" lvl="0" marL="0" rtl="0" algn="l">
              <a:spcBef>
                <a:spcPts val="600"/>
              </a:spcBef>
              <a:spcAft>
                <a:spcPts val="0"/>
              </a:spcAft>
              <a:buNone/>
            </a:pPr>
            <a:r>
              <a:t/>
            </a:r>
            <a:endParaRPr sz="1900"/>
          </a:p>
          <a:p>
            <a:pPr indent="-349250" lvl="0" marL="457200" rtl="0" algn="l">
              <a:spcBef>
                <a:spcPts val="600"/>
              </a:spcBef>
              <a:spcAft>
                <a:spcPts val="0"/>
              </a:spcAft>
              <a:buSzPts val="1900"/>
              <a:buAutoNum type="arabicPeriod"/>
            </a:pPr>
            <a:r>
              <a:rPr lang="en-GB" sz="1900"/>
              <a:t>Go through the data dictionary and find suitable field names in the ENA default sample checklist for those fields. Add them to the ENA Variable name column of your data dictionary file.</a:t>
            </a:r>
            <a:endParaRPr sz="1900"/>
          </a:p>
          <a:p>
            <a:pPr indent="-349250" lvl="1" marL="914400" rtl="0" algn="l">
              <a:spcBef>
                <a:spcPts val="0"/>
              </a:spcBef>
              <a:spcAft>
                <a:spcPts val="0"/>
              </a:spcAft>
              <a:buSzPts val="1900"/>
              <a:buAutoNum type="alphaLcPeriod"/>
            </a:pPr>
            <a:r>
              <a:rPr lang="en-GB" sz="1900"/>
              <a:t>Are all mandatory fields present, or will you need to add fields?</a:t>
            </a:r>
            <a:endParaRPr sz="1900"/>
          </a:p>
          <a:p>
            <a:pPr indent="-349250" lvl="1" marL="914400" rtl="0" algn="l">
              <a:spcBef>
                <a:spcPts val="0"/>
              </a:spcBef>
              <a:spcAft>
                <a:spcPts val="0"/>
              </a:spcAft>
              <a:buSzPts val="1900"/>
              <a:buAutoNum type="alphaLcPeriod"/>
            </a:pPr>
            <a:r>
              <a:rPr lang="en-GB" sz="1900"/>
              <a:t>Are there fields that need to be split into more fields?</a:t>
            </a:r>
            <a:endParaRPr sz="1900"/>
          </a:p>
          <a:p>
            <a:pPr indent="-349250" lvl="1" marL="914400" rtl="0" algn="l">
              <a:spcBef>
                <a:spcPts val="0"/>
              </a:spcBef>
              <a:spcAft>
                <a:spcPts val="0"/>
              </a:spcAft>
              <a:buSzPts val="1900"/>
              <a:buAutoNum type="alphaLcPeriod"/>
            </a:pPr>
            <a:r>
              <a:rPr lang="en-GB" sz="1900"/>
              <a:t>Are there controlled vocabularies you should adhere to?</a:t>
            </a:r>
            <a:endParaRPr sz="1900"/>
          </a:p>
          <a:p>
            <a:pPr indent="0" lvl="0" marL="0" rtl="0" algn="l">
              <a:spcBef>
                <a:spcPts val="600"/>
              </a:spcBef>
              <a:spcAft>
                <a:spcPts val="0"/>
              </a:spcAft>
              <a:buNone/>
            </a:pPr>
            <a:r>
              <a:t/>
            </a:r>
            <a:endParaRPr sz="1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Improve the data dictionary</a:t>
            </a:r>
            <a:endParaRPr/>
          </a:p>
        </p:txBody>
      </p:sp>
      <p:pic>
        <p:nvPicPr>
          <p:cNvPr id="302" name="Google Shape;302;p43"/>
          <p:cNvPicPr preferRelativeResize="0"/>
          <p:nvPr/>
        </p:nvPicPr>
        <p:blipFill>
          <a:blip r:embed="rId3">
            <a:alphaModFix/>
          </a:blip>
          <a:stretch>
            <a:fillRect/>
          </a:stretch>
        </p:blipFill>
        <p:spPr>
          <a:xfrm>
            <a:off x="183275" y="840421"/>
            <a:ext cx="4176802" cy="4303070"/>
          </a:xfrm>
          <a:prstGeom prst="rect">
            <a:avLst/>
          </a:prstGeom>
          <a:noFill/>
          <a:ln>
            <a:noFill/>
          </a:ln>
        </p:spPr>
      </p:pic>
      <p:pic>
        <p:nvPicPr>
          <p:cNvPr id="303" name="Google Shape;303;p43"/>
          <p:cNvPicPr preferRelativeResize="0"/>
          <p:nvPr/>
        </p:nvPicPr>
        <p:blipFill>
          <a:blip r:embed="rId4">
            <a:alphaModFix/>
          </a:blip>
          <a:stretch>
            <a:fillRect/>
          </a:stretch>
        </p:blipFill>
        <p:spPr>
          <a:xfrm>
            <a:off x="2012875" y="2855500"/>
            <a:ext cx="7082977" cy="1846850"/>
          </a:xfrm>
          <a:prstGeom prst="rect">
            <a:avLst/>
          </a:prstGeom>
          <a:noFill/>
          <a:ln>
            <a:noFill/>
          </a:ln>
        </p:spPr>
      </p:pic>
      <p:sp>
        <p:nvSpPr>
          <p:cNvPr id="304" name="Google Shape;304;p43"/>
          <p:cNvSpPr txBox="1"/>
          <p:nvPr/>
        </p:nvSpPr>
        <p:spPr>
          <a:xfrm>
            <a:off x="4728200" y="4755575"/>
            <a:ext cx="3184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u="sng">
                <a:solidFill>
                  <a:schemeClr val="hlink"/>
                </a:solidFill>
                <a:hlinkClick r:id="rId5"/>
              </a:rPr>
              <a:t>https://www.ebi.ac.uk/ena/browser/view/ERC000033</a:t>
            </a:r>
            <a:endParaRPr sz="1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44"/>
          <p:cNvPicPr preferRelativeResize="0"/>
          <p:nvPr/>
        </p:nvPicPr>
        <p:blipFill>
          <a:blip r:embed="rId3">
            <a:alphaModFix/>
          </a:blip>
          <a:stretch>
            <a:fillRect/>
          </a:stretch>
        </p:blipFill>
        <p:spPr>
          <a:xfrm>
            <a:off x="183275" y="840421"/>
            <a:ext cx="4176802" cy="4303070"/>
          </a:xfrm>
          <a:prstGeom prst="rect">
            <a:avLst/>
          </a:prstGeom>
          <a:noFill/>
          <a:ln>
            <a:noFill/>
          </a:ln>
        </p:spPr>
      </p:pic>
      <p:sp>
        <p:nvSpPr>
          <p:cNvPr id="310" name="Google Shape;310;p4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Finding ontologies</a:t>
            </a:r>
            <a:endParaRPr/>
          </a:p>
        </p:txBody>
      </p:sp>
      <p:sp>
        <p:nvSpPr>
          <p:cNvPr id="311" name="Google Shape;311;p44"/>
          <p:cNvSpPr txBox="1"/>
          <p:nvPr>
            <p:ph idx="4294967295" type="body"/>
          </p:nvPr>
        </p:nvSpPr>
        <p:spPr>
          <a:xfrm>
            <a:off x="4945981" y="1216125"/>
            <a:ext cx="38691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This standard is liberal when it comes the allowed values for the </a:t>
            </a:r>
            <a:r>
              <a:rPr lang="en-GB" sz="2000"/>
              <a:t>different</a:t>
            </a:r>
            <a:r>
              <a:rPr lang="en-GB" sz="2000"/>
              <a:t> fields</a:t>
            </a:r>
            <a:endParaRPr sz="2000"/>
          </a:p>
          <a:p>
            <a:pPr indent="0" lvl="0" marL="0" rtl="0" algn="l">
              <a:spcBef>
                <a:spcPts val="600"/>
              </a:spcBef>
              <a:spcAft>
                <a:spcPts val="0"/>
              </a:spcAft>
              <a:buNone/>
            </a:pPr>
            <a:r>
              <a:t/>
            </a:r>
            <a:endParaRPr sz="2000"/>
          </a:p>
          <a:p>
            <a:pPr indent="-355600" lvl="0" marL="457200" rtl="0" algn="l">
              <a:spcBef>
                <a:spcPts val="600"/>
              </a:spcBef>
              <a:spcAft>
                <a:spcPts val="0"/>
              </a:spcAft>
              <a:buSzPts val="2000"/>
              <a:buChar char="•"/>
            </a:pPr>
            <a:r>
              <a:rPr i="1" lang="en-GB" sz="2000"/>
              <a:t>We can do better!</a:t>
            </a:r>
            <a:endParaRPr sz="2000"/>
          </a:p>
          <a:p>
            <a:pPr indent="0" lvl="0" marL="914400" rtl="0" algn="l">
              <a:spcBef>
                <a:spcPts val="600"/>
              </a:spcBef>
              <a:spcAft>
                <a:spcPts val="0"/>
              </a:spcAft>
              <a:buNone/>
            </a:pPr>
            <a:r>
              <a:t/>
            </a:r>
            <a:endParaRPr sz="2000"/>
          </a:p>
          <a:p>
            <a:pPr indent="-355600" lvl="0" marL="457200" rtl="0" algn="l">
              <a:spcBef>
                <a:spcPts val="600"/>
              </a:spcBef>
              <a:spcAft>
                <a:spcPts val="0"/>
              </a:spcAft>
              <a:buSzPts val="2000"/>
              <a:buChar char="•"/>
            </a:pPr>
            <a:r>
              <a:rPr lang="en-GB" sz="2000"/>
              <a:t>Use ontology terms</a:t>
            </a:r>
            <a:endParaRPr sz="2000"/>
          </a:p>
          <a:p>
            <a:pPr indent="-355600" lvl="1" marL="914400" rtl="0" algn="l">
              <a:spcBef>
                <a:spcPts val="0"/>
              </a:spcBef>
              <a:spcAft>
                <a:spcPts val="0"/>
              </a:spcAft>
              <a:buSzPts val="2000"/>
              <a:buChar char="•"/>
            </a:pPr>
            <a:r>
              <a:rPr lang="en-GB" sz="2000"/>
              <a:t>Improves FAIRness</a:t>
            </a:r>
            <a:endParaRPr sz="2000"/>
          </a:p>
          <a:p>
            <a:pPr indent="-355600" lvl="1" marL="914400" rtl="0" algn="l">
              <a:spcBef>
                <a:spcPts val="0"/>
              </a:spcBef>
              <a:spcAft>
                <a:spcPts val="0"/>
              </a:spcAft>
              <a:buSzPts val="2000"/>
              <a:buChar char="•"/>
            </a:pPr>
            <a:r>
              <a:rPr lang="en-GB" sz="2000"/>
              <a:t>But which ontologies…?</a:t>
            </a:r>
            <a:endParaRPr sz="2000"/>
          </a:p>
        </p:txBody>
      </p:sp>
      <p:sp>
        <p:nvSpPr>
          <p:cNvPr id="312" name="Google Shape;312;p44"/>
          <p:cNvSpPr/>
          <p:nvPr/>
        </p:nvSpPr>
        <p:spPr>
          <a:xfrm>
            <a:off x="2073375" y="1910100"/>
            <a:ext cx="1135200" cy="3233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4"/>
          <p:cNvSpPr txBox="1"/>
          <p:nvPr/>
        </p:nvSpPr>
        <p:spPr>
          <a:xfrm>
            <a:off x="4728200" y="4755575"/>
            <a:ext cx="3184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u="sng">
                <a:solidFill>
                  <a:schemeClr val="hlink"/>
                </a:solidFill>
                <a:hlinkClick r:id="rId4"/>
              </a:rPr>
              <a:t>https://www.ebi.ac.uk/ena/browser/view/ERC000033</a:t>
            </a:r>
            <a:endParaRPr sz="1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Finding ontologies</a:t>
            </a:r>
            <a:endParaRPr/>
          </a:p>
        </p:txBody>
      </p:sp>
      <p:sp>
        <p:nvSpPr>
          <p:cNvPr id="319" name="Google Shape;319;p45"/>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Tools</a:t>
            </a:r>
            <a:endParaRPr sz="2000"/>
          </a:p>
          <a:p>
            <a:pPr indent="-355600" lvl="1" marL="914400" rtl="0" algn="l">
              <a:spcBef>
                <a:spcPts val="0"/>
              </a:spcBef>
              <a:spcAft>
                <a:spcPts val="0"/>
              </a:spcAft>
              <a:buSzPts val="2000"/>
              <a:buChar char="•"/>
            </a:pPr>
            <a:r>
              <a:rPr lang="en-GB" sz="2000" u="sng">
                <a:solidFill>
                  <a:schemeClr val="hlink"/>
                </a:solidFill>
                <a:hlinkClick r:id="rId3"/>
              </a:rPr>
              <a:t>FAIRsharing.org</a:t>
            </a:r>
            <a:endParaRPr sz="2000"/>
          </a:p>
          <a:p>
            <a:pPr indent="-355600" lvl="1" marL="914400" rtl="0" algn="l">
              <a:spcBef>
                <a:spcPts val="0"/>
              </a:spcBef>
              <a:spcAft>
                <a:spcPts val="0"/>
              </a:spcAft>
              <a:buSzPts val="2000"/>
              <a:buChar char="•"/>
            </a:pPr>
            <a:r>
              <a:rPr lang="en-GB" sz="2000" u="sng">
                <a:solidFill>
                  <a:schemeClr val="hlink"/>
                </a:solidFill>
                <a:hlinkClick r:id="rId4"/>
              </a:rPr>
              <a:t>EBI Ontology Tooling page</a:t>
            </a:r>
            <a:endParaRPr sz="2000"/>
          </a:p>
          <a:p>
            <a:pPr indent="-355600" lvl="2" marL="1371600" rtl="0" algn="l">
              <a:spcBef>
                <a:spcPts val="0"/>
              </a:spcBef>
              <a:spcAft>
                <a:spcPts val="0"/>
              </a:spcAft>
              <a:buSzPts val="2000"/>
              <a:buChar char="•"/>
            </a:pPr>
            <a:r>
              <a:rPr lang="en-GB" sz="2000" u="sng">
                <a:solidFill>
                  <a:schemeClr val="hlink"/>
                </a:solidFill>
                <a:hlinkClick r:id="rId5"/>
              </a:rPr>
              <a:t>Ontology Lookup Service - OLS</a:t>
            </a:r>
            <a:endParaRPr sz="2000"/>
          </a:p>
          <a:p>
            <a:pPr indent="-355600" lvl="2" marL="1371600" rtl="0" algn="l">
              <a:spcBef>
                <a:spcPts val="0"/>
              </a:spcBef>
              <a:spcAft>
                <a:spcPts val="0"/>
              </a:spcAft>
              <a:buSzPts val="2000"/>
              <a:buChar char="•"/>
            </a:pPr>
            <a:r>
              <a:rPr lang="en-GB" sz="2000" u="sng">
                <a:solidFill>
                  <a:schemeClr val="hlink"/>
                </a:solidFill>
                <a:hlinkClick r:id="rId6"/>
              </a:rPr>
              <a:t>Zooma</a:t>
            </a:r>
            <a:r>
              <a:rPr lang="en-GB" sz="2000"/>
              <a:t> - map free text to ontology terms </a:t>
            </a:r>
            <a:endParaRPr sz="2000"/>
          </a:p>
          <a:p>
            <a:pPr indent="0" lvl="0" marL="0" rtl="0" algn="l">
              <a:spcBef>
                <a:spcPts val="600"/>
              </a:spcBef>
              <a:spcAft>
                <a:spcPts val="0"/>
              </a:spcAft>
              <a:buNone/>
            </a:pPr>
            <a:r>
              <a:t/>
            </a:r>
            <a:endParaRPr sz="2000"/>
          </a:p>
          <a:p>
            <a:pPr indent="-355600" lvl="0" marL="457200" rtl="0" algn="l">
              <a:spcBef>
                <a:spcPts val="600"/>
              </a:spcBef>
              <a:spcAft>
                <a:spcPts val="0"/>
              </a:spcAft>
              <a:buSzPts val="2000"/>
              <a:buChar char="•"/>
            </a:pPr>
            <a:r>
              <a:rPr lang="en-GB" sz="2000"/>
              <a:t>Not an exact science… There is no perfect way...</a:t>
            </a:r>
            <a:endParaRPr sz="2000"/>
          </a:p>
          <a:p>
            <a:pPr indent="-355600" lvl="0" marL="457200" rtl="0" algn="l">
              <a:spcBef>
                <a:spcPts val="0"/>
              </a:spcBef>
              <a:spcAft>
                <a:spcPts val="0"/>
              </a:spcAft>
              <a:buSzPts val="2000"/>
              <a:buChar char="•"/>
            </a:pPr>
            <a:r>
              <a:rPr lang="en-GB" sz="2000"/>
              <a:t>Sometimes hard</a:t>
            </a:r>
            <a:endParaRPr sz="2000"/>
          </a:p>
          <a:p>
            <a:pPr indent="-355600" lvl="0" marL="457200" rtl="0" algn="l">
              <a:spcBef>
                <a:spcPts val="0"/>
              </a:spcBef>
              <a:spcAft>
                <a:spcPts val="0"/>
              </a:spcAft>
              <a:buSzPts val="2000"/>
              <a:buChar char="•"/>
            </a:pPr>
            <a:r>
              <a:rPr lang="en-GB" sz="2000"/>
              <a:t>Trial and error</a:t>
            </a:r>
            <a:endParaRPr sz="2000"/>
          </a:p>
        </p:txBody>
      </p:sp>
      <p:pic>
        <p:nvPicPr>
          <p:cNvPr id="320" name="Google Shape;320;p45"/>
          <p:cNvPicPr preferRelativeResize="0"/>
          <p:nvPr/>
        </p:nvPicPr>
        <p:blipFill>
          <a:blip r:embed="rId7">
            <a:alphaModFix/>
          </a:blip>
          <a:stretch>
            <a:fillRect/>
          </a:stretch>
        </p:blipFill>
        <p:spPr>
          <a:xfrm>
            <a:off x="6551500" y="2634962"/>
            <a:ext cx="2300376" cy="630050"/>
          </a:xfrm>
          <a:prstGeom prst="rect">
            <a:avLst/>
          </a:prstGeom>
          <a:noFill/>
          <a:ln>
            <a:noFill/>
          </a:ln>
        </p:spPr>
      </p:pic>
      <p:pic>
        <p:nvPicPr>
          <p:cNvPr id="321" name="Google Shape;321;p45"/>
          <p:cNvPicPr preferRelativeResize="0"/>
          <p:nvPr/>
        </p:nvPicPr>
        <p:blipFill>
          <a:blip r:embed="rId8">
            <a:alphaModFix/>
          </a:blip>
          <a:stretch>
            <a:fillRect/>
          </a:stretch>
        </p:blipFill>
        <p:spPr>
          <a:xfrm>
            <a:off x="6721925" y="1750013"/>
            <a:ext cx="1524025" cy="824425"/>
          </a:xfrm>
          <a:prstGeom prst="rect">
            <a:avLst/>
          </a:prstGeom>
          <a:noFill/>
          <a:ln>
            <a:noFill/>
          </a:ln>
        </p:spPr>
      </p:pic>
      <p:pic>
        <p:nvPicPr>
          <p:cNvPr id="322" name="Google Shape;322;p45"/>
          <p:cNvPicPr preferRelativeResize="0"/>
          <p:nvPr/>
        </p:nvPicPr>
        <p:blipFill>
          <a:blip r:embed="rId9">
            <a:alphaModFix/>
          </a:blip>
          <a:stretch>
            <a:fillRect/>
          </a:stretch>
        </p:blipFill>
        <p:spPr>
          <a:xfrm>
            <a:off x="5339050" y="880400"/>
            <a:ext cx="2324100" cy="762000"/>
          </a:xfrm>
          <a:prstGeom prst="rect">
            <a:avLst/>
          </a:prstGeom>
          <a:noFill/>
          <a:ln>
            <a:noFill/>
          </a:ln>
        </p:spPr>
      </p:pic>
      <p:sp>
        <p:nvSpPr>
          <p:cNvPr id="323" name="Google Shape;323;p45"/>
          <p:cNvSpPr txBox="1"/>
          <p:nvPr/>
        </p:nvSpPr>
        <p:spPr>
          <a:xfrm>
            <a:off x="6140875" y="4713592"/>
            <a:ext cx="2019000" cy="1230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lang="en-GB" sz="800" u="sng">
                <a:solidFill>
                  <a:schemeClr val="hlink"/>
                </a:solidFill>
                <a:hlinkClick r:id="rId10"/>
              </a:rPr>
              <a:t>https://fairsharing.org/</a:t>
            </a:r>
            <a:endParaRPr sz="800"/>
          </a:p>
        </p:txBody>
      </p:sp>
      <p:sp>
        <p:nvSpPr>
          <p:cNvPr id="324" name="Google Shape;324;p45"/>
          <p:cNvSpPr txBox="1"/>
          <p:nvPr/>
        </p:nvSpPr>
        <p:spPr>
          <a:xfrm>
            <a:off x="6148425" y="4885917"/>
            <a:ext cx="1038600" cy="1230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lang="en-GB" sz="800" u="sng">
                <a:solidFill>
                  <a:schemeClr val="hlink"/>
                </a:solidFill>
                <a:hlinkClick r:id="rId11"/>
              </a:rPr>
              <a:t>CC BY-SA 4.0</a:t>
            </a:r>
            <a:endParaRPr sz="800"/>
          </a:p>
        </p:txBody>
      </p:sp>
      <p:sp>
        <p:nvSpPr>
          <p:cNvPr id="325" name="Google Shape;325;p45"/>
          <p:cNvSpPr txBox="1"/>
          <p:nvPr/>
        </p:nvSpPr>
        <p:spPr>
          <a:xfrm>
            <a:off x="7291150" y="4636575"/>
            <a:ext cx="2239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u="sng">
                <a:solidFill>
                  <a:schemeClr val="hlink"/>
                </a:solidFill>
                <a:hlinkClick r:id="rId12"/>
              </a:rPr>
              <a:t>https://www.ebi.ac.uk/spot/ontology/</a:t>
            </a:r>
            <a:endParaRPr sz="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6"/>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FAIRsharing.org</a:t>
            </a:r>
            <a:endParaRPr/>
          </a:p>
        </p:txBody>
      </p:sp>
      <p:sp>
        <p:nvSpPr>
          <p:cNvPr id="331" name="Google Shape;331;p46"/>
          <p:cNvSpPr txBox="1"/>
          <p:nvPr/>
        </p:nvSpPr>
        <p:spPr>
          <a:xfrm>
            <a:off x="7873875" y="4743075"/>
            <a:ext cx="1257600" cy="1230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lang="en-GB" sz="800" u="sng">
                <a:solidFill>
                  <a:schemeClr val="hlink"/>
                </a:solidFill>
                <a:hlinkClick r:id="rId3"/>
              </a:rPr>
              <a:t>https://fairsharing.org/</a:t>
            </a:r>
            <a:endParaRPr sz="800"/>
          </a:p>
        </p:txBody>
      </p:sp>
      <p:sp>
        <p:nvSpPr>
          <p:cNvPr id="332" name="Google Shape;332;p46"/>
          <p:cNvSpPr txBox="1"/>
          <p:nvPr/>
        </p:nvSpPr>
        <p:spPr>
          <a:xfrm>
            <a:off x="7878574" y="4917975"/>
            <a:ext cx="1031400" cy="1230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lang="en-GB" sz="800" u="sng">
                <a:solidFill>
                  <a:schemeClr val="hlink"/>
                </a:solidFill>
                <a:hlinkClick r:id="rId4"/>
              </a:rPr>
              <a:t>CC BY-SA 4.0</a:t>
            </a:r>
            <a:endParaRPr sz="800"/>
          </a:p>
        </p:txBody>
      </p:sp>
      <p:pic>
        <p:nvPicPr>
          <p:cNvPr id="333" name="Google Shape;333;p46"/>
          <p:cNvPicPr preferRelativeResize="0"/>
          <p:nvPr/>
        </p:nvPicPr>
        <p:blipFill>
          <a:blip r:embed="rId5">
            <a:alphaModFix/>
          </a:blip>
          <a:stretch>
            <a:fillRect/>
          </a:stretch>
        </p:blipFill>
        <p:spPr>
          <a:xfrm>
            <a:off x="1318900" y="779725"/>
            <a:ext cx="5974824" cy="41926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7"/>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OLS</a:t>
            </a:r>
            <a:endParaRPr/>
          </a:p>
        </p:txBody>
      </p:sp>
      <p:pic>
        <p:nvPicPr>
          <p:cNvPr id="339" name="Google Shape;339;p47">
            <a:hlinkClick r:id="rId3"/>
          </p:cNvPr>
          <p:cNvPicPr preferRelativeResize="0"/>
          <p:nvPr/>
        </p:nvPicPr>
        <p:blipFill>
          <a:blip r:embed="rId4">
            <a:alphaModFix/>
          </a:blip>
          <a:stretch>
            <a:fillRect/>
          </a:stretch>
        </p:blipFill>
        <p:spPr>
          <a:xfrm>
            <a:off x="1448475" y="808525"/>
            <a:ext cx="5584509" cy="4263100"/>
          </a:xfrm>
          <a:prstGeom prst="rect">
            <a:avLst/>
          </a:prstGeom>
          <a:noFill/>
          <a:ln>
            <a:noFill/>
          </a:ln>
        </p:spPr>
      </p:pic>
      <p:sp>
        <p:nvSpPr>
          <p:cNvPr id="340" name="Google Shape;340;p47"/>
          <p:cNvSpPr txBox="1"/>
          <p:nvPr/>
        </p:nvSpPr>
        <p:spPr>
          <a:xfrm>
            <a:off x="7202125" y="4671425"/>
            <a:ext cx="1869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u="sng">
                <a:solidFill>
                  <a:schemeClr val="hlink"/>
                </a:solidFill>
                <a:hlinkClick r:id="rId5"/>
              </a:rPr>
              <a:t>https://www.ebi.ac.uk/ols/</a:t>
            </a:r>
            <a:endParaRPr sz="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8"/>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Zooma</a:t>
            </a:r>
            <a:endParaRPr/>
          </a:p>
        </p:txBody>
      </p:sp>
      <p:sp>
        <p:nvSpPr>
          <p:cNvPr id="346" name="Google Shape;346;p48"/>
          <p:cNvSpPr txBox="1"/>
          <p:nvPr/>
        </p:nvSpPr>
        <p:spPr>
          <a:xfrm>
            <a:off x="7118575" y="4727675"/>
            <a:ext cx="1918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u="sng">
                <a:solidFill>
                  <a:schemeClr val="hlink"/>
                </a:solidFill>
                <a:hlinkClick r:id="rId3"/>
              </a:rPr>
              <a:t>https://www.ebi.ac.uk/spot/zooma/</a:t>
            </a:r>
            <a:endParaRPr sz="900"/>
          </a:p>
        </p:txBody>
      </p:sp>
      <p:pic>
        <p:nvPicPr>
          <p:cNvPr id="347" name="Google Shape;347;p48"/>
          <p:cNvPicPr preferRelativeResize="0"/>
          <p:nvPr/>
        </p:nvPicPr>
        <p:blipFill>
          <a:blip r:embed="rId4">
            <a:alphaModFix/>
          </a:blip>
          <a:stretch>
            <a:fillRect/>
          </a:stretch>
        </p:blipFill>
        <p:spPr>
          <a:xfrm>
            <a:off x="0" y="862316"/>
            <a:ext cx="9144000" cy="3750469"/>
          </a:xfrm>
          <a:prstGeom prst="rect">
            <a:avLst/>
          </a:prstGeom>
          <a:noFill/>
          <a:ln>
            <a:noFill/>
          </a:ln>
        </p:spPr>
      </p:pic>
      <p:sp>
        <p:nvSpPr>
          <p:cNvPr id="348" name="Google Shape;348;p48"/>
          <p:cNvSpPr txBox="1"/>
          <p:nvPr/>
        </p:nvSpPr>
        <p:spPr>
          <a:xfrm>
            <a:off x="3211875" y="4404575"/>
            <a:ext cx="582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800" u="sng">
                <a:solidFill>
                  <a:schemeClr val="hlink"/>
                </a:solidFill>
                <a:hlinkClick r:id="rId5"/>
              </a:rPr>
              <a:t>https://www.ebi.ac.uk/training/online/courses/cellular-microscopy-phenotype-ontology-quick-tour/annotating-data-with-cmpo/</a:t>
            </a:r>
            <a:endParaRPr i="1" sz="800"/>
          </a:p>
          <a:p>
            <a:pPr indent="0" lvl="0" marL="0" rtl="0" algn="r">
              <a:spcBef>
                <a:spcPts val="0"/>
              </a:spcBef>
              <a:spcAft>
                <a:spcPts val="0"/>
              </a:spcAft>
              <a:buNone/>
            </a:pPr>
            <a:r>
              <a:rPr i="1" lang="en-GB" sz="800" u="sng">
                <a:solidFill>
                  <a:schemeClr val="hlink"/>
                </a:solidFill>
                <a:hlinkClick r:id="rId6"/>
              </a:rPr>
              <a:t>CC BY 4.0</a:t>
            </a:r>
            <a:endParaRPr i="1" sz="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9"/>
          <p:cNvSpPr txBox="1"/>
          <p:nvPr>
            <p:ph idx="1" type="body"/>
          </p:nvPr>
        </p:nvSpPr>
        <p:spPr>
          <a:xfrm>
            <a:off x="323407" y="497909"/>
            <a:ext cx="8497200" cy="4129800"/>
          </a:xfrm>
          <a:prstGeom prst="rect">
            <a:avLst/>
          </a:prstGeom>
        </p:spPr>
        <p:txBody>
          <a:bodyPr anchorCtr="0" anchor="ctr" bIns="25700" lIns="51425" spcFirstLastPara="1" rIns="51425" wrap="square" tIns="25700">
            <a:normAutofit/>
          </a:bodyPr>
          <a:lstStyle/>
          <a:p>
            <a:pPr indent="0" lvl="0" marL="0" rtl="0" algn="ctr">
              <a:spcBef>
                <a:spcPts val="800"/>
              </a:spcBef>
              <a:spcAft>
                <a:spcPts val="0"/>
              </a:spcAft>
              <a:buNone/>
            </a:pPr>
            <a:r>
              <a:rPr b="1" lang="en-GB" sz="3000"/>
              <a:t>Exercise: </a:t>
            </a:r>
            <a:endParaRPr b="1" sz="3000"/>
          </a:p>
          <a:p>
            <a:pPr indent="0" lvl="0" marL="0" rtl="0" algn="ctr">
              <a:spcBef>
                <a:spcPts val="800"/>
              </a:spcBef>
              <a:spcAft>
                <a:spcPts val="0"/>
              </a:spcAft>
              <a:buNone/>
            </a:pPr>
            <a:r>
              <a:rPr b="1" lang="en-GB" sz="3000"/>
              <a:t>Find suitable ontologies for your data</a:t>
            </a:r>
            <a:endParaRPr b="1" sz="3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0"/>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Finding ontologies and terms</a:t>
            </a:r>
            <a:endParaRPr/>
          </a:p>
        </p:txBody>
      </p:sp>
      <p:sp>
        <p:nvSpPr>
          <p:cNvPr id="359" name="Google Shape;359;p50"/>
          <p:cNvSpPr txBox="1"/>
          <p:nvPr>
            <p:ph idx="4294967295" type="body"/>
          </p:nvPr>
        </p:nvSpPr>
        <p:spPr>
          <a:xfrm>
            <a:off x="231675" y="880400"/>
            <a:ext cx="8622600" cy="3714300"/>
          </a:xfrm>
          <a:prstGeom prst="rect">
            <a:avLst/>
          </a:prstGeom>
        </p:spPr>
        <p:txBody>
          <a:bodyPr anchorCtr="0" anchor="t" bIns="25700" lIns="51425" spcFirstLastPara="1" rIns="51425" wrap="square" tIns="25700">
            <a:normAutofit/>
          </a:bodyPr>
          <a:lstStyle/>
          <a:p>
            <a:pPr indent="0" lvl="0" marL="0" rtl="0" algn="l">
              <a:spcBef>
                <a:spcPts val="600"/>
              </a:spcBef>
              <a:spcAft>
                <a:spcPts val="0"/>
              </a:spcAft>
              <a:buNone/>
            </a:pPr>
            <a:r>
              <a:rPr lang="en-GB" sz="1900"/>
              <a:t>Try finding and deciding on suitable ontologies and terms to use for the data file</a:t>
            </a:r>
            <a:endParaRPr sz="1900"/>
          </a:p>
          <a:p>
            <a:pPr indent="0" lvl="0" marL="0" rtl="0" algn="l">
              <a:spcBef>
                <a:spcPts val="600"/>
              </a:spcBef>
              <a:spcAft>
                <a:spcPts val="0"/>
              </a:spcAft>
              <a:buNone/>
            </a:pPr>
            <a:r>
              <a:t/>
            </a:r>
            <a:endParaRPr sz="1900"/>
          </a:p>
          <a:p>
            <a:pPr indent="-349250" lvl="0" marL="457200" rtl="0" algn="l">
              <a:spcBef>
                <a:spcPts val="600"/>
              </a:spcBef>
              <a:spcAft>
                <a:spcPts val="0"/>
              </a:spcAft>
              <a:buSzPts val="1900"/>
              <a:buChar char="•"/>
            </a:pPr>
            <a:r>
              <a:rPr b="1" lang="en-GB" sz="1900"/>
              <a:t>illness symptoms,</a:t>
            </a:r>
            <a:r>
              <a:rPr lang="en-GB" sz="1900"/>
              <a:t> using OLS</a:t>
            </a:r>
            <a:endParaRPr sz="1900"/>
          </a:p>
          <a:p>
            <a:pPr indent="-349250" lvl="0" marL="457200" rtl="0" algn="l">
              <a:spcBef>
                <a:spcPts val="0"/>
              </a:spcBef>
              <a:spcAft>
                <a:spcPts val="0"/>
              </a:spcAft>
              <a:buSzPts val="1900"/>
              <a:buChar char="•"/>
            </a:pPr>
            <a:r>
              <a:rPr b="1" lang="en-GB" sz="1900"/>
              <a:t>isolation source host-associated</a:t>
            </a:r>
            <a:r>
              <a:rPr lang="en-GB" sz="1900"/>
              <a:t> (tissue)</a:t>
            </a:r>
            <a:r>
              <a:rPr b="1" lang="en-GB" sz="1900"/>
              <a:t>,</a:t>
            </a:r>
            <a:r>
              <a:rPr lang="en-GB" sz="1900"/>
              <a:t> using FAIRsharing.org</a:t>
            </a:r>
            <a:endParaRPr sz="1900"/>
          </a:p>
          <a:p>
            <a:pPr indent="0" lvl="0" marL="457200" rtl="0" algn="l">
              <a:spcBef>
                <a:spcPts val="600"/>
              </a:spcBef>
              <a:spcAft>
                <a:spcPts val="0"/>
              </a:spcAft>
              <a:buNone/>
            </a:pPr>
            <a:r>
              <a:t/>
            </a:r>
            <a:endParaRPr b="1" sz="1900"/>
          </a:p>
          <a:p>
            <a:pPr indent="0" lvl="0" marL="0" rtl="0" algn="l">
              <a:spcBef>
                <a:spcPts val="600"/>
              </a:spcBef>
              <a:spcAft>
                <a:spcPts val="0"/>
              </a:spcAft>
              <a:buNone/>
            </a:pPr>
            <a:r>
              <a:t/>
            </a:r>
            <a:endParaRPr sz="1900"/>
          </a:p>
          <a:p>
            <a:pPr indent="0" lvl="0" marL="0" rtl="0" algn="l">
              <a:spcBef>
                <a:spcPts val="600"/>
              </a:spcBef>
              <a:spcAft>
                <a:spcPts val="0"/>
              </a:spcAft>
              <a:buNone/>
            </a:pPr>
            <a:r>
              <a:t/>
            </a:r>
            <a:endParaRPr sz="19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1"/>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Update the data dictionary</a:t>
            </a:r>
            <a:endParaRPr/>
          </a:p>
        </p:txBody>
      </p:sp>
      <p:pic>
        <p:nvPicPr>
          <p:cNvPr id="365" name="Google Shape;365;p51"/>
          <p:cNvPicPr preferRelativeResize="0"/>
          <p:nvPr/>
        </p:nvPicPr>
        <p:blipFill>
          <a:blip r:embed="rId3">
            <a:alphaModFix/>
          </a:blip>
          <a:stretch>
            <a:fillRect/>
          </a:stretch>
        </p:blipFill>
        <p:spPr>
          <a:xfrm>
            <a:off x="200525" y="1090875"/>
            <a:ext cx="8910049" cy="32020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2"/>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lang="en-GB" sz="2000"/>
              <a:t>I</a:t>
            </a:r>
            <a:r>
              <a:rPr lang="en-GB" sz="2000"/>
              <a:t>nformation about data is called </a:t>
            </a:r>
            <a:r>
              <a:rPr b="1" lang="en-GB" sz="2000"/>
              <a:t>metadata</a:t>
            </a:r>
            <a:endParaRPr b="1" sz="2000"/>
          </a:p>
          <a:p>
            <a:pPr indent="-355600" lvl="0" marL="457200" rtl="0" algn="l">
              <a:spcBef>
                <a:spcPts val="0"/>
              </a:spcBef>
              <a:spcAft>
                <a:spcPts val="0"/>
              </a:spcAft>
              <a:buSzPts val="2000"/>
              <a:buChar char="•"/>
            </a:pPr>
            <a:r>
              <a:rPr lang="en-GB" sz="2000"/>
              <a:t>Good metadata is a necessity for understanding the data - FAIRness</a:t>
            </a:r>
            <a:endParaRPr sz="2000"/>
          </a:p>
          <a:p>
            <a:pPr indent="-355600" lvl="0" marL="457200" rtl="0" algn="l">
              <a:spcBef>
                <a:spcPts val="0"/>
              </a:spcBef>
              <a:spcAft>
                <a:spcPts val="0"/>
              </a:spcAft>
              <a:buSzPts val="2000"/>
              <a:buChar char="•"/>
            </a:pPr>
            <a:r>
              <a:rPr lang="en-GB" sz="2000"/>
              <a:t>Try to be </a:t>
            </a:r>
            <a:r>
              <a:rPr b="1" lang="en-GB" sz="2000"/>
              <a:t>consistent</a:t>
            </a:r>
            <a:r>
              <a:rPr lang="en-GB" sz="2000"/>
              <a:t> when describing data</a:t>
            </a:r>
            <a:endParaRPr sz="2000"/>
          </a:p>
          <a:p>
            <a:pPr indent="-355600" lvl="0" marL="457200" rtl="0" algn="l">
              <a:spcBef>
                <a:spcPts val="0"/>
              </a:spcBef>
              <a:spcAft>
                <a:spcPts val="0"/>
              </a:spcAft>
              <a:buSzPts val="2000"/>
              <a:buChar char="•"/>
            </a:pPr>
            <a:r>
              <a:rPr lang="en-GB" sz="2000"/>
              <a:t>Use </a:t>
            </a:r>
            <a:r>
              <a:rPr b="1" lang="en-GB" sz="2000"/>
              <a:t>controlled vocabularies</a:t>
            </a:r>
            <a:r>
              <a:rPr lang="en-GB" sz="2000"/>
              <a:t> and </a:t>
            </a:r>
            <a:r>
              <a:rPr b="1" lang="en-GB" sz="2000"/>
              <a:t>ontologies</a:t>
            </a:r>
            <a:r>
              <a:rPr lang="en-GB" sz="2000"/>
              <a:t> when specifying metadata</a:t>
            </a:r>
            <a:endParaRPr sz="2000"/>
          </a:p>
          <a:p>
            <a:pPr indent="-355600" lvl="0" marL="457200" rtl="0" algn="l">
              <a:spcBef>
                <a:spcPts val="0"/>
              </a:spcBef>
              <a:spcAft>
                <a:spcPts val="0"/>
              </a:spcAft>
              <a:buSzPts val="2000"/>
              <a:buChar char="•"/>
            </a:pPr>
            <a:r>
              <a:rPr b="1" lang="en-GB" sz="2000"/>
              <a:t>Metadata standards</a:t>
            </a:r>
            <a:r>
              <a:rPr lang="en-GB" sz="2000"/>
              <a:t> - generic and domain specific</a:t>
            </a:r>
            <a:endParaRPr sz="2000"/>
          </a:p>
          <a:p>
            <a:pPr indent="-355600" lvl="0" marL="457200" rtl="0" algn="l">
              <a:spcBef>
                <a:spcPts val="0"/>
              </a:spcBef>
              <a:spcAft>
                <a:spcPts val="0"/>
              </a:spcAft>
              <a:buSzPts val="2000"/>
              <a:buChar char="•"/>
            </a:pPr>
            <a:r>
              <a:rPr lang="en-GB" sz="2000"/>
              <a:t>Use </a:t>
            </a:r>
            <a:r>
              <a:rPr b="1" lang="en-GB" sz="2000"/>
              <a:t>data dictionaries</a:t>
            </a:r>
            <a:r>
              <a:rPr lang="en-GB" sz="2000"/>
              <a:t> to document standards for your data</a:t>
            </a:r>
            <a:endParaRPr sz="2000"/>
          </a:p>
          <a:p>
            <a:pPr indent="-355600" lvl="0" marL="457200" rtl="0" algn="l">
              <a:spcBef>
                <a:spcPts val="0"/>
              </a:spcBef>
              <a:spcAft>
                <a:spcPts val="0"/>
              </a:spcAft>
              <a:buSzPts val="2000"/>
              <a:buChar char="•"/>
            </a:pPr>
            <a:r>
              <a:rPr lang="en-GB" sz="2000"/>
              <a:t>There are tools to help you decide on ontologies and terms to use</a:t>
            </a:r>
            <a:endParaRPr sz="2000"/>
          </a:p>
        </p:txBody>
      </p:sp>
      <p:sp>
        <p:nvSpPr>
          <p:cNvPr id="371" name="Google Shape;371;p5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Summary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5" name="Shape 375"/>
        <p:cNvGrpSpPr/>
        <p:nvPr/>
      </p:nvGrpSpPr>
      <p:grpSpPr>
        <a:xfrm>
          <a:off x="0" y="0"/>
          <a:ext cx="0" cy="0"/>
          <a:chOff x="0" y="0"/>
          <a:chExt cx="0" cy="0"/>
        </a:xfrm>
      </p:grpSpPr>
      <p:sp>
        <p:nvSpPr>
          <p:cNvPr id="376" name="Google Shape;376;p53"/>
          <p:cNvSpPr txBox="1"/>
          <p:nvPr>
            <p:ph type="ctrTitle"/>
          </p:nvPr>
        </p:nvSpPr>
        <p:spPr>
          <a:xfrm>
            <a:off x="1143000" y="1200150"/>
            <a:ext cx="6858000" cy="1432500"/>
          </a:xfrm>
          <a:prstGeom prst="rect">
            <a:avLst/>
          </a:prstGeom>
        </p:spPr>
        <p:txBody>
          <a:bodyPr anchorCtr="0" anchor="b" bIns="25700" lIns="51425" spcFirstLastPara="1" rIns="51425" wrap="square" tIns="25700">
            <a:normAutofit/>
          </a:bodyPr>
          <a:lstStyle/>
          <a:p>
            <a:pPr indent="0" lvl="0" marL="0" rtl="0" algn="l">
              <a:spcBef>
                <a:spcPts val="640"/>
              </a:spcBef>
              <a:spcAft>
                <a:spcPts val="0"/>
              </a:spcAft>
              <a:buClr>
                <a:schemeClr val="dk1"/>
              </a:buClr>
              <a:buSzPts val="3200"/>
              <a:buFont typeface="Arial"/>
              <a:buNone/>
            </a:pPr>
            <a:r>
              <a:rPr lang="en-GB" sz="3200">
                <a:solidFill>
                  <a:schemeClr val="dk1"/>
                </a:solidFill>
              </a:rPr>
              <a:t>Metadata in context (bonus)</a:t>
            </a:r>
            <a:endParaRPr/>
          </a:p>
        </p:txBody>
      </p:sp>
      <p:sp>
        <p:nvSpPr>
          <p:cNvPr id="377" name="Google Shape;377;p53"/>
          <p:cNvSpPr txBox="1"/>
          <p:nvPr>
            <p:ph idx="1" type="subTitle"/>
          </p:nvPr>
        </p:nvSpPr>
        <p:spPr>
          <a:xfrm>
            <a:off x="1143000" y="2701529"/>
            <a:ext cx="6858000" cy="1241700"/>
          </a:xfrm>
          <a:prstGeom prst="rect">
            <a:avLst/>
          </a:prstGeom>
        </p:spPr>
        <p:txBody>
          <a:bodyPr anchorCtr="0" anchor="t" bIns="25700" lIns="51425" spcFirstLastPara="1" rIns="51425" wrap="square" tIns="25700">
            <a:normAutofit/>
          </a:bodyPr>
          <a:lstStyle/>
          <a:p>
            <a:pPr indent="0" lvl="0" marL="0" rtl="0" algn="l">
              <a:lnSpc>
                <a:spcPct val="100000"/>
              </a:lnSpc>
              <a:spcBef>
                <a:spcPts val="400"/>
              </a:spcBef>
              <a:spcAft>
                <a:spcPts val="0"/>
              </a:spcAft>
              <a:buNone/>
            </a:pPr>
            <a:r>
              <a:rPr i="1" lang="en-GB" sz="2000">
                <a:solidFill>
                  <a:schemeClr val="dk1"/>
                </a:solidFill>
                <a:latin typeface="Source Sans Pro"/>
                <a:ea typeface="Source Sans Pro"/>
                <a:cs typeface="Source Sans Pro"/>
                <a:sym typeface="Source Sans Pro"/>
              </a:rPr>
              <a:t>Introduction to Data Management Practices course</a:t>
            </a:r>
            <a:endParaRPr i="1" sz="2000">
              <a:solidFill>
                <a:schemeClr val="dk1"/>
              </a:solidFill>
              <a:latin typeface="Source Sans Pro"/>
              <a:ea typeface="Source Sans Pro"/>
              <a:cs typeface="Source Sans Pro"/>
              <a:sym typeface="Source Sans Pro"/>
            </a:endParaRPr>
          </a:p>
          <a:p>
            <a:pPr indent="0" lvl="0" marL="0" rtl="0" algn="l">
              <a:lnSpc>
                <a:spcPct val="100000"/>
              </a:lnSpc>
              <a:spcBef>
                <a:spcPts val="400"/>
              </a:spcBef>
              <a:spcAft>
                <a:spcPts val="0"/>
              </a:spcAft>
              <a:buNone/>
            </a:pPr>
            <a:r>
              <a:rPr lang="en-GB" sz="2000">
                <a:solidFill>
                  <a:schemeClr val="dk1"/>
                </a:solidFill>
                <a:latin typeface="Source Sans Pro"/>
                <a:ea typeface="Source Sans Pro"/>
                <a:cs typeface="Source Sans Pro"/>
                <a:sym typeface="Source Sans Pro"/>
              </a:rPr>
              <a:t>NBIS DM Team</a:t>
            </a:r>
            <a:endParaRPr sz="2000">
              <a:solidFill>
                <a:schemeClr val="dk1"/>
              </a:solidFill>
              <a:latin typeface="Source Sans Pro"/>
              <a:ea typeface="Source Sans Pro"/>
              <a:cs typeface="Source Sans Pro"/>
              <a:sym typeface="Source Sans Pro"/>
            </a:endParaRPr>
          </a:p>
          <a:p>
            <a:pPr indent="0" lvl="0" marL="0" rtl="0" algn="l">
              <a:lnSpc>
                <a:spcPct val="100000"/>
              </a:lnSpc>
              <a:spcBef>
                <a:spcPts val="400"/>
              </a:spcBef>
              <a:spcAft>
                <a:spcPts val="0"/>
              </a:spcAft>
              <a:buNone/>
            </a:pPr>
            <a:r>
              <a:rPr lang="en-GB" sz="2000">
                <a:solidFill>
                  <a:schemeClr val="dk1"/>
                </a:solidFill>
                <a:latin typeface="Source Sans Pro"/>
                <a:ea typeface="Source Sans Pro"/>
                <a:cs typeface="Source Sans Pro"/>
                <a:sym typeface="Source Sans Pro"/>
              </a:rPr>
              <a:t>data-management@scilifelab.se</a:t>
            </a:r>
            <a:endParaRPr sz="2000">
              <a:solidFill>
                <a:schemeClr val="dk1"/>
              </a:solidFill>
              <a:latin typeface="Source Sans Pro"/>
              <a:ea typeface="Source Sans Pro"/>
              <a:cs typeface="Source Sans Pro"/>
              <a:sym typeface="Source Sans Pro"/>
            </a:endParaRPr>
          </a:p>
        </p:txBody>
      </p:sp>
      <p:pic>
        <p:nvPicPr>
          <p:cNvPr id="378" name="Google Shape;378;p53"/>
          <p:cNvPicPr preferRelativeResize="0"/>
          <p:nvPr/>
        </p:nvPicPr>
        <p:blipFill rotWithShape="1">
          <a:blip r:embed="rId3">
            <a:alphaModFix/>
          </a:blip>
          <a:srcRect b="0" l="0" r="0" t="0"/>
          <a:stretch/>
        </p:blipFill>
        <p:spPr>
          <a:xfrm>
            <a:off x="7087475" y="4409497"/>
            <a:ext cx="1710789" cy="597418"/>
          </a:xfrm>
          <a:prstGeom prst="rect">
            <a:avLst/>
          </a:prstGeom>
          <a:noFill/>
          <a:ln>
            <a:noFill/>
          </a:ln>
        </p:spPr>
      </p:pic>
      <p:sp>
        <p:nvSpPr>
          <p:cNvPr id="379" name="Google Shape;379;p53"/>
          <p:cNvSpPr txBox="1"/>
          <p:nvPr/>
        </p:nvSpPr>
        <p:spPr>
          <a:xfrm>
            <a:off x="96700" y="4727925"/>
            <a:ext cx="60357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hlink"/>
                </a:solidFill>
                <a:hlinkClick r:id="rId4"/>
              </a:rPr>
              <a:t>https://nbisweden.github.io/module-metadata-dm-practices/index.html</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3" name="Shape 383"/>
        <p:cNvGrpSpPr/>
        <p:nvPr/>
      </p:nvGrpSpPr>
      <p:grpSpPr>
        <a:xfrm>
          <a:off x="0" y="0"/>
          <a:ext cx="0" cy="0"/>
          <a:chOff x="0" y="0"/>
          <a:chExt cx="0" cy="0"/>
        </a:xfrm>
      </p:grpSpPr>
      <p:pic>
        <p:nvPicPr>
          <p:cNvPr id="384" name="Google Shape;384;p54"/>
          <p:cNvPicPr preferRelativeResize="0"/>
          <p:nvPr/>
        </p:nvPicPr>
        <p:blipFill rotWithShape="1">
          <a:blip r:embed="rId3">
            <a:alphaModFix/>
          </a:blip>
          <a:srcRect b="0" l="0" r="0" t="13741"/>
          <a:stretch/>
        </p:blipFill>
        <p:spPr>
          <a:xfrm>
            <a:off x="0" y="706583"/>
            <a:ext cx="9144000" cy="4436918"/>
          </a:xfrm>
          <a:prstGeom prst="rect">
            <a:avLst/>
          </a:prstGeom>
          <a:noFill/>
          <a:ln>
            <a:noFill/>
          </a:ln>
        </p:spPr>
      </p:pic>
      <p:sp>
        <p:nvSpPr>
          <p:cNvPr id="385" name="Google Shape;385;p54"/>
          <p:cNvSpPr/>
          <p:nvPr/>
        </p:nvSpPr>
        <p:spPr>
          <a:xfrm>
            <a:off x="4946070" y="4743390"/>
            <a:ext cx="4178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000" u="none" cap="none" strike="noStrike">
                <a:solidFill>
                  <a:schemeClr val="lt1"/>
                </a:solidFill>
                <a:latin typeface="Arial"/>
                <a:ea typeface="Arial"/>
                <a:cs typeface="Arial"/>
                <a:sym typeface="Arial"/>
              </a:rPr>
              <a:t>Background from ‘FAIR Principles’ by Martínez-Lavanchy, et al (2019), CC-BY 4.0. doi:10.11581/dtu:00000049</a:t>
            </a:r>
            <a:endParaRPr sz="1400"/>
          </a:p>
        </p:txBody>
      </p:sp>
      <p:grpSp>
        <p:nvGrpSpPr>
          <p:cNvPr id="386" name="Google Shape;386;p54"/>
          <p:cNvGrpSpPr/>
          <p:nvPr/>
        </p:nvGrpSpPr>
        <p:grpSpPr>
          <a:xfrm>
            <a:off x="-1" y="1597114"/>
            <a:ext cx="3228000" cy="3516675"/>
            <a:chOff x="-1" y="1597114"/>
            <a:chExt cx="3228000" cy="3516675"/>
          </a:xfrm>
        </p:grpSpPr>
        <p:pic>
          <p:nvPicPr>
            <p:cNvPr id="387" name="Google Shape;387;p54"/>
            <p:cNvPicPr preferRelativeResize="0"/>
            <p:nvPr/>
          </p:nvPicPr>
          <p:blipFill rotWithShape="1">
            <a:blip r:embed="rId4">
              <a:alphaModFix/>
            </a:blip>
            <a:srcRect b="0" l="0" r="0" t="0"/>
            <a:stretch/>
          </p:blipFill>
          <p:spPr>
            <a:xfrm>
              <a:off x="322454" y="2898847"/>
              <a:ext cx="973764" cy="1814742"/>
            </a:xfrm>
            <a:prstGeom prst="rect">
              <a:avLst/>
            </a:prstGeom>
            <a:noFill/>
            <a:ln>
              <a:noFill/>
            </a:ln>
          </p:spPr>
        </p:pic>
        <p:sp>
          <p:nvSpPr>
            <p:cNvPr id="388" name="Google Shape;388;p54"/>
            <p:cNvSpPr/>
            <p:nvPr/>
          </p:nvSpPr>
          <p:spPr>
            <a:xfrm>
              <a:off x="-1" y="4713589"/>
              <a:ext cx="322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000" u="none" cap="none" strike="noStrike">
                  <a:solidFill>
                    <a:schemeClr val="lt1"/>
                  </a:solidFill>
                  <a:latin typeface="Arial"/>
                  <a:ea typeface="Arial"/>
                  <a:cs typeface="Arial"/>
                  <a:sym typeface="Arial"/>
                </a:rPr>
                <a:t>Ro</a:t>
              </a:r>
              <a:r>
                <a:rPr lang="en-GB" sz="1000">
                  <a:solidFill>
                    <a:schemeClr val="lt1"/>
                  </a:solidFill>
                </a:rPr>
                <a:t>b</a:t>
              </a:r>
              <a:r>
                <a:rPr b="0" i="0" lang="en-GB" sz="1000" u="none" cap="none" strike="noStrike">
                  <a:solidFill>
                    <a:schemeClr val="lt1"/>
                  </a:solidFill>
                  <a:latin typeface="Arial"/>
                  <a:ea typeface="Arial"/>
                  <a:cs typeface="Arial"/>
                  <a:sym typeface="Arial"/>
                </a:rPr>
                <a:t>ot: MetaManMachine by Nikola Vasiljevic (2021), CC BY-SA 4.0, doi:10.5281/zenodo.4471098</a:t>
              </a:r>
              <a:endParaRPr sz="1400"/>
            </a:p>
          </p:txBody>
        </p:sp>
        <p:sp>
          <p:nvSpPr>
            <p:cNvPr id="389" name="Google Shape;389;p54"/>
            <p:cNvSpPr/>
            <p:nvPr/>
          </p:nvSpPr>
          <p:spPr>
            <a:xfrm rot="9976565">
              <a:off x="112931" y="1796245"/>
              <a:ext cx="1809015" cy="1082873"/>
            </a:xfrm>
            <a:custGeom>
              <a:rect b="b" l="l" r="r" t="t"/>
              <a:pathLst>
                <a:path extrusionOk="0" h="1081704" w="1807062">
                  <a:moveTo>
                    <a:pt x="1535982" y="1078121"/>
                  </a:moveTo>
                  <a:lnTo>
                    <a:pt x="94369" y="724997"/>
                  </a:lnTo>
                  <a:cubicBezTo>
                    <a:pt x="27963" y="708731"/>
                    <a:pt x="-12683" y="641712"/>
                    <a:pt x="3583" y="575306"/>
                  </a:cubicBezTo>
                  <a:lnTo>
                    <a:pt x="121389" y="94369"/>
                  </a:lnTo>
                  <a:cubicBezTo>
                    <a:pt x="137655" y="27963"/>
                    <a:pt x="204674" y="-12683"/>
                    <a:pt x="271080" y="3583"/>
                  </a:cubicBezTo>
                  <a:lnTo>
                    <a:pt x="1416642" y="284190"/>
                  </a:lnTo>
                  <a:lnTo>
                    <a:pt x="1503408" y="25200"/>
                  </a:lnTo>
                  <a:lnTo>
                    <a:pt x="1605687" y="330496"/>
                  </a:lnTo>
                  <a:lnTo>
                    <a:pt x="1712693" y="356707"/>
                  </a:lnTo>
                  <a:cubicBezTo>
                    <a:pt x="1779099" y="372974"/>
                    <a:pt x="1819745" y="439992"/>
                    <a:pt x="1803479" y="506398"/>
                  </a:cubicBezTo>
                  <a:lnTo>
                    <a:pt x="1685673" y="987335"/>
                  </a:lnTo>
                  <a:cubicBezTo>
                    <a:pt x="1669407" y="1053741"/>
                    <a:pt x="1602388" y="1094387"/>
                    <a:pt x="1535982" y="10781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0" name="Google Shape;390;p54"/>
            <p:cNvSpPr txBox="1"/>
            <p:nvPr/>
          </p:nvSpPr>
          <p:spPr>
            <a:xfrm>
              <a:off x="149881" y="2022543"/>
              <a:ext cx="16953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700" u="none" cap="none" strike="noStrike">
                  <a:solidFill>
                    <a:srgbClr val="000000"/>
                  </a:solidFill>
                  <a:latin typeface="Lucida Sans"/>
                  <a:ea typeface="Lucida Sans"/>
                  <a:cs typeface="Lucida Sans"/>
                  <a:sym typeface="Lucida Sans"/>
                </a:rPr>
                <a:t>Works with my software</a:t>
              </a:r>
              <a:endParaRPr sz="1400"/>
            </a:p>
          </p:txBody>
        </p:sp>
      </p:grpSp>
      <p:sp>
        <p:nvSpPr>
          <p:cNvPr id="391" name="Google Shape;391;p54"/>
          <p:cNvSpPr txBox="1"/>
          <p:nvPr>
            <p:ph type="title"/>
          </p:nvPr>
        </p:nvSpPr>
        <p:spPr>
          <a:xfrm>
            <a:off x="1587500" y="155463"/>
            <a:ext cx="5334000" cy="429000"/>
          </a:xfrm>
          <a:prstGeom prst="rect">
            <a:avLst/>
          </a:prstGeom>
        </p:spPr>
        <p:txBody>
          <a:bodyPr anchorCtr="0" anchor="t" bIns="0" lIns="0" spcFirstLastPara="1" rIns="0" wrap="square" tIns="0">
            <a:normAutofit/>
          </a:bodyPr>
          <a:lstStyle/>
          <a:p>
            <a:pPr indent="0" lvl="0" marL="0" rtl="0" algn="ctr">
              <a:lnSpc>
                <a:spcPct val="115000"/>
              </a:lnSpc>
              <a:spcBef>
                <a:spcPts val="0"/>
              </a:spcBef>
              <a:spcAft>
                <a:spcPts val="0"/>
              </a:spcAft>
              <a:buNone/>
            </a:pPr>
            <a:r>
              <a:rPr lang="en-GB"/>
              <a:t>OpenScience and FAIR</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55"/>
          <p:cNvSpPr txBox="1"/>
          <p:nvPr>
            <p:ph type="title"/>
          </p:nvPr>
        </p:nvSpPr>
        <p:spPr>
          <a:xfrm>
            <a:off x="323407" y="240992"/>
            <a:ext cx="8497200" cy="409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GB"/>
              <a:t>Making sense of </a:t>
            </a:r>
            <a:r>
              <a:rPr lang="en-GB" u="sng"/>
              <a:t>your group’s</a:t>
            </a:r>
            <a:r>
              <a:rPr lang="en-GB"/>
              <a:t> data</a:t>
            </a:r>
            <a:endParaRPr/>
          </a:p>
        </p:txBody>
      </p:sp>
      <p:sp>
        <p:nvSpPr>
          <p:cNvPr id="398" name="Google Shape;398;p55"/>
          <p:cNvSpPr txBox="1"/>
          <p:nvPr>
            <p:ph idx="4294967295" type="body"/>
          </p:nvPr>
        </p:nvSpPr>
        <p:spPr>
          <a:xfrm>
            <a:off x="628650" y="1115101"/>
            <a:ext cx="3886200" cy="3517800"/>
          </a:xfrm>
          <a:prstGeom prst="rect">
            <a:avLst/>
          </a:prstGeom>
          <a:noFill/>
          <a:ln>
            <a:noFill/>
          </a:ln>
        </p:spPr>
        <p:txBody>
          <a:bodyPr anchorCtr="0" anchor="t" bIns="34275" lIns="68575" spcFirstLastPara="1" rIns="68575" wrap="square" tIns="34275">
            <a:normAutofit/>
          </a:bodyPr>
          <a:lstStyle/>
          <a:p>
            <a:pPr indent="-177800" lvl="0" marL="177800" rtl="0" algn="l">
              <a:lnSpc>
                <a:spcPct val="115000"/>
              </a:lnSpc>
              <a:spcBef>
                <a:spcPts val="800"/>
              </a:spcBef>
              <a:spcAft>
                <a:spcPts val="0"/>
              </a:spcAft>
              <a:buSzPts val="2100"/>
              <a:buNone/>
            </a:pPr>
            <a:r>
              <a:rPr lang="en-GB" sz="1800"/>
              <a:t>“	data should be readable for machines without the need for specialised or ad hoc algorithms, translators, or mappings”</a:t>
            </a:r>
            <a:endParaRPr sz="1800"/>
          </a:p>
        </p:txBody>
      </p:sp>
      <p:sp>
        <p:nvSpPr>
          <p:cNvPr id="399" name="Google Shape;399;p55"/>
          <p:cNvSpPr txBox="1"/>
          <p:nvPr>
            <p:ph idx="4294967295" type="body"/>
          </p:nvPr>
        </p:nvSpPr>
        <p:spPr>
          <a:xfrm>
            <a:off x="4629150" y="1115101"/>
            <a:ext cx="3886200" cy="35178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800"/>
              </a:spcBef>
              <a:spcAft>
                <a:spcPts val="0"/>
              </a:spcAft>
              <a:buSzPts val="800"/>
              <a:buNone/>
            </a:pPr>
            <a:r>
              <a:rPr lang="en-GB" sz="1800"/>
              <a:t>How about </a:t>
            </a:r>
            <a:r>
              <a:rPr lang="en-GB" sz="1800" u="sng"/>
              <a:t>another group’s</a:t>
            </a:r>
            <a:r>
              <a:rPr lang="en-GB" sz="1800"/>
              <a:t> data?</a:t>
            </a:r>
            <a:endParaRPr sz="1800"/>
          </a:p>
        </p:txBody>
      </p:sp>
      <p:pic>
        <p:nvPicPr>
          <p:cNvPr id="400" name="Google Shape;400;p55"/>
          <p:cNvPicPr preferRelativeResize="0"/>
          <p:nvPr/>
        </p:nvPicPr>
        <p:blipFill rotWithShape="1">
          <a:blip r:embed="rId3">
            <a:alphaModFix/>
          </a:blip>
          <a:srcRect b="39453" l="14733" r="78113" t="41910"/>
          <a:stretch/>
        </p:blipFill>
        <p:spPr>
          <a:xfrm>
            <a:off x="4013288" y="2085129"/>
            <a:ext cx="551642" cy="31654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5" name="Shape 405"/>
        <p:cNvGrpSpPr/>
        <p:nvPr/>
      </p:nvGrpSpPr>
      <p:grpSpPr>
        <a:xfrm>
          <a:off x="0" y="0"/>
          <a:ext cx="0" cy="0"/>
          <a:chOff x="0" y="0"/>
          <a:chExt cx="0" cy="0"/>
        </a:xfrm>
      </p:grpSpPr>
      <p:sp>
        <p:nvSpPr>
          <p:cNvPr id="406" name="Google Shape;406;p56"/>
          <p:cNvSpPr txBox="1"/>
          <p:nvPr>
            <p:ph type="title"/>
          </p:nvPr>
        </p:nvSpPr>
        <p:spPr>
          <a:xfrm>
            <a:off x="323407" y="240992"/>
            <a:ext cx="8497200" cy="409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800"/>
              <a:buNone/>
            </a:pPr>
            <a:r>
              <a:rPr lang="en-GB">
                <a:solidFill>
                  <a:schemeClr val="dk1"/>
                </a:solidFill>
              </a:rPr>
              <a:t>Making sense of </a:t>
            </a:r>
            <a:r>
              <a:rPr lang="en-GB" u="sng">
                <a:solidFill>
                  <a:schemeClr val="dk1"/>
                </a:solidFill>
              </a:rPr>
              <a:t>other group’s</a:t>
            </a:r>
            <a:r>
              <a:rPr lang="en-GB">
                <a:solidFill>
                  <a:schemeClr val="dk1"/>
                </a:solidFill>
              </a:rPr>
              <a:t> data </a:t>
            </a:r>
            <a:endParaRPr>
              <a:solidFill>
                <a:schemeClr val="dk1"/>
              </a:solidFill>
            </a:endParaRPr>
          </a:p>
        </p:txBody>
      </p:sp>
      <p:sp>
        <p:nvSpPr>
          <p:cNvPr id="407" name="Google Shape;407;p56"/>
          <p:cNvSpPr txBox="1"/>
          <p:nvPr>
            <p:ph idx="4294967295" type="body"/>
          </p:nvPr>
        </p:nvSpPr>
        <p:spPr>
          <a:xfrm>
            <a:off x="628650" y="1115101"/>
            <a:ext cx="3886200" cy="3517800"/>
          </a:xfrm>
          <a:prstGeom prst="rect">
            <a:avLst/>
          </a:prstGeom>
          <a:noFill/>
          <a:ln>
            <a:noFill/>
          </a:ln>
        </p:spPr>
        <p:txBody>
          <a:bodyPr anchorCtr="0" anchor="t" bIns="34275" lIns="68575" spcFirstLastPara="1" rIns="68575" wrap="square" tIns="34275">
            <a:normAutofit/>
          </a:bodyPr>
          <a:lstStyle/>
          <a:p>
            <a:pPr indent="-177800" lvl="0" marL="177800" rtl="0" algn="l">
              <a:lnSpc>
                <a:spcPct val="115000"/>
              </a:lnSpc>
              <a:spcBef>
                <a:spcPts val="800"/>
              </a:spcBef>
              <a:spcAft>
                <a:spcPts val="0"/>
              </a:spcAft>
              <a:buSzPts val="2100"/>
              <a:buNone/>
            </a:pPr>
            <a:r>
              <a:rPr lang="en-GB" sz="1800"/>
              <a:t>“	data should be readable for machines without the need for specialised or ad hoc algorithms, translators, or mappings”</a:t>
            </a:r>
            <a:endParaRPr sz="1800"/>
          </a:p>
        </p:txBody>
      </p:sp>
      <p:sp>
        <p:nvSpPr>
          <p:cNvPr id="408" name="Google Shape;408;p56"/>
          <p:cNvSpPr txBox="1"/>
          <p:nvPr>
            <p:ph idx="4294967295" type="body"/>
          </p:nvPr>
        </p:nvSpPr>
        <p:spPr>
          <a:xfrm>
            <a:off x="4629150" y="1115101"/>
            <a:ext cx="3886200" cy="3517800"/>
          </a:xfrm>
          <a:prstGeom prst="rect">
            <a:avLst/>
          </a:prstGeom>
          <a:noFill/>
          <a:ln>
            <a:noFill/>
          </a:ln>
        </p:spPr>
        <p:txBody>
          <a:bodyPr anchorCtr="0" anchor="t" bIns="34275" lIns="68575" spcFirstLastPara="1" rIns="68575" wrap="square" tIns="34275">
            <a:normAutofit/>
          </a:bodyPr>
          <a:lstStyle/>
          <a:p>
            <a:pPr indent="-177800" lvl="0" marL="177800" marR="0" rtl="0" algn="l">
              <a:lnSpc>
                <a:spcPct val="115000"/>
              </a:lnSpc>
              <a:spcBef>
                <a:spcPts val="800"/>
              </a:spcBef>
              <a:spcAft>
                <a:spcPts val="0"/>
              </a:spcAft>
              <a:buSzPts val="2100"/>
              <a:buNone/>
            </a:pPr>
            <a:r>
              <a:rPr lang="en-GB" sz="1800"/>
              <a:t>“	data should be assessable so that judgments can be made about their reliability and the competence of those who created them”. </a:t>
            </a:r>
            <a:endParaRPr sz="1800"/>
          </a:p>
        </p:txBody>
      </p:sp>
      <p:pic>
        <p:nvPicPr>
          <p:cNvPr id="409" name="Google Shape;409;p56"/>
          <p:cNvPicPr preferRelativeResize="0"/>
          <p:nvPr/>
        </p:nvPicPr>
        <p:blipFill rotWithShape="1">
          <a:blip r:embed="rId3">
            <a:alphaModFix/>
          </a:blip>
          <a:srcRect b="39453" l="14733" r="78113" t="41910"/>
          <a:stretch/>
        </p:blipFill>
        <p:spPr>
          <a:xfrm rot="5400000">
            <a:off x="3989567" y="2979652"/>
            <a:ext cx="475923" cy="316540"/>
          </a:xfrm>
          <a:prstGeom prst="rect">
            <a:avLst/>
          </a:prstGeom>
          <a:noFill/>
          <a:ln>
            <a:noFill/>
          </a:ln>
        </p:spPr>
      </p:pic>
      <p:sp>
        <p:nvSpPr>
          <p:cNvPr id="410" name="Google Shape;410;p56"/>
          <p:cNvSpPr txBox="1"/>
          <p:nvPr>
            <p:ph idx="4294967295" type="body"/>
          </p:nvPr>
        </p:nvSpPr>
        <p:spPr>
          <a:xfrm>
            <a:off x="2378175" y="3476981"/>
            <a:ext cx="3886200" cy="13758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800"/>
              </a:spcBef>
              <a:spcAft>
                <a:spcPts val="0"/>
              </a:spcAft>
              <a:buSzPts val="800"/>
              <a:buNone/>
            </a:pPr>
            <a:r>
              <a:rPr lang="en-GB" sz="1800"/>
              <a:t>How about </a:t>
            </a:r>
            <a:r>
              <a:rPr lang="en-GB" sz="1800" u="sng"/>
              <a:t>FAIR research</a:t>
            </a:r>
            <a:r>
              <a:rPr lang="en-GB" sz="1800"/>
              <a:t> data?</a:t>
            </a:r>
            <a:endParaRPr sz="1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5" name="Shape 415"/>
        <p:cNvGrpSpPr/>
        <p:nvPr/>
      </p:nvGrpSpPr>
      <p:grpSpPr>
        <a:xfrm>
          <a:off x="0" y="0"/>
          <a:ext cx="0" cy="0"/>
          <a:chOff x="0" y="0"/>
          <a:chExt cx="0" cy="0"/>
        </a:xfrm>
      </p:grpSpPr>
      <p:sp>
        <p:nvSpPr>
          <p:cNvPr id="416" name="Google Shape;416;p57"/>
          <p:cNvSpPr txBox="1"/>
          <p:nvPr>
            <p:ph type="title"/>
          </p:nvPr>
        </p:nvSpPr>
        <p:spPr>
          <a:xfrm>
            <a:off x="323407" y="240992"/>
            <a:ext cx="8497200" cy="409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800"/>
              <a:buNone/>
            </a:pPr>
            <a:r>
              <a:rPr lang="en-GB">
                <a:solidFill>
                  <a:schemeClr val="dk1"/>
                </a:solidFill>
              </a:rPr>
              <a:t>Making sense of </a:t>
            </a:r>
            <a:r>
              <a:rPr lang="en-GB" u="sng">
                <a:solidFill>
                  <a:schemeClr val="dk1"/>
                </a:solidFill>
              </a:rPr>
              <a:t>FAIR research</a:t>
            </a:r>
            <a:r>
              <a:rPr lang="en-GB">
                <a:solidFill>
                  <a:schemeClr val="dk1"/>
                </a:solidFill>
              </a:rPr>
              <a:t> data </a:t>
            </a:r>
            <a:endParaRPr>
              <a:solidFill>
                <a:schemeClr val="dk1"/>
              </a:solidFill>
            </a:endParaRPr>
          </a:p>
        </p:txBody>
      </p:sp>
      <p:sp>
        <p:nvSpPr>
          <p:cNvPr id="417" name="Google Shape;417;p57"/>
          <p:cNvSpPr txBox="1"/>
          <p:nvPr>
            <p:ph idx="4294967295" type="body"/>
          </p:nvPr>
        </p:nvSpPr>
        <p:spPr>
          <a:xfrm>
            <a:off x="628650" y="1115101"/>
            <a:ext cx="3886200" cy="3517800"/>
          </a:xfrm>
          <a:prstGeom prst="rect">
            <a:avLst/>
          </a:prstGeom>
          <a:noFill/>
          <a:ln>
            <a:noFill/>
          </a:ln>
        </p:spPr>
        <p:txBody>
          <a:bodyPr anchorCtr="0" anchor="t" bIns="34275" lIns="68575" spcFirstLastPara="1" rIns="68575" wrap="square" tIns="34275">
            <a:normAutofit/>
          </a:bodyPr>
          <a:lstStyle/>
          <a:p>
            <a:pPr indent="-177800" lvl="0" marL="177800" rtl="0" algn="l">
              <a:lnSpc>
                <a:spcPct val="115000"/>
              </a:lnSpc>
              <a:spcBef>
                <a:spcPts val="800"/>
              </a:spcBef>
              <a:spcAft>
                <a:spcPts val="0"/>
              </a:spcAft>
              <a:buSzPts val="2100"/>
              <a:buNone/>
            </a:pPr>
            <a:r>
              <a:rPr lang="en-GB" sz="1800"/>
              <a:t>“	data should be readable for machines without the need for specialised or ad hoc algorithms, translators, or mappings”</a:t>
            </a:r>
            <a:endParaRPr sz="1800"/>
          </a:p>
        </p:txBody>
      </p:sp>
      <p:sp>
        <p:nvSpPr>
          <p:cNvPr id="418" name="Google Shape;418;p57"/>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900"/>
              <a:buFont typeface="Arial"/>
              <a:buNone/>
            </a:pPr>
            <a:fld id="{00000000-1234-1234-1234-123412341234}" type="slidenum">
              <a:rPr lang="en-GB"/>
              <a:t>‹#›</a:t>
            </a:fld>
            <a:endParaRPr/>
          </a:p>
        </p:txBody>
      </p:sp>
      <p:sp>
        <p:nvSpPr>
          <p:cNvPr id="419" name="Google Shape;419;p57"/>
          <p:cNvSpPr txBox="1"/>
          <p:nvPr>
            <p:ph idx="4294967295" type="body"/>
          </p:nvPr>
        </p:nvSpPr>
        <p:spPr>
          <a:xfrm>
            <a:off x="4629150" y="1115101"/>
            <a:ext cx="3886200" cy="3517800"/>
          </a:xfrm>
          <a:prstGeom prst="rect">
            <a:avLst/>
          </a:prstGeom>
          <a:noFill/>
          <a:ln>
            <a:noFill/>
          </a:ln>
        </p:spPr>
        <p:txBody>
          <a:bodyPr anchorCtr="0" anchor="t" bIns="34275" lIns="68575" spcFirstLastPara="1" rIns="68575" wrap="square" tIns="34275">
            <a:normAutofit/>
          </a:bodyPr>
          <a:lstStyle/>
          <a:p>
            <a:pPr indent="-177800" lvl="0" marL="177800" rtl="0" algn="l">
              <a:lnSpc>
                <a:spcPct val="115000"/>
              </a:lnSpc>
              <a:spcBef>
                <a:spcPts val="800"/>
              </a:spcBef>
              <a:spcAft>
                <a:spcPts val="0"/>
              </a:spcAft>
              <a:buSzPts val="800"/>
              <a:buNone/>
            </a:pPr>
            <a:r>
              <a:rPr lang="en-GB" sz="1800"/>
              <a:t>“	data should be assessable so that judgments can be made about their reliability and the competence of those who created them”. </a:t>
            </a:r>
            <a:endParaRPr sz="1800"/>
          </a:p>
        </p:txBody>
      </p:sp>
      <p:grpSp>
        <p:nvGrpSpPr>
          <p:cNvPr id="420" name="Google Shape;420;p57"/>
          <p:cNvGrpSpPr/>
          <p:nvPr/>
        </p:nvGrpSpPr>
        <p:grpSpPr>
          <a:xfrm>
            <a:off x="2566503" y="3130303"/>
            <a:ext cx="3642958" cy="1099867"/>
            <a:chOff x="3018090" y="2933999"/>
            <a:chExt cx="2351813" cy="710050"/>
          </a:xfrm>
        </p:grpSpPr>
        <p:sp>
          <p:nvSpPr>
            <p:cNvPr id="421" name="Google Shape;421;p57"/>
            <p:cNvSpPr/>
            <p:nvPr/>
          </p:nvSpPr>
          <p:spPr>
            <a:xfrm>
              <a:off x="4608390" y="2933999"/>
              <a:ext cx="732300" cy="7059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t" bIns="25700" lIns="51425" spcFirstLastPara="1" rIns="51425" wrap="square" tIns="2570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B5394"/>
                </a:solidFill>
                <a:latin typeface="Arial"/>
                <a:ea typeface="Arial"/>
                <a:cs typeface="Arial"/>
                <a:sym typeface="Arial"/>
              </a:endParaRPr>
            </a:p>
          </p:txBody>
        </p:sp>
        <p:sp>
          <p:nvSpPr>
            <p:cNvPr id="422" name="Google Shape;422;p57"/>
            <p:cNvSpPr/>
            <p:nvPr/>
          </p:nvSpPr>
          <p:spPr>
            <a:xfrm>
              <a:off x="3018090" y="2933999"/>
              <a:ext cx="732300" cy="7059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t" bIns="25700" lIns="51425" spcFirstLastPara="1" rIns="51425" wrap="square" tIns="2570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B5394"/>
                </a:solidFill>
                <a:latin typeface="Arial"/>
                <a:ea typeface="Arial"/>
                <a:cs typeface="Arial"/>
                <a:sym typeface="Arial"/>
              </a:endParaRPr>
            </a:p>
          </p:txBody>
        </p:sp>
        <p:sp>
          <p:nvSpPr>
            <p:cNvPr id="423" name="Google Shape;423;p57"/>
            <p:cNvSpPr/>
            <p:nvPr/>
          </p:nvSpPr>
          <p:spPr>
            <a:xfrm>
              <a:off x="3821240" y="2938149"/>
              <a:ext cx="732300" cy="7059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t" bIns="25700" lIns="51425" spcFirstLastPara="1" rIns="51425" wrap="square" tIns="2570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3D85C6"/>
                </a:solidFill>
                <a:latin typeface="Arial"/>
                <a:ea typeface="Arial"/>
                <a:cs typeface="Arial"/>
                <a:sym typeface="Arial"/>
              </a:endParaRPr>
            </a:p>
          </p:txBody>
        </p:sp>
        <p:pic>
          <p:nvPicPr>
            <p:cNvPr id="424" name="Google Shape;424;p57"/>
            <p:cNvPicPr preferRelativeResize="0"/>
            <p:nvPr/>
          </p:nvPicPr>
          <p:blipFill rotWithShape="1">
            <a:blip r:embed="rId3">
              <a:alphaModFix/>
            </a:blip>
            <a:srcRect b="33259" l="6857" r="66101" t="31530"/>
            <a:stretch/>
          </p:blipFill>
          <p:spPr>
            <a:xfrm>
              <a:off x="4080925" y="3122638"/>
              <a:ext cx="342924" cy="413574"/>
            </a:xfrm>
            <a:prstGeom prst="rect">
              <a:avLst/>
            </a:prstGeom>
            <a:noFill/>
            <a:ln>
              <a:noFill/>
            </a:ln>
          </p:spPr>
        </p:pic>
        <p:sp>
          <p:nvSpPr>
            <p:cNvPr id="425" name="Google Shape;425;p57"/>
            <p:cNvSpPr txBox="1"/>
            <p:nvPr/>
          </p:nvSpPr>
          <p:spPr>
            <a:xfrm>
              <a:off x="3749689" y="2973261"/>
              <a:ext cx="890700" cy="2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GB" sz="1400" u="none" cap="none" strike="noStrike">
                  <a:solidFill>
                    <a:srgbClr val="811947"/>
                  </a:solidFill>
                  <a:latin typeface="Calibri"/>
                  <a:ea typeface="Calibri"/>
                  <a:cs typeface="Calibri"/>
                  <a:sym typeface="Calibri"/>
                </a:rPr>
                <a:t>Terminologies</a:t>
              </a:r>
              <a:endParaRPr b="1" i="0" sz="1400" u="none" cap="none" strike="noStrike">
                <a:solidFill>
                  <a:srgbClr val="811947"/>
                </a:solidFill>
                <a:latin typeface="Calibri"/>
                <a:ea typeface="Calibri"/>
                <a:cs typeface="Calibri"/>
                <a:sym typeface="Calibri"/>
              </a:endParaRPr>
            </a:p>
          </p:txBody>
        </p:sp>
        <p:pic>
          <p:nvPicPr>
            <p:cNvPr id="426" name="Google Shape;426;p57"/>
            <p:cNvPicPr preferRelativeResize="0"/>
            <p:nvPr/>
          </p:nvPicPr>
          <p:blipFill rotWithShape="1">
            <a:blip r:embed="rId3">
              <a:alphaModFix/>
            </a:blip>
            <a:srcRect b="33259" l="31625" r="37347" t="31530"/>
            <a:stretch/>
          </p:blipFill>
          <p:spPr>
            <a:xfrm>
              <a:off x="4777813" y="3122638"/>
              <a:ext cx="393450" cy="413574"/>
            </a:xfrm>
            <a:prstGeom prst="rect">
              <a:avLst/>
            </a:prstGeom>
            <a:noFill/>
            <a:ln>
              <a:noFill/>
            </a:ln>
          </p:spPr>
        </p:pic>
        <p:sp>
          <p:nvSpPr>
            <p:cNvPr id="427" name="Google Shape;427;p57"/>
            <p:cNvSpPr txBox="1"/>
            <p:nvPr/>
          </p:nvSpPr>
          <p:spPr>
            <a:xfrm>
              <a:off x="4640303" y="2974583"/>
              <a:ext cx="729600" cy="2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GB" sz="1400" u="none" cap="none" strike="noStrike">
                  <a:solidFill>
                    <a:srgbClr val="811947"/>
                  </a:solidFill>
                  <a:latin typeface="Calibri"/>
                  <a:ea typeface="Calibri"/>
                  <a:cs typeface="Calibri"/>
                  <a:sym typeface="Calibri"/>
                </a:rPr>
                <a:t>Guidelines</a:t>
              </a:r>
              <a:endParaRPr b="1" i="0" sz="1400" u="none" cap="none" strike="noStrike">
                <a:solidFill>
                  <a:srgbClr val="811947"/>
                </a:solidFill>
                <a:latin typeface="Calibri"/>
                <a:ea typeface="Calibri"/>
                <a:cs typeface="Calibri"/>
                <a:sym typeface="Calibri"/>
              </a:endParaRPr>
            </a:p>
          </p:txBody>
        </p:sp>
        <p:pic>
          <p:nvPicPr>
            <p:cNvPr id="428" name="Google Shape;428;p57"/>
            <p:cNvPicPr preferRelativeResize="0"/>
            <p:nvPr/>
          </p:nvPicPr>
          <p:blipFill rotWithShape="1">
            <a:blip r:embed="rId3">
              <a:alphaModFix/>
            </a:blip>
            <a:srcRect b="33259" l="63304" r="5668" t="31530"/>
            <a:stretch/>
          </p:blipFill>
          <p:spPr>
            <a:xfrm>
              <a:off x="3203513" y="3122638"/>
              <a:ext cx="393450" cy="413574"/>
            </a:xfrm>
            <a:prstGeom prst="rect">
              <a:avLst/>
            </a:prstGeom>
            <a:noFill/>
            <a:ln>
              <a:noFill/>
            </a:ln>
          </p:spPr>
        </p:pic>
        <p:sp>
          <p:nvSpPr>
            <p:cNvPr id="429" name="Google Shape;429;p57"/>
            <p:cNvSpPr txBox="1"/>
            <p:nvPr/>
          </p:nvSpPr>
          <p:spPr>
            <a:xfrm>
              <a:off x="3080192" y="2973257"/>
              <a:ext cx="608100" cy="2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GB" sz="1400" u="none" cap="none" strike="noStrike">
                  <a:solidFill>
                    <a:srgbClr val="811947"/>
                  </a:solidFill>
                  <a:latin typeface="Calibri"/>
                  <a:ea typeface="Calibri"/>
                  <a:cs typeface="Calibri"/>
                  <a:sym typeface="Calibri"/>
                </a:rPr>
                <a:t>Formats</a:t>
              </a:r>
              <a:endParaRPr b="1" i="0" sz="2000" u="none" cap="none" strike="noStrike">
                <a:solidFill>
                  <a:srgbClr val="811947"/>
                </a:solidFill>
                <a:latin typeface="Calibri"/>
                <a:ea typeface="Calibri"/>
                <a:cs typeface="Calibri"/>
                <a:sym typeface="Calibri"/>
              </a:endParaRPr>
            </a:p>
          </p:txBody>
        </p:sp>
        <p:pic>
          <p:nvPicPr>
            <p:cNvPr id="430" name="Google Shape;430;p57"/>
            <p:cNvPicPr preferRelativeResize="0"/>
            <p:nvPr/>
          </p:nvPicPr>
          <p:blipFill rotWithShape="1">
            <a:blip r:embed="rId4">
              <a:alphaModFix amt="67000"/>
            </a:blip>
            <a:srcRect b="35852" l="26200" r="21429" t="39669"/>
            <a:stretch/>
          </p:blipFill>
          <p:spPr>
            <a:xfrm>
              <a:off x="4364488" y="3225350"/>
              <a:ext cx="445303" cy="208138"/>
            </a:xfrm>
            <a:prstGeom prst="rect">
              <a:avLst/>
            </a:prstGeom>
            <a:noFill/>
            <a:ln>
              <a:noFill/>
            </a:ln>
          </p:spPr>
        </p:pic>
        <p:pic>
          <p:nvPicPr>
            <p:cNvPr id="431" name="Google Shape;431;p57"/>
            <p:cNvPicPr preferRelativeResize="0"/>
            <p:nvPr/>
          </p:nvPicPr>
          <p:blipFill rotWithShape="1">
            <a:blip r:embed="rId4">
              <a:alphaModFix amt="67000"/>
            </a:blip>
            <a:srcRect b="35852" l="26200" r="21429" t="39669"/>
            <a:stretch/>
          </p:blipFill>
          <p:spPr>
            <a:xfrm>
              <a:off x="3558325" y="3225350"/>
              <a:ext cx="445303" cy="208138"/>
            </a:xfrm>
            <a:prstGeom prst="rect">
              <a:avLst/>
            </a:prstGeom>
            <a:noFill/>
            <a:ln>
              <a:noFill/>
            </a:ln>
          </p:spPr>
        </p:pic>
      </p:grpSp>
      <p:sp>
        <p:nvSpPr>
          <p:cNvPr id="432" name="Google Shape;432;p57"/>
          <p:cNvSpPr/>
          <p:nvPr/>
        </p:nvSpPr>
        <p:spPr>
          <a:xfrm>
            <a:off x="141375" y="3342825"/>
            <a:ext cx="1761300" cy="316500"/>
          </a:xfrm>
          <a:prstGeom prst="rect">
            <a:avLst/>
          </a:prstGeom>
          <a:noFill/>
          <a:ln>
            <a:noFill/>
          </a:ln>
        </p:spPr>
        <p:txBody>
          <a:bodyPr anchorCtr="0" anchor="t" bIns="25700" lIns="51425" spcFirstLastPara="1" rIns="51425" wrap="square" tIns="25700">
            <a:noAutofit/>
          </a:bodyPr>
          <a:lstStyle/>
          <a:p>
            <a:pPr indent="0" lvl="1" marL="0" marR="0" rtl="0" algn="r">
              <a:lnSpc>
                <a:spcPct val="100000"/>
              </a:lnSpc>
              <a:spcBef>
                <a:spcPts val="0"/>
              </a:spcBef>
              <a:spcAft>
                <a:spcPts val="0"/>
              </a:spcAft>
              <a:buClr>
                <a:srgbClr val="000000"/>
              </a:buClr>
              <a:buSzPts val="1200"/>
              <a:buFont typeface="Arial"/>
              <a:buNone/>
            </a:pPr>
            <a:r>
              <a:rPr b="0" i="0" lang="en-GB" sz="1800" u="none" cap="none" strike="noStrike">
                <a:solidFill>
                  <a:schemeClr val="dk1"/>
                </a:solidFill>
                <a:latin typeface="Ubuntu"/>
                <a:ea typeface="Ubuntu"/>
                <a:cs typeface="Ubuntu"/>
                <a:sym typeface="Ubuntu"/>
              </a:rPr>
              <a:t>Data storage </a:t>
            </a:r>
            <a:br>
              <a:rPr b="0" i="0" lang="en-GB" sz="1800" u="none" cap="none" strike="noStrike">
                <a:solidFill>
                  <a:schemeClr val="dk1"/>
                </a:solidFill>
                <a:latin typeface="Ubuntu"/>
                <a:ea typeface="Ubuntu"/>
                <a:cs typeface="Ubuntu"/>
                <a:sym typeface="Ubuntu"/>
              </a:rPr>
            </a:br>
            <a:r>
              <a:rPr b="0" i="0" lang="en-GB" sz="1800" u="none" cap="none" strike="noStrike">
                <a:solidFill>
                  <a:schemeClr val="dk1"/>
                </a:solidFill>
                <a:latin typeface="Ubuntu"/>
                <a:ea typeface="Ubuntu"/>
                <a:cs typeface="Ubuntu"/>
                <a:sym typeface="Ubuntu"/>
              </a:rPr>
              <a:t>&amp; exchange </a:t>
            </a:r>
            <a:endParaRPr b="0" i="1" sz="1800" u="none" cap="none" strike="noStrike">
              <a:solidFill>
                <a:srgbClr val="185486"/>
              </a:solidFill>
              <a:latin typeface="Ubuntu"/>
              <a:ea typeface="Ubuntu"/>
              <a:cs typeface="Ubuntu"/>
              <a:sym typeface="Ubuntu"/>
            </a:endParaRPr>
          </a:p>
        </p:txBody>
      </p:sp>
      <p:sp>
        <p:nvSpPr>
          <p:cNvPr id="433" name="Google Shape;433;p57"/>
          <p:cNvSpPr/>
          <p:nvPr/>
        </p:nvSpPr>
        <p:spPr>
          <a:xfrm>
            <a:off x="4343400" y="4270027"/>
            <a:ext cx="3681000" cy="316500"/>
          </a:xfrm>
          <a:prstGeom prst="rect">
            <a:avLst/>
          </a:prstGeom>
          <a:noFill/>
          <a:ln>
            <a:noFill/>
          </a:ln>
        </p:spPr>
        <p:txBody>
          <a:bodyPr anchorCtr="0" anchor="t" bIns="25700" lIns="51425" spcFirstLastPara="1" rIns="51425" wrap="square" tIns="25700">
            <a:noAutofit/>
          </a:bodyPr>
          <a:lstStyle/>
          <a:p>
            <a:pPr indent="0" lvl="1" marL="0" marR="0" rtl="0" algn="l">
              <a:lnSpc>
                <a:spcPct val="100000"/>
              </a:lnSpc>
              <a:spcBef>
                <a:spcPts val="0"/>
              </a:spcBef>
              <a:spcAft>
                <a:spcPts val="0"/>
              </a:spcAft>
              <a:buClr>
                <a:srgbClr val="000000"/>
              </a:buClr>
              <a:buSzPts val="1200"/>
              <a:buFont typeface="Arial"/>
              <a:buNone/>
            </a:pPr>
            <a:r>
              <a:rPr b="0" i="0" lang="en-GB" sz="1800" u="none" cap="none" strike="noStrike">
                <a:solidFill>
                  <a:schemeClr val="dk1"/>
                </a:solidFill>
                <a:latin typeface="Ubuntu"/>
                <a:ea typeface="Ubuntu"/>
                <a:cs typeface="Ubuntu"/>
                <a:sym typeface="Ubuntu"/>
              </a:rPr>
              <a:t>Conceptual models </a:t>
            </a:r>
            <a:br>
              <a:rPr b="0" i="0" lang="en-GB" sz="1800" u="none" cap="none" strike="noStrike">
                <a:solidFill>
                  <a:schemeClr val="dk1"/>
                </a:solidFill>
                <a:latin typeface="Ubuntu"/>
                <a:ea typeface="Ubuntu"/>
                <a:cs typeface="Ubuntu"/>
                <a:sym typeface="Ubuntu"/>
              </a:rPr>
            </a:br>
            <a:r>
              <a:rPr b="0" i="0" lang="en-GB" sz="1800" u="none" cap="none" strike="noStrike">
                <a:solidFill>
                  <a:schemeClr val="dk1"/>
                </a:solidFill>
                <a:latin typeface="Ubuntu"/>
                <a:ea typeface="Ubuntu"/>
                <a:cs typeface="Ubuntu"/>
                <a:sym typeface="Ubuntu"/>
              </a:rPr>
              <a:t>&amp; controlled vocabularies</a:t>
            </a:r>
            <a:endParaRPr b="0" i="0" sz="1800" u="none" cap="none" strike="noStrike">
              <a:solidFill>
                <a:schemeClr val="dk1"/>
              </a:solidFill>
              <a:latin typeface="Ubuntu"/>
              <a:ea typeface="Ubuntu"/>
              <a:cs typeface="Ubuntu"/>
              <a:sym typeface="Ubuntu"/>
            </a:endParaRPr>
          </a:p>
        </p:txBody>
      </p:sp>
      <p:sp>
        <p:nvSpPr>
          <p:cNvPr id="434" name="Google Shape;434;p57"/>
          <p:cNvSpPr/>
          <p:nvPr/>
        </p:nvSpPr>
        <p:spPr>
          <a:xfrm>
            <a:off x="6834600" y="3342825"/>
            <a:ext cx="1680900" cy="273900"/>
          </a:xfrm>
          <a:prstGeom prst="rect">
            <a:avLst/>
          </a:prstGeom>
          <a:noFill/>
          <a:ln>
            <a:noFill/>
          </a:ln>
        </p:spPr>
        <p:txBody>
          <a:bodyPr anchorCtr="0" anchor="t" bIns="25700" lIns="51425" spcFirstLastPara="1" rIns="51425" wrap="square" tIns="25700">
            <a:noAutofit/>
          </a:bodyPr>
          <a:lstStyle/>
          <a:p>
            <a:pPr indent="0" lvl="1" marL="0" marR="0" rtl="0" algn="l">
              <a:lnSpc>
                <a:spcPct val="100000"/>
              </a:lnSpc>
              <a:spcBef>
                <a:spcPts val="0"/>
              </a:spcBef>
              <a:spcAft>
                <a:spcPts val="0"/>
              </a:spcAft>
              <a:buClr>
                <a:srgbClr val="000000"/>
              </a:buClr>
              <a:buSzPts val="1200"/>
              <a:buFont typeface="Arial"/>
              <a:buNone/>
            </a:pPr>
            <a:r>
              <a:rPr b="0" i="0" lang="en-GB" sz="1800" u="none" cap="none" strike="noStrike">
                <a:solidFill>
                  <a:schemeClr val="dk1"/>
                </a:solidFill>
                <a:latin typeface="Ubuntu"/>
                <a:ea typeface="Ubuntu"/>
                <a:cs typeface="Ubuntu"/>
                <a:sym typeface="Ubuntu"/>
              </a:rPr>
              <a:t>Requirements </a:t>
            </a:r>
            <a:br>
              <a:rPr b="0" i="0" lang="en-GB" sz="1800" u="none" cap="none" strike="noStrike">
                <a:solidFill>
                  <a:schemeClr val="dk1"/>
                </a:solidFill>
                <a:latin typeface="Ubuntu"/>
                <a:ea typeface="Ubuntu"/>
                <a:cs typeface="Ubuntu"/>
                <a:sym typeface="Ubuntu"/>
              </a:rPr>
            </a:br>
            <a:r>
              <a:rPr b="0" i="0" lang="en-GB" sz="1800" u="none" cap="none" strike="noStrike">
                <a:solidFill>
                  <a:schemeClr val="dk1"/>
                </a:solidFill>
                <a:latin typeface="Ubuntu"/>
                <a:ea typeface="Ubuntu"/>
                <a:cs typeface="Ubuntu"/>
                <a:sym typeface="Ubuntu"/>
              </a:rPr>
              <a:t>&amp; checklists</a:t>
            </a:r>
            <a:endParaRPr b="0" i="0" sz="1800" u="none" cap="none" strike="noStrike">
              <a:solidFill>
                <a:schemeClr val="dk1"/>
              </a:solidFill>
              <a:latin typeface="Ubuntu"/>
              <a:ea typeface="Ubuntu"/>
              <a:cs typeface="Ubuntu"/>
              <a:sym typeface="Ubuntu"/>
            </a:endParaRPr>
          </a:p>
        </p:txBody>
      </p:sp>
      <p:pic>
        <p:nvPicPr>
          <p:cNvPr id="435" name="Google Shape;435;p57"/>
          <p:cNvPicPr preferRelativeResize="0"/>
          <p:nvPr/>
        </p:nvPicPr>
        <p:blipFill rotWithShape="1">
          <a:blip r:embed="rId5">
            <a:alphaModFix/>
          </a:blip>
          <a:srcRect b="39453" l="14733" r="78113" t="41910"/>
          <a:stretch/>
        </p:blipFill>
        <p:spPr>
          <a:xfrm>
            <a:off x="1968938" y="3342843"/>
            <a:ext cx="551642" cy="316540"/>
          </a:xfrm>
          <a:prstGeom prst="rect">
            <a:avLst/>
          </a:prstGeom>
          <a:noFill/>
          <a:ln>
            <a:noFill/>
          </a:ln>
        </p:spPr>
      </p:pic>
      <p:pic>
        <p:nvPicPr>
          <p:cNvPr id="436" name="Google Shape;436;p57"/>
          <p:cNvPicPr preferRelativeResize="0"/>
          <p:nvPr/>
        </p:nvPicPr>
        <p:blipFill rotWithShape="1">
          <a:blip r:embed="rId5">
            <a:alphaModFix/>
          </a:blip>
          <a:srcRect b="39453" l="14733" r="78113" t="41910"/>
          <a:stretch/>
        </p:blipFill>
        <p:spPr>
          <a:xfrm rot="10800000">
            <a:off x="6193830" y="3342843"/>
            <a:ext cx="551642" cy="316540"/>
          </a:xfrm>
          <a:prstGeom prst="rect">
            <a:avLst/>
          </a:prstGeom>
          <a:noFill/>
          <a:ln>
            <a:noFill/>
          </a:ln>
        </p:spPr>
      </p:pic>
      <p:pic>
        <p:nvPicPr>
          <p:cNvPr id="437" name="Google Shape;437;p57"/>
          <p:cNvPicPr preferRelativeResize="0"/>
          <p:nvPr/>
        </p:nvPicPr>
        <p:blipFill rotWithShape="1">
          <a:blip r:embed="rId5">
            <a:alphaModFix/>
          </a:blip>
          <a:srcRect b="39453" l="14733" r="78113" t="41910"/>
          <a:stretch/>
        </p:blipFill>
        <p:spPr>
          <a:xfrm rot="-5400000">
            <a:off x="3859085" y="4349715"/>
            <a:ext cx="475923" cy="316540"/>
          </a:xfrm>
          <a:prstGeom prst="rect">
            <a:avLst/>
          </a:prstGeom>
          <a:noFill/>
          <a:ln>
            <a:noFill/>
          </a:ln>
        </p:spPr>
      </p:pic>
      <p:sp>
        <p:nvSpPr>
          <p:cNvPr id="438" name="Google Shape;438;p57"/>
          <p:cNvSpPr txBox="1"/>
          <p:nvPr/>
        </p:nvSpPr>
        <p:spPr>
          <a:xfrm>
            <a:off x="3971276" y="2744869"/>
            <a:ext cx="823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004165"/>
                </a:solidFill>
                <a:latin typeface="Ubuntu"/>
                <a:ea typeface="Ubuntu"/>
                <a:cs typeface="Ubuntu"/>
                <a:sym typeface="Ubuntu"/>
              </a:rPr>
              <a:t>788+</a:t>
            </a:r>
            <a:endParaRPr b="0" i="0" sz="1800" u="none" cap="none" strike="noStrike">
              <a:solidFill>
                <a:srgbClr val="000000"/>
              </a:solidFill>
              <a:latin typeface="Arial"/>
              <a:ea typeface="Arial"/>
              <a:cs typeface="Arial"/>
              <a:sym typeface="Arial"/>
            </a:endParaRPr>
          </a:p>
        </p:txBody>
      </p:sp>
      <p:sp>
        <p:nvSpPr>
          <p:cNvPr id="439" name="Google Shape;439;p57"/>
          <p:cNvSpPr txBox="1"/>
          <p:nvPr/>
        </p:nvSpPr>
        <p:spPr>
          <a:xfrm>
            <a:off x="5167878" y="2732513"/>
            <a:ext cx="823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004165"/>
                </a:solidFill>
                <a:latin typeface="Ubuntu"/>
                <a:ea typeface="Ubuntu"/>
                <a:cs typeface="Ubuntu"/>
                <a:sym typeface="Ubuntu"/>
              </a:rPr>
              <a:t>245+</a:t>
            </a:r>
            <a:endParaRPr b="0" i="0" sz="1800" u="none" cap="none" strike="noStrike">
              <a:solidFill>
                <a:srgbClr val="000000"/>
              </a:solidFill>
              <a:latin typeface="Arial"/>
              <a:ea typeface="Arial"/>
              <a:cs typeface="Arial"/>
              <a:sym typeface="Arial"/>
            </a:endParaRPr>
          </a:p>
        </p:txBody>
      </p:sp>
      <p:sp>
        <p:nvSpPr>
          <p:cNvPr id="440" name="Google Shape;440;p57"/>
          <p:cNvSpPr txBox="1"/>
          <p:nvPr/>
        </p:nvSpPr>
        <p:spPr>
          <a:xfrm>
            <a:off x="2774655" y="2744869"/>
            <a:ext cx="823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004165"/>
                </a:solidFill>
                <a:latin typeface="Ubuntu"/>
                <a:ea typeface="Ubuntu"/>
                <a:cs typeface="Ubuntu"/>
                <a:sym typeface="Ubuntu"/>
              </a:rPr>
              <a:t>576+</a:t>
            </a:r>
            <a:endParaRPr b="0" i="0" sz="1800" u="none" cap="none" strike="noStrike">
              <a:solidFill>
                <a:srgbClr val="000000"/>
              </a:solidFill>
              <a:latin typeface="Arial"/>
              <a:ea typeface="Arial"/>
              <a:cs typeface="Arial"/>
              <a:sym typeface="Arial"/>
            </a:endParaRPr>
          </a:p>
        </p:txBody>
      </p:sp>
      <p:sp>
        <p:nvSpPr>
          <p:cNvPr id="441" name="Google Shape;441;p57"/>
          <p:cNvSpPr txBox="1"/>
          <p:nvPr/>
        </p:nvSpPr>
        <p:spPr>
          <a:xfrm>
            <a:off x="52163" y="4725300"/>
            <a:ext cx="3545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4165"/>
                </a:solidFill>
                <a:latin typeface="Ubuntu"/>
                <a:ea typeface="Ubuntu"/>
                <a:cs typeface="Ubuntu"/>
                <a:sym typeface="Ubuntu"/>
              </a:rPr>
              <a:t>* Numbers from the FAIRsharing Registry</a:t>
            </a:r>
            <a:endParaRPr b="0" i="0" sz="600" u="none" cap="none" strike="noStrike">
              <a:solidFill>
                <a:srgbClr val="000000"/>
              </a:solidFill>
              <a:latin typeface="Arial"/>
              <a:ea typeface="Arial"/>
              <a:cs typeface="Arial"/>
              <a:sym typeface="Arial"/>
            </a:endParaRPr>
          </a:p>
        </p:txBody>
      </p:sp>
      <p:sp>
        <p:nvSpPr>
          <p:cNvPr id="442" name="Google Shape;442;p57"/>
          <p:cNvSpPr txBox="1"/>
          <p:nvPr/>
        </p:nvSpPr>
        <p:spPr>
          <a:xfrm>
            <a:off x="6193838" y="2752191"/>
            <a:ext cx="316500" cy="5388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2600"/>
              <a:buFont typeface="Arial"/>
              <a:buNone/>
            </a:pPr>
            <a:r>
              <a:rPr b="1" i="0" lang="en-GB" sz="2600" u="none" cap="none" strike="noStrike">
                <a:solidFill>
                  <a:srgbClr val="004165"/>
                </a:solidFill>
                <a:latin typeface="Ubuntu"/>
                <a:ea typeface="Ubuntu"/>
                <a:cs typeface="Ubuntu"/>
                <a:sym typeface="Ubuntu"/>
              </a:rPr>
              <a:t>*</a:t>
            </a:r>
            <a:endParaRPr b="0" i="0" sz="25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7" name="Shape 447"/>
        <p:cNvGrpSpPr/>
        <p:nvPr/>
      </p:nvGrpSpPr>
      <p:grpSpPr>
        <a:xfrm>
          <a:off x="0" y="0"/>
          <a:ext cx="0" cy="0"/>
          <a:chOff x="0" y="0"/>
          <a:chExt cx="0" cy="0"/>
        </a:xfrm>
      </p:grpSpPr>
      <p:pic>
        <p:nvPicPr>
          <p:cNvPr id="448" name="Google Shape;448;p58"/>
          <p:cNvPicPr preferRelativeResize="0"/>
          <p:nvPr/>
        </p:nvPicPr>
        <p:blipFill>
          <a:blip r:embed="rId3">
            <a:alphaModFix/>
          </a:blip>
          <a:stretch>
            <a:fillRect/>
          </a:stretch>
        </p:blipFill>
        <p:spPr>
          <a:xfrm>
            <a:off x="4440300" y="1286225"/>
            <a:ext cx="4271674" cy="2468250"/>
          </a:xfrm>
          <a:prstGeom prst="rect">
            <a:avLst/>
          </a:prstGeom>
          <a:noFill/>
          <a:ln>
            <a:noFill/>
          </a:ln>
        </p:spPr>
      </p:pic>
      <p:sp>
        <p:nvSpPr>
          <p:cNvPr id="449" name="Google Shape;449;p58"/>
          <p:cNvSpPr txBox="1"/>
          <p:nvPr>
            <p:ph type="title"/>
          </p:nvPr>
        </p:nvSpPr>
        <p:spPr>
          <a:xfrm>
            <a:off x="323407" y="240992"/>
            <a:ext cx="8497200" cy="409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A web of FAIR data and services</a:t>
            </a:r>
            <a:endParaRPr/>
          </a:p>
        </p:txBody>
      </p:sp>
      <p:sp>
        <p:nvSpPr>
          <p:cNvPr id="450" name="Google Shape;450;p58"/>
          <p:cNvSpPr txBox="1"/>
          <p:nvPr>
            <p:ph idx="4294967295" type="body"/>
          </p:nvPr>
        </p:nvSpPr>
        <p:spPr>
          <a:xfrm>
            <a:off x="293700" y="1105325"/>
            <a:ext cx="4513500" cy="3338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400"/>
              <a:buNone/>
            </a:pPr>
            <a:r>
              <a:rPr b="1" lang="en-GB" sz="2000"/>
              <a:t>“From Gutenberg to Berners–Lee”</a:t>
            </a:r>
            <a:endParaRPr sz="2000"/>
          </a:p>
          <a:p>
            <a:pPr indent="-292100" lvl="0" marL="342900" rtl="0" algn="l">
              <a:lnSpc>
                <a:spcPct val="100000"/>
              </a:lnSpc>
              <a:spcBef>
                <a:spcPts val="800"/>
              </a:spcBef>
              <a:spcAft>
                <a:spcPts val="0"/>
              </a:spcAft>
              <a:buSzPts val="2000"/>
              <a:buChar char="●"/>
            </a:pPr>
            <a:r>
              <a:rPr lang="en-GB" sz="2000"/>
              <a:t>What types of research assets?</a:t>
            </a:r>
            <a:endParaRPr sz="2000"/>
          </a:p>
          <a:p>
            <a:pPr indent="-292100" lvl="0" marL="342900" rtl="0" algn="l">
              <a:lnSpc>
                <a:spcPct val="100000"/>
              </a:lnSpc>
              <a:spcBef>
                <a:spcPts val="800"/>
              </a:spcBef>
              <a:spcAft>
                <a:spcPts val="0"/>
              </a:spcAft>
              <a:buClr>
                <a:srgbClr val="B7B7B7"/>
              </a:buClr>
              <a:buSzPts val="2000"/>
              <a:buChar char="●"/>
            </a:pPr>
            <a:r>
              <a:rPr lang="en-GB" sz="2000">
                <a:solidFill>
                  <a:srgbClr val="B7B7B7"/>
                </a:solidFill>
              </a:rPr>
              <a:t>Where will people be looking?</a:t>
            </a:r>
            <a:endParaRPr sz="2000">
              <a:solidFill>
                <a:srgbClr val="B7B7B7"/>
              </a:solidFill>
            </a:endParaRPr>
          </a:p>
          <a:p>
            <a:pPr indent="-292100" lvl="0" marL="342900" rtl="0" algn="l">
              <a:lnSpc>
                <a:spcPct val="100000"/>
              </a:lnSpc>
              <a:spcBef>
                <a:spcPts val="800"/>
              </a:spcBef>
              <a:spcAft>
                <a:spcPts val="0"/>
              </a:spcAft>
              <a:buClr>
                <a:srgbClr val="B7B7B7"/>
              </a:buClr>
              <a:buSzPts val="2000"/>
              <a:buChar char="●"/>
            </a:pPr>
            <a:r>
              <a:rPr lang="en-GB" sz="2000">
                <a:solidFill>
                  <a:srgbClr val="B7B7B7"/>
                </a:solidFill>
              </a:rPr>
              <a:t>Who should have access?</a:t>
            </a:r>
            <a:endParaRPr sz="2000">
              <a:solidFill>
                <a:srgbClr val="B7B7B7"/>
              </a:solidFill>
            </a:endParaRPr>
          </a:p>
          <a:p>
            <a:pPr indent="-292100" lvl="0" marL="342900" rtl="0" algn="l">
              <a:lnSpc>
                <a:spcPct val="100000"/>
              </a:lnSpc>
              <a:spcBef>
                <a:spcPts val="800"/>
              </a:spcBef>
              <a:spcAft>
                <a:spcPts val="0"/>
              </a:spcAft>
              <a:buClr>
                <a:srgbClr val="B7B7B7"/>
              </a:buClr>
              <a:buSzPts val="2000"/>
              <a:buChar char="●"/>
            </a:pPr>
            <a:r>
              <a:rPr lang="en-GB" sz="2000">
                <a:solidFill>
                  <a:srgbClr val="B7B7B7"/>
                </a:solidFill>
              </a:rPr>
              <a:t>Which standards/specifications?</a:t>
            </a:r>
            <a:endParaRPr sz="2000">
              <a:solidFill>
                <a:srgbClr val="B7B7B7"/>
              </a:solidFill>
            </a:endParaRPr>
          </a:p>
          <a:p>
            <a:pPr indent="-292100" lvl="0" marL="342900" rtl="0" algn="l">
              <a:lnSpc>
                <a:spcPct val="100000"/>
              </a:lnSpc>
              <a:spcBef>
                <a:spcPts val="800"/>
              </a:spcBef>
              <a:spcAft>
                <a:spcPts val="0"/>
              </a:spcAft>
              <a:buClr>
                <a:srgbClr val="B7B7B7"/>
              </a:buClr>
              <a:buSzPts val="2000"/>
              <a:buChar char="●"/>
            </a:pPr>
            <a:r>
              <a:rPr lang="en-GB" sz="2000">
                <a:solidFill>
                  <a:srgbClr val="B7B7B7"/>
                </a:solidFill>
              </a:rPr>
              <a:t>What cross-references and what documentation can you provide?</a:t>
            </a:r>
            <a:br>
              <a:rPr lang="en-GB" sz="2000">
                <a:solidFill>
                  <a:srgbClr val="B7B7B7"/>
                </a:solidFill>
              </a:rPr>
            </a:br>
            <a:r>
              <a:rPr lang="en-GB" sz="2000">
                <a:solidFill>
                  <a:srgbClr val="B7B7B7"/>
                </a:solidFill>
              </a:rPr>
              <a:t>(Rich metadata!)</a:t>
            </a:r>
            <a:endParaRPr sz="2000">
              <a:solidFill>
                <a:srgbClr val="B7B7B7"/>
              </a:solidFill>
            </a:endParaRPr>
          </a:p>
        </p:txBody>
      </p:sp>
      <p:sp>
        <p:nvSpPr>
          <p:cNvPr id="451" name="Google Shape;451;p58"/>
          <p:cNvSpPr txBox="1"/>
          <p:nvPr/>
        </p:nvSpPr>
        <p:spPr>
          <a:xfrm>
            <a:off x="293700" y="693500"/>
            <a:ext cx="8604300" cy="338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en-GB" sz="1000">
                <a:solidFill>
                  <a:schemeClr val="dk1"/>
                </a:solidFill>
                <a:uFill>
                  <a:noFill/>
                </a:uFill>
                <a:hlinkClick r:id="rId4">
                  <a:extLst>
                    <a:ext uri="{A12FA001-AC4F-418D-AE19-62706E023703}">
                      <ahyp:hlinkClr val="tx"/>
                    </a:ext>
                  </a:extLst>
                </a:hlinkClick>
              </a:rPr>
              <a:t>Open Science facets as a beehive</a:t>
            </a:r>
            <a:r>
              <a:rPr lang="en-GB" sz="1000">
                <a:solidFill>
                  <a:schemeClr val="dk1"/>
                </a:solidFill>
              </a:rPr>
              <a:t> by Gema Bueno, CC-BY 4.0, https://www.fosteropenscience.eu/content/what-open-science-introduction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6" name="Shape 456"/>
        <p:cNvGrpSpPr/>
        <p:nvPr/>
      </p:nvGrpSpPr>
      <p:grpSpPr>
        <a:xfrm>
          <a:off x="0" y="0"/>
          <a:ext cx="0" cy="0"/>
          <a:chOff x="0" y="0"/>
          <a:chExt cx="0" cy="0"/>
        </a:xfrm>
      </p:grpSpPr>
      <p:sp>
        <p:nvSpPr>
          <p:cNvPr id="457" name="Google Shape;457;p59"/>
          <p:cNvSpPr txBox="1"/>
          <p:nvPr>
            <p:ph type="title"/>
          </p:nvPr>
        </p:nvSpPr>
        <p:spPr>
          <a:xfrm>
            <a:off x="1587500" y="155463"/>
            <a:ext cx="5334000" cy="4290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50000"/>
              <a:buNone/>
            </a:pPr>
            <a:r>
              <a:rPr lang="en-GB"/>
              <a:t>A web of FAIR data and services</a:t>
            </a:r>
            <a:endParaRPr/>
          </a:p>
        </p:txBody>
      </p:sp>
      <p:sp>
        <p:nvSpPr>
          <p:cNvPr id="458" name="Google Shape;458;p59"/>
          <p:cNvSpPr txBox="1"/>
          <p:nvPr>
            <p:ph idx="4294967295" type="body"/>
          </p:nvPr>
        </p:nvSpPr>
        <p:spPr>
          <a:xfrm>
            <a:off x="293700" y="1105325"/>
            <a:ext cx="4513500" cy="3338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400"/>
              <a:buNone/>
            </a:pPr>
            <a:r>
              <a:rPr b="1" lang="en-GB" sz="2000"/>
              <a:t>“From Gutenberg to Berners–Lee”</a:t>
            </a:r>
            <a:endParaRPr sz="2000"/>
          </a:p>
          <a:p>
            <a:pPr indent="-292100" lvl="0" marL="342900" rtl="0" algn="l">
              <a:lnSpc>
                <a:spcPct val="100000"/>
              </a:lnSpc>
              <a:spcBef>
                <a:spcPts val="800"/>
              </a:spcBef>
              <a:spcAft>
                <a:spcPts val="0"/>
              </a:spcAft>
              <a:buSzPts val="2000"/>
              <a:buChar char="●"/>
            </a:pPr>
            <a:r>
              <a:rPr lang="en-GB"/>
              <a:t>F - </a:t>
            </a:r>
            <a:r>
              <a:rPr lang="en-GB" sz="2000"/>
              <a:t>What types of research assets?</a:t>
            </a:r>
            <a:endParaRPr sz="2000"/>
          </a:p>
          <a:p>
            <a:pPr indent="-292100" lvl="0" marL="342900" rtl="0" algn="l">
              <a:lnSpc>
                <a:spcPct val="100000"/>
              </a:lnSpc>
              <a:spcBef>
                <a:spcPts val="800"/>
              </a:spcBef>
              <a:spcAft>
                <a:spcPts val="0"/>
              </a:spcAft>
              <a:buSzPts val="2000"/>
              <a:buChar char="●"/>
            </a:pPr>
            <a:r>
              <a:rPr lang="en-GB"/>
              <a:t>F - </a:t>
            </a:r>
            <a:r>
              <a:rPr lang="en-GB" sz="2000"/>
              <a:t>Where will people be looking?</a:t>
            </a:r>
            <a:endParaRPr sz="2000"/>
          </a:p>
          <a:p>
            <a:pPr indent="-292100" lvl="0" marL="342900" rtl="0" algn="l">
              <a:lnSpc>
                <a:spcPct val="100000"/>
              </a:lnSpc>
              <a:spcBef>
                <a:spcPts val="800"/>
              </a:spcBef>
              <a:spcAft>
                <a:spcPts val="0"/>
              </a:spcAft>
              <a:buSzPts val="2000"/>
              <a:buChar char="●"/>
            </a:pPr>
            <a:r>
              <a:rPr lang="en-GB" sz="2000"/>
              <a:t>Who should have access?</a:t>
            </a:r>
            <a:endParaRPr sz="2000"/>
          </a:p>
          <a:p>
            <a:pPr indent="-292100" lvl="0" marL="342900" rtl="0" algn="l">
              <a:lnSpc>
                <a:spcPct val="100000"/>
              </a:lnSpc>
              <a:spcBef>
                <a:spcPts val="800"/>
              </a:spcBef>
              <a:spcAft>
                <a:spcPts val="0"/>
              </a:spcAft>
              <a:buClr>
                <a:srgbClr val="B7B7B7"/>
              </a:buClr>
              <a:buSzPts val="2000"/>
              <a:buChar char="●"/>
            </a:pPr>
            <a:r>
              <a:rPr lang="en-GB" sz="2000">
                <a:solidFill>
                  <a:srgbClr val="B7B7B7"/>
                </a:solidFill>
              </a:rPr>
              <a:t>Which standards/specifications?</a:t>
            </a:r>
            <a:endParaRPr sz="2000">
              <a:solidFill>
                <a:srgbClr val="B7B7B7"/>
              </a:solidFill>
            </a:endParaRPr>
          </a:p>
          <a:p>
            <a:pPr indent="-292100" lvl="0" marL="342900" rtl="0" algn="l">
              <a:lnSpc>
                <a:spcPct val="100000"/>
              </a:lnSpc>
              <a:spcBef>
                <a:spcPts val="800"/>
              </a:spcBef>
              <a:spcAft>
                <a:spcPts val="0"/>
              </a:spcAft>
              <a:buClr>
                <a:srgbClr val="B7B7B7"/>
              </a:buClr>
              <a:buSzPts val="2000"/>
              <a:buChar char="●"/>
            </a:pPr>
            <a:r>
              <a:rPr lang="en-GB" sz="2000">
                <a:solidFill>
                  <a:srgbClr val="B7B7B7"/>
                </a:solidFill>
              </a:rPr>
              <a:t>What cross-references and what documentation can you provide?</a:t>
            </a:r>
            <a:br>
              <a:rPr lang="en-GB" sz="2000">
                <a:solidFill>
                  <a:srgbClr val="B7B7B7"/>
                </a:solidFill>
              </a:rPr>
            </a:br>
            <a:r>
              <a:rPr lang="en-GB" sz="2000">
                <a:solidFill>
                  <a:srgbClr val="B7B7B7"/>
                </a:solidFill>
              </a:rPr>
              <a:t>(Rich metadata!)</a:t>
            </a:r>
            <a:endParaRPr sz="2000">
              <a:solidFill>
                <a:srgbClr val="B7B7B7"/>
              </a:solidFill>
            </a:endParaRPr>
          </a:p>
        </p:txBody>
      </p:sp>
      <p:pic>
        <p:nvPicPr>
          <p:cNvPr id="459" name="Google Shape;459;p59"/>
          <p:cNvPicPr preferRelativeResize="0"/>
          <p:nvPr/>
        </p:nvPicPr>
        <p:blipFill rotWithShape="1">
          <a:blip r:embed="rId3">
            <a:alphaModFix/>
          </a:blip>
          <a:srcRect b="0" l="0" r="0" t="0"/>
          <a:stretch/>
        </p:blipFill>
        <p:spPr>
          <a:xfrm>
            <a:off x="4559706" y="997025"/>
            <a:ext cx="4584417" cy="3853974"/>
          </a:xfrm>
          <a:prstGeom prst="rect">
            <a:avLst/>
          </a:prstGeom>
          <a:noFill/>
          <a:ln>
            <a:noFill/>
          </a:ln>
        </p:spPr>
      </p:pic>
      <p:sp>
        <p:nvSpPr>
          <p:cNvPr id="460" name="Google Shape;460;p59"/>
          <p:cNvSpPr txBox="1"/>
          <p:nvPr/>
        </p:nvSpPr>
        <p:spPr>
          <a:xfrm>
            <a:off x="6058900" y="785294"/>
            <a:ext cx="2766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lang="en-GB" sz="1000">
                <a:solidFill>
                  <a:schemeClr val="dk1"/>
                </a:solidFill>
              </a:rPr>
              <a:t>Graph</a:t>
            </a:r>
            <a:r>
              <a:rPr i="0" lang="en-GB" sz="1000" u="none" cap="none" strike="noStrike">
                <a:solidFill>
                  <a:schemeClr val="dk1"/>
                </a:solidFill>
              </a:rPr>
              <a:t>: “PID Graph” from the FREYA project </a:t>
            </a:r>
            <a:endParaRPr i="0" sz="1000" u="none" cap="none" strike="noStrike">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5" name="Shape 465"/>
        <p:cNvGrpSpPr/>
        <p:nvPr/>
      </p:nvGrpSpPr>
      <p:grpSpPr>
        <a:xfrm>
          <a:off x="0" y="0"/>
          <a:ext cx="0" cy="0"/>
          <a:chOff x="0" y="0"/>
          <a:chExt cx="0" cy="0"/>
        </a:xfrm>
      </p:grpSpPr>
      <p:sp>
        <p:nvSpPr>
          <p:cNvPr id="466" name="Google Shape;466;p60"/>
          <p:cNvSpPr txBox="1"/>
          <p:nvPr>
            <p:ph type="title"/>
          </p:nvPr>
        </p:nvSpPr>
        <p:spPr>
          <a:xfrm>
            <a:off x="323407" y="240992"/>
            <a:ext cx="8497200" cy="409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A web of FAIR data and services</a:t>
            </a:r>
            <a:endParaRPr/>
          </a:p>
        </p:txBody>
      </p:sp>
      <p:sp>
        <p:nvSpPr>
          <p:cNvPr id="467" name="Google Shape;467;p60"/>
          <p:cNvSpPr txBox="1"/>
          <p:nvPr>
            <p:ph idx="4294967295" type="body"/>
          </p:nvPr>
        </p:nvSpPr>
        <p:spPr>
          <a:xfrm>
            <a:off x="293700" y="1105325"/>
            <a:ext cx="4513500" cy="3338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400"/>
              <a:buNone/>
            </a:pPr>
            <a:r>
              <a:rPr b="1" lang="en-GB" sz="2000"/>
              <a:t>“From Gutenberg to Berners–Lee”</a:t>
            </a:r>
            <a:endParaRPr sz="2000"/>
          </a:p>
          <a:p>
            <a:pPr indent="-292100" lvl="0" marL="342900" rtl="0" algn="l">
              <a:lnSpc>
                <a:spcPct val="100000"/>
              </a:lnSpc>
              <a:spcBef>
                <a:spcPts val="800"/>
              </a:spcBef>
              <a:spcAft>
                <a:spcPts val="0"/>
              </a:spcAft>
              <a:buSzPts val="2000"/>
              <a:buChar char="●"/>
            </a:pPr>
            <a:r>
              <a:rPr lang="en-GB" sz="2000"/>
              <a:t>What types of research assets?</a:t>
            </a:r>
            <a:endParaRPr sz="2000"/>
          </a:p>
          <a:p>
            <a:pPr indent="-292100" lvl="0" marL="342900" rtl="0" algn="l">
              <a:lnSpc>
                <a:spcPct val="100000"/>
              </a:lnSpc>
              <a:spcBef>
                <a:spcPts val="800"/>
              </a:spcBef>
              <a:spcAft>
                <a:spcPts val="0"/>
              </a:spcAft>
              <a:buSzPts val="2000"/>
              <a:buChar char="●"/>
            </a:pPr>
            <a:r>
              <a:rPr lang="en-GB" sz="2000"/>
              <a:t>Where will people be looking?</a:t>
            </a:r>
            <a:endParaRPr sz="2000"/>
          </a:p>
          <a:p>
            <a:pPr indent="-292100" lvl="0" marL="342900" rtl="0" algn="l">
              <a:lnSpc>
                <a:spcPct val="100000"/>
              </a:lnSpc>
              <a:spcBef>
                <a:spcPts val="800"/>
              </a:spcBef>
              <a:spcAft>
                <a:spcPts val="0"/>
              </a:spcAft>
              <a:buSzPts val="2000"/>
              <a:buChar char="●"/>
            </a:pPr>
            <a:r>
              <a:rPr lang="en-GB" sz="2000"/>
              <a:t>Who should have access?</a:t>
            </a:r>
            <a:endParaRPr sz="2000"/>
          </a:p>
          <a:p>
            <a:pPr indent="-292100" lvl="0" marL="342900" rtl="0" algn="l">
              <a:lnSpc>
                <a:spcPct val="100000"/>
              </a:lnSpc>
              <a:spcBef>
                <a:spcPts val="800"/>
              </a:spcBef>
              <a:spcAft>
                <a:spcPts val="0"/>
              </a:spcAft>
              <a:buSzPts val="2000"/>
              <a:buChar char="●"/>
            </a:pPr>
            <a:r>
              <a:rPr lang="en-GB" sz="2000"/>
              <a:t>Which standards/specifications?</a:t>
            </a:r>
            <a:endParaRPr sz="2000"/>
          </a:p>
          <a:p>
            <a:pPr indent="-292100" lvl="0" marL="342900" rtl="0" algn="l">
              <a:lnSpc>
                <a:spcPct val="100000"/>
              </a:lnSpc>
              <a:spcBef>
                <a:spcPts val="800"/>
              </a:spcBef>
              <a:spcAft>
                <a:spcPts val="0"/>
              </a:spcAft>
              <a:buSzPts val="2000"/>
              <a:buChar char="●"/>
            </a:pPr>
            <a:r>
              <a:rPr lang="en-GB" sz="2000"/>
              <a:t>What cross-references and what documentation can you provide?</a:t>
            </a:r>
            <a:br>
              <a:rPr lang="en-GB" sz="2000"/>
            </a:br>
            <a:r>
              <a:rPr lang="en-GB" sz="2000"/>
              <a:t>(Rich metadata!)</a:t>
            </a:r>
            <a:endParaRPr sz="2000"/>
          </a:p>
        </p:txBody>
      </p:sp>
      <p:pic>
        <p:nvPicPr>
          <p:cNvPr id="468" name="Google Shape;468;p60"/>
          <p:cNvPicPr preferRelativeResize="0"/>
          <p:nvPr/>
        </p:nvPicPr>
        <p:blipFill rotWithShape="1">
          <a:blip r:embed="rId3">
            <a:alphaModFix/>
          </a:blip>
          <a:srcRect b="0" l="0" r="0" t="0"/>
          <a:stretch/>
        </p:blipFill>
        <p:spPr>
          <a:xfrm>
            <a:off x="4559706" y="997025"/>
            <a:ext cx="4584417" cy="3853974"/>
          </a:xfrm>
          <a:prstGeom prst="rect">
            <a:avLst/>
          </a:prstGeom>
          <a:noFill/>
          <a:ln>
            <a:noFill/>
          </a:ln>
        </p:spPr>
      </p:pic>
      <p:sp>
        <p:nvSpPr>
          <p:cNvPr id="469" name="Google Shape;469;p60"/>
          <p:cNvSpPr txBox="1"/>
          <p:nvPr/>
        </p:nvSpPr>
        <p:spPr>
          <a:xfrm>
            <a:off x="6058900" y="785294"/>
            <a:ext cx="2766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lang="en-GB" sz="1000">
                <a:solidFill>
                  <a:schemeClr val="dk1"/>
                </a:solidFill>
              </a:rPr>
              <a:t>Graph</a:t>
            </a:r>
            <a:r>
              <a:rPr i="0" lang="en-GB" sz="1000" u="none" cap="none" strike="noStrike">
                <a:solidFill>
                  <a:schemeClr val="dk1"/>
                </a:solidFill>
              </a:rPr>
              <a:t>: “PID Graph” from the FREYA project </a:t>
            </a:r>
            <a:endParaRPr i="0" sz="1000" u="none" cap="none" strike="noStrike">
              <a:solidFill>
                <a:schemeClr val="dk1"/>
              </a:solidFill>
            </a:endParaRPr>
          </a:p>
        </p:txBody>
      </p:sp>
      <p:grpSp>
        <p:nvGrpSpPr>
          <p:cNvPr id="470" name="Google Shape;470;p60"/>
          <p:cNvGrpSpPr/>
          <p:nvPr/>
        </p:nvGrpSpPr>
        <p:grpSpPr>
          <a:xfrm>
            <a:off x="5306155" y="1597114"/>
            <a:ext cx="3228000" cy="3516675"/>
            <a:chOff x="-1" y="1597114"/>
            <a:chExt cx="3228000" cy="3516675"/>
          </a:xfrm>
        </p:grpSpPr>
        <p:pic>
          <p:nvPicPr>
            <p:cNvPr id="471" name="Google Shape;471;p60"/>
            <p:cNvPicPr preferRelativeResize="0"/>
            <p:nvPr/>
          </p:nvPicPr>
          <p:blipFill rotWithShape="1">
            <a:blip r:embed="rId4">
              <a:alphaModFix/>
            </a:blip>
            <a:srcRect b="0" l="0" r="0" t="0"/>
            <a:stretch/>
          </p:blipFill>
          <p:spPr>
            <a:xfrm>
              <a:off x="322454" y="2898847"/>
              <a:ext cx="973764" cy="1814742"/>
            </a:xfrm>
            <a:prstGeom prst="rect">
              <a:avLst/>
            </a:prstGeom>
            <a:noFill/>
            <a:ln>
              <a:noFill/>
            </a:ln>
          </p:spPr>
        </p:pic>
        <p:sp>
          <p:nvSpPr>
            <p:cNvPr id="472" name="Google Shape;472;p60"/>
            <p:cNvSpPr/>
            <p:nvPr/>
          </p:nvSpPr>
          <p:spPr>
            <a:xfrm>
              <a:off x="-1" y="4713589"/>
              <a:ext cx="322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000" u="none" cap="none" strike="noStrike">
                  <a:solidFill>
                    <a:schemeClr val="dk1"/>
                  </a:solidFill>
                  <a:latin typeface="Arial"/>
                  <a:ea typeface="Arial"/>
                  <a:cs typeface="Arial"/>
                  <a:sym typeface="Arial"/>
                </a:rPr>
                <a:t>Ro</a:t>
              </a:r>
              <a:r>
                <a:rPr lang="en-GB" sz="1000">
                  <a:solidFill>
                    <a:schemeClr val="dk1"/>
                  </a:solidFill>
                </a:rPr>
                <a:t>b</a:t>
              </a:r>
              <a:r>
                <a:rPr b="0" i="0" lang="en-GB" sz="1000" u="none" cap="none" strike="noStrike">
                  <a:solidFill>
                    <a:schemeClr val="dk1"/>
                  </a:solidFill>
                  <a:latin typeface="Arial"/>
                  <a:ea typeface="Arial"/>
                  <a:cs typeface="Arial"/>
                  <a:sym typeface="Arial"/>
                </a:rPr>
                <a:t>ot: MetaManMachine by Nikola Vasiljevic (2021), CC BY-SA 4.0, doi:10.5281/zenodo.4471098</a:t>
              </a:r>
              <a:endParaRPr sz="1400">
                <a:solidFill>
                  <a:schemeClr val="dk1"/>
                </a:solidFill>
              </a:endParaRPr>
            </a:p>
          </p:txBody>
        </p:sp>
        <p:sp>
          <p:nvSpPr>
            <p:cNvPr id="473" name="Google Shape;473;p60"/>
            <p:cNvSpPr/>
            <p:nvPr/>
          </p:nvSpPr>
          <p:spPr>
            <a:xfrm rot="9976565">
              <a:off x="112931" y="1796245"/>
              <a:ext cx="1809015" cy="1082873"/>
            </a:xfrm>
            <a:custGeom>
              <a:rect b="b" l="l" r="r" t="t"/>
              <a:pathLst>
                <a:path extrusionOk="0" h="1081704" w="1807062">
                  <a:moveTo>
                    <a:pt x="1535982" y="1078121"/>
                  </a:moveTo>
                  <a:lnTo>
                    <a:pt x="94369" y="724997"/>
                  </a:lnTo>
                  <a:cubicBezTo>
                    <a:pt x="27963" y="708731"/>
                    <a:pt x="-12683" y="641712"/>
                    <a:pt x="3583" y="575306"/>
                  </a:cubicBezTo>
                  <a:lnTo>
                    <a:pt x="121389" y="94369"/>
                  </a:lnTo>
                  <a:cubicBezTo>
                    <a:pt x="137655" y="27963"/>
                    <a:pt x="204674" y="-12683"/>
                    <a:pt x="271080" y="3583"/>
                  </a:cubicBezTo>
                  <a:lnTo>
                    <a:pt x="1416642" y="284190"/>
                  </a:lnTo>
                  <a:lnTo>
                    <a:pt x="1503408" y="25200"/>
                  </a:lnTo>
                  <a:lnTo>
                    <a:pt x="1605687" y="330496"/>
                  </a:lnTo>
                  <a:lnTo>
                    <a:pt x="1712693" y="356707"/>
                  </a:lnTo>
                  <a:cubicBezTo>
                    <a:pt x="1779099" y="372974"/>
                    <a:pt x="1819745" y="439992"/>
                    <a:pt x="1803479" y="506398"/>
                  </a:cubicBezTo>
                  <a:lnTo>
                    <a:pt x="1685673" y="987335"/>
                  </a:lnTo>
                  <a:cubicBezTo>
                    <a:pt x="1669407" y="1053741"/>
                    <a:pt x="1602388" y="1094387"/>
                    <a:pt x="1535982" y="1078121"/>
                  </a:cubicBezTo>
                  <a:close/>
                </a:path>
              </a:pathLst>
            </a:custGeom>
            <a:solidFill>
              <a:schemeClr val="lt1"/>
            </a:solidFill>
            <a:ln>
              <a:noFill/>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4" name="Google Shape;474;p60"/>
            <p:cNvSpPr txBox="1"/>
            <p:nvPr/>
          </p:nvSpPr>
          <p:spPr>
            <a:xfrm>
              <a:off x="149881" y="2022543"/>
              <a:ext cx="16953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700" u="none" cap="none" strike="noStrike">
                  <a:solidFill>
                    <a:srgbClr val="000000"/>
                  </a:solidFill>
                  <a:latin typeface="Lucida Sans"/>
                  <a:ea typeface="Lucida Sans"/>
                  <a:cs typeface="Lucida Sans"/>
                  <a:sym typeface="Lucida Sans"/>
                </a:rPr>
                <a:t>Works with my software</a:t>
              </a:r>
              <a:endParaRPr sz="1400"/>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8" name="Shape 478"/>
        <p:cNvGrpSpPr/>
        <p:nvPr/>
      </p:nvGrpSpPr>
      <p:grpSpPr>
        <a:xfrm>
          <a:off x="0" y="0"/>
          <a:ext cx="0" cy="0"/>
          <a:chOff x="0" y="0"/>
          <a:chExt cx="0" cy="0"/>
        </a:xfrm>
      </p:grpSpPr>
      <p:sp>
        <p:nvSpPr>
          <p:cNvPr id="479" name="Google Shape;479;p61"/>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Metadata in the Data Life Cycle</a:t>
            </a:r>
            <a:endParaRPr/>
          </a:p>
        </p:txBody>
      </p:sp>
      <p:pic>
        <p:nvPicPr>
          <p:cNvPr id="480" name="Google Shape;480;p61"/>
          <p:cNvPicPr preferRelativeResize="0"/>
          <p:nvPr/>
        </p:nvPicPr>
        <p:blipFill>
          <a:blip r:embed="rId3">
            <a:alphaModFix/>
          </a:blip>
          <a:stretch>
            <a:fillRect/>
          </a:stretch>
        </p:blipFill>
        <p:spPr>
          <a:xfrm>
            <a:off x="2362000" y="880400"/>
            <a:ext cx="3618427" cy="3621026"/>
          </a:xfrm>
          <a:prstGeom prst="rect">
            <a:avLst/>
          </a:prstGeom>
          <a:noFill/>
          <a:ln>
            <a:noFill/>
          </a:ln>
        </p:spPr>
      </p:pic>
      <p:sp>
        <p:nvSpPr>
          <p:cNvPr id="481" name="Google Shape;481;p61"/>
          <p:cNvSpPr txBox="1"/>
          <p:nvPr/>
        </p:nvSpPr>
        <p:spPr>
          <a:xfrm>
            <a:off x="5411650" y="880400"/>
            <a:ext cx="255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Determine what metadata is needed for doing the project and sharing data</a:t>
            </a:r>
            <a:endParaRPr sz="1100"/>
          </a:p>
        </p:txBody>
      </p:sp>
      <p:sp>
        <p:nvSpPr>
          <p:cNvPr id="482" name="Google Shape;482;p61"/>
          <p:cNvSpPr txBox="1"/>
          <p:nvPr/>
        </p:nvSpPr>
        <p:spPr>
          <a:xfrm>
            <a:off x="6105700" y="2048550"/>
            <a:ext cx="141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Collecting metadata</a:t>
            </a:r>
            <a:endParaRPr sz="1100"/>
          </a:p>
        </p:txBody>
      </p:sp>
      <p:sp>
        <p:nvSpPr>
          <p:cNvPr id="483" name="Google Shape;483;p61"/>
          <p:cNvSpPr txBox="1"/>
          <p:nvPr/>
        </p:nvSpPr>
        <p:spPr>
          <a:xfrm>
            <a:off x="1722625" y="3664550"/>
            <a:ext cx="87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Describing </a:t>
            </a:r>
            <a:endParaRPr sz="1100"/>
          </a:p>
          <a:p>
            <a:pPr indent="0" lvl="0" marL="0" rtl="0" algn="l">
              <a:spcBef>
                <a:spcPts val="0"/>
              </a:spcBef>
              <a:spcAft>
                <a:spcPts val="0"/>
              </a:spcAft>
              <a:buNone/>
            </a:pPr>
            <a:r>
              <a:rPr lang="en-GB" sz="1100"/>
              <a:t>datasets</a:t>
            </a:r>
            <a:endParaRPr sz="1100"/>
          </a:p>
        </p:txBody>
      </p:sp>
      <p:sp>
        <p:nvSpPr>
          <p:cNvPr id="484" name="Google Shape;484;p61"/>
          <p:cNvSpPr txBox="1"/>
          <p:nvPr/>
        </p:nvSpPr>
        <p:spPr>
          <a:xfrm>
            <a:off x="3384000" y="4545950"/>
            <a:ext cx="1574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Using metadata to perform analysis</a:t>
            </a:r>
            <a:endParaRPr sz="1100"/>
          </a:p>
        </p:txBody>
      </p:sp>
      <p:sp>
        <p:nvSpPr>
          <p:cNvPr id="485" name="Google Shape;485;p61"/>
          <p:cNvSpPr txBox="1"/>
          <p:nvPr/>
        </p:nvSpPr>
        <p:spPr>
          <a:xfrm>
            <a:off x="1484500" y="1862913"/>
            <a:ext cx="87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Describing datasets</a:t>
            </a:r>
            <a:endParaRPr sz="1100"/>
          </a:p>
        </p:txBody>
      </p:sp>
      <p:sp>
        <p:nvSpPr>
          <p:cNvPr id="486" name="Google Shape;486;p61"/>
          <p:cNvSpPr txBox="1"/>
          <p:nvPr/>
        </p:nvSpPr>
        <p:spPr>
          <a:xfrm>
            <a:off x="2043650" y="839750"/>
            <a:ext cx="1123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Understanding datasets</a:t>
            </a:r>
            <a:endParaRPr sz="1100"/>
          </a:p>
        </p:txBody>
      </p:sp>
      <p:sp>
        <p:nvSpPr>
          <p:cNvPr id="487" name="Google Shape;487;p61"/>
          <p:cNvSpPr txBox="1"/>
          <p:nvPr/>
        </p:nvSpPr>
        <p:spPr>
          <a:xfrm>
            <a:off x="5803075" y="3501025"/>
            <a:ext cx="1656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Organising metadata in appropriate format(s)</a:t>
            </a:r>
            <a:endParaRPr sz="1100"/>
          </a:p>
        </p:txBody>
      </p:sp>
      <p:sp>
        <p:nvSpPr>
          <p:cNvPr id="488" name="Google Shape;488;p61"/>
          <p:cNvSpPr txBox="1"/>
          <p:nvPr/>
        </p:nvSpPr>
        <p:spPr>
          <a:xfrm>
            <a:off x="6227575" y="4622900"/>
            <a:ext cx="2507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200">
                <a:solidFill>
                  <a:srgbClr val="0088CC"/>
                </a:solidFill>
                <a:highlight>
                  <a:srgbClr val="FFFFFF"/>
                </a:highlight>
                <a:uFill>
                  <a:noFill/>
                </a:uFill>
                <a:latin typeface="Helvetica Neue"/>
                <a:ea typeface="Helvetica Neue"/>
                <a:cs typeface="Helvetica Neue"/>
                <a:sym typeface="Helvetica Neue"/>
                <a:hlinkClick r:id="rId4">
                  <a:extLst>
                    <a:ext uri="{A12FA001-AC4F-418D-AE19-62706E023703}">
                      <ahyp:hlinkClr val="tx"/>
                    </a:ext>
                  </a:extLst>
                </a:hlinkClick>
              </a:rPr>
              <a:t>RDM life cycle, by ELIXIR RDMkit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2" name="Shape 492"/>
        <p:cNvGrpSpPr/>
        <p:nvPr/>
      </p:nvGrpSpPr>
      <p:grpSpPr>
        <a:xfrm>
          <a:off x="0" y="0"/>
          <a:ext cx="0" cy="0"/>
          <a:chOff x="0" y="0"/>
          <a:chExt cx="0" cy="0"/>
        </a:xfrm>
      </p:grpSpPr>
      <p:pic>
        <p:nvPicPr>
          <p:cNvPr id="493" name="Google Shape;493;p62"/>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494" name="Google Shape;494;p62"/>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495" name="Google Shape;495;p62"/>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496" name="Google Shape;496;p62"/>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497" name="Google Shape;497;p62"/>
          <p:cNvSpPr/>
          <p:nvPr/>
        </p:nvSpPr>
        <p:spPr>
          <a:xfrm>
            <a:off x="1474825" y="2317875"/>
            <a:ext cx="12708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Sampling </a:t>
            </a:r>
            <a:br>
              <a:rPr b="0" i="0" lang="en-GB" sz="1200" u="none" cap="none" strike="noStrike">
                <a:solidFill>
                  <a:srgbClr val="CCCCCC"/>
                </a:solidFill>
                <a:latin typeface="Arial"/>
                <a:ea typeface="Arial"/>
                <a:cs typeface="Arial"/>
                <a:sym typeface="Arial"/>
              </a:rPr>
            </a:br>
            <a:r>
              <a:rPr lang="en-GB" sz="1200">
                <a:solidFill>
                  <a:srgbClr val="CCCCCC"/>
                </a:solidFill>
              </a:rPr>
              <a:t>&amp;</a:t>
            </a:r>
            <a:r>
              <a:rPr b="0" i="0" lang="en-GB" sz="1200" u="none" cap="none" strike="noStrike">
                <a:solidFill>
                  <a:srgbClr val="CCCCCC"/>
                </a:solidFill>
                <a:latin typeface="Arial"/>
                <a:ea typeface="Arial"/>
                <a:cs typeface="Arial"/>
                <a:sym typeface="Arial"/>
              </a:rPr>
              <a:t> specimen collection</a:t>
            </a:r>
            <a:endParaRPr b="0" i="0" sz="1200" u="none" cap="none" strike="noStrike">
              <a:solidFill>
                <a:srgbClr val="CCCCCC"/>
              </a:solidFill>
              <a:latin typeface="Arial"/>
              <a:ea typeface="Arial"/>
              <a:cs typeface="Arial"/>
              <a:sym typeface="Arial"/>
            </a:endParaRPr>
          </a:p>
        </p:txBody>
      </p:sp>
      <p:sp>
        <p:nvSpPr>
          <p:cNvPr id="498" name="Google Shape;498;p62"/>
          <p:cNvSpPr/>
          <p:nvPr/>
        </p:nvSpPr>
        <p:spPr>
          <a:xfrm>
            <a:off x="2793100" y="2317875"/>
            <a:ext cx="10722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Sample preparation </a:t>
            </a:r>
            <a:endParaRPr b="0" i="0" sz="1200" u="none" cap="none" strike="noStrike">
              <a:solidFill>
                <a:srgbClr val="CCCCCC"/>
              </a:solidFill>
              <a:latin typeface="Arial"/>
              <a:ea typeface="Arial"/>
              <a:cs typeface="Arial"/>
              <a:sym typeface="Arial"/>
            </a:endParaRPr>
          </a:p>
        </p:txBody>
      </p:sp>
      <p:sp>
        <p:nvSpPr>
          <p:cNvPr id="499" name="Google Shape;499;p62"/>
          <p:cNvSpPr/>
          <p:nvPr/>
        </p:nvSpPr>
        <p:spPr>
          <a:xfrm>
            <a:off x="3908350" y="2317875"/>
            <a:ext cx="12978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Sample analysis </a:t>
            </a:r>
            <a:r>
              <a:rPr lang="en-GB" sz="1200">
                <a:solidFill>
                  <a:srgbClr val="CCCCCC"/>
                </a:solidFill>
              </a:rPr>
              <a:t>&amp;</a:t>
            </a:r>
            <a:r>
              <a:rPr b="0" i="0" lang="en-GB" sz="1200" u="none" cap="none" strike="noStrike">
                <a:solidFill>
                  <a:srgbClr val="CCCCCC"/>
                </a:solidFill>
                <a:latin typeface="Arial"/>
                <a:ea typeface="Arial"/>
                <a:cs typeface="Arial"/>
                <a:sym typeface="Arial"/>
              </a:rPr>
              <a:t> data generation </a:t>
            </a:r>
            <a:endParaRPr b="0" i="0" sz="1200" u="none" cap="none" strike="noStrike">
              <a:solidFill>
                <a:srgbClr val="CCCCCC"/>
              </a:solidFill>
              <a:latin typeface="Arial"/>
              <a:ea typeface="Arial"/>
              <a:cs typeface="Arial"/>
              <a:sym typeface="Arial"/>
            </a:endParaRPr>
          </a:p>
        </p:txBody>
      </p:sp>
      <p:sp>
        <p:nvSpPr>
          <p:cNvPr id="500" name="Google Shape;500;p62"/>
          <p:cNvSpPr/>
          <p:nvPr/>
        </p:nvSpPr>
        <p:spPr>
          <a:xfrm>
            <a:off x="5249200" y="2317875"/>
            <a:ext cx="13326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Data processing to prepare inputs for analysis </a:t>
            </a:r>
            <a:endParaRPr b="0" i="0" sz="1200" u="none" cap="none" strike="noStrike">
              <a:solidFill>
                <a:srgbClr val="CCCCCC"/>
              </a:solidFill>
              <a:latin typeface="Arial"/>
              <a:ea typeface="Arial"/>
              <a:cs typeface="Arial"/>
              <a:sym typeface="Arial"/>
            </a:endParaRPr>
          </a:p>
        </p:txBody>
      </p:sp>
      <p:sp>
        <p:nvSpPr>
          <p:cNvPr id="501" name="Google Shape;501;p62"/>
          <p:cNvSpPr/>
          <p:nvPr/>
        </p:nvSpPr>
        <p:spPr>
          <a:xfrm>
            <a:off x="6627850" y="2317875"/>
            <a:ext cx="9225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Data analysis</a:t>
            </a:r>
            <a:endParaRPr b="0" i="0" sz="1200" u="none" cap="none" strike="noStrike">
              <a:solidFill>
                <a:srgbClr val="CCCCCC"/>
              </a:solidFill>
              <a:latin typeface="Arial"/>
              <a:ea typeface="Arial"/>
              <a:cs typeface="Arial"/>
              <a:sym typeface="Arial"/>
            </a:endParaRPr>
          </a:p>
        </p:txBody>
      </p:sp>
      <p:sp>
        <p:nvSpPr>
          <p:cNvPr id="502" name="Google Shape;502;p62"/>
          <p:cNvSpPr/>
          <p:nvPr/>
        </p:nvSpPr>
        <p:spPr>
          <a:xfrm>
            <a:off x="7593400" y="2317875"/>
            <a:ext cx="11856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Communicating results</a:t>
            </a:r>
            <a:endParaRPr b="0" i="0" sz="1200" u="none" cap="none" strike="noStrike">
              <a:solidFill>
                <a:srgbClr val="CCCCCC"/>
              </a:solidFill>
              <a:latin typeface="Arial"/>
              <a:ea typeface="Arial"/>
              <a:cs typeface="Arial"/>
              <a:sym typeface="Arial"/>
            </a:endParaRPr>
          </a:p>
        </p:txBody>
      </p:sp>
      <p:sp>
        <p:nvSpPr>
          <p:cNvPr id="503" name="Google Shape;503;p62"/>
          <p:cNvSpPr txBox="1"/>
          <p:nvPr/>
        </p:nvSpPr>
        <p:spPr>
          <a:xfrm>
            <a:off x="268125" y="3130700"/>
            <a:ext cx="11856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t/>
            </a:r>
            <a:endParaRPr sz="1300"/>
          </a:p>
        </p:txBody>
      </p:sp>
      <p:sp>
        <p:nvSpPr>
          <p:cNvPr id="504" name="Google Shape;504;p62"/>
          <p:cNvSpPr txBox="1"/>
          <p:nvPr/>
        </p:nvSpPr>
        <p:spPr>
          <a:xfrm>
            <a:off x="1434225" y="3130700"/>
            <a:ext cx="30384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CCCCCC"/>
                </a:solidFill>
              </a:rPr>
              <a:t>Biosamples and instruments</a:t>
            </a:r>
            <a:br>
              <a:rPr lang="en-GB" sz="1000">
                <a:solidFill>
                  <a:srgbClr val="CCCCCC"/>
                </a:solidFill>
              </a:rPr>
            </a:br>
            <a:endParaRPr sz="1300">
              <a:solidFill>
                <a:srgbClr val="CCCCCC"/>
              </a:solidFill>
            </a:endParaRPr>
          </a:p>
        </p:txBody>
      </p:sp>
      <p:sp>
        <p:nvSpPr>
          <p:cNvPr id="505" name="Google Shape;505;p62"/>
          <p:cNvSpPr/>
          <p:nvPr/>
        </p:nvSpPr>
        <p:spPr>
          <a:xfrm>
            <a:off x="1434223" y="3043557"/>
            <a:ext cx="3089100" cy="53700"/>
          </a:xfrm>
          <a:prstGeom prst="rect">
            <a:avLst/>
          </a:prstGeom>
          <a:solidFill>
            <a:srgbClr val="EFEFE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CCCCCC"/>
              </a:solidFill>
              <a:latin typeface="Arial"/>
              <a:ea typeface="Arial"/>
              <a:cs typeface="Arial"/>
              <a:sym typeface="Arial"/>
            </a:endParaRPr>
          </a:p>
        </p:txBody>
      </p:sp>
      <p:sp>
        <p:nvSpPr>
          <p:cNvPr id="506" name="Google Shape;506;p62"/>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507" name="Google Shape;507;p62"/>
          <p:cNvSpPr/>
          <p:nvPr/>
        </p:nvSpPr>
        <p:spPr>
          <a:xfrm>
            <a:off x="4603283" y="3043557"/>
            <a:ext cx="3089100" cy="53700"/>
          </a:xfrm>
          <a:prstGeom prst="rect">
            <a:avLst/>
          </a:prstGeom>
          <a:solidFill>
            <a:srgbClr val="EFEFE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CCCCCC"/>
              </a:solidFill>
              <a:latin typeface="Arial"/>
              <a:ea typeface="Arial"/>
              <a:cs typeface="Arial"/>
              <a:sym typeface="Arial"/>
            </a:endParaRPr>
          </a:p>
        </p:txBody>
      </p:sp>
      <p:sp>
        <p:nvSpPr>
          <p:cNvPr id="508" name="Google Shape;508;p62"/>
          <p:cNvSpPr txBox="1"/>
          <p:nvPr/>
        </p:nvSpPr>
        <p:spPr>
          <a:xfrm>
            <a:off x="4603275" y="3130700"/>
            <a:ext cx="32103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CCCCCC"/>
                </a:solidFill>
              </a:rPr>
              <a:t>Data and computational workflows</a:t>
            </a:r>
            <a:endParaRPr b="1" sz="1400">
              <a:solidFill>
                <a:srgbClr val="CCCCCC"/>
              </a:solidFill>
            </a:endParaRPr>
          </a:p>
          <a:p>
            <a:pPr indent="0" lvl="0" marL="0" rtl="0" algn="l">
              <a:spcBef>
                <a:spcPts val="0"/>
              </a:spcBef>
              <a:spcAft>
                <a:spcPts val="0"/>
              </a:spcAft>
              <a:buNone/>
            </a:pPr>
            <a:r>
              <a:t/>
            </a:r>
            <a:endParaRPr b="1" sz="1400">
              <a:solidFill>
                <a:srgbClr val="CCCCCC"/>
              </a:solidFill>
            </a:endParaRPr>
          </a:p>
        </p:txBody>
      </p:sp>
      <p:sp>
        <p:nvSpPr>
          <p:cNvPr id="509" name="Google Shape;509;p62"/>
          <p:cNvSpPr/>
          <p:nvPr/>
        </p:nvSpPr>
        <p:spPr>
          <a:xfrm>
            <a:off x="7772350" y="3043550"/>
            <a:ext cx="968100" cy="55500"/>
          </a:xfrm>
          <a:prstGeom prst="rect">
            <a:avLst/>
          </a:prstGeom>
          <a:solidFill>
            <a:srgbClr val="EFEFE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CCCCCC"/>
              </a:solidFill>
              <a:latin typeface="Arial"/>
              <a:ea typeface="Arial"/>
              <a:cs typeface="Arial"/>
              <a:sym typeface="Arial"/>
            </a:endParaRPr>
          </a:p>
        </p:txBody>
      </p:sp>
      <p:sp>
        <p:nvSpPr>
          <p:cNvPr id="510" name="Google Shape;510;p62"/>
          <p:cNvSpPr txBox="1"/>
          <p:nvPr/>
        </p:nvSpPr>
        <p:spPr>
          <a:xfrm>
            <a:off x="7734775" y="3130725"/>
            <a:ext cx="118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CCCCCC"/>
                </a:solidFill>
              </a:rPr>
              <a:t>Outputs</a:t>
            </a:r>
            <a:endParaRPr b="1" sz="1400">
              <a:solidFill>
                <a:srgbClr val="CCCCCC"/>
              </a:solidFill>
            </a:endParaRPr>
          </a:p>
          <a:p>
            <a:pPr indent="0" lvl="0" marL="0" marR="0" rtl="0" algn="l">
              <a:lnSpc>
                <a:spcPct val="100000"/>
              </a:lnSpc>
              <a:spcBef>
                <a:spcPts val="0"/>
              </a:spcBef>
              <a:spcAft>
                <a:spcPts val="0"/>
              </a:spcAft>
              <a:buNone/>
            </a:pPr>
            <a:r>
              <a:t/>
            </a:r>
            <a:endParaRPr b="0" i="0" sz="1000" u="none" cap="none" strike="noStrike">
              <a:solidFill>
                <a:srgbClr val="CCCCCC"/>
              </a:solidFill>
              <a:latin typeface="Arial"/>
              <a:ea typeface="Arial"/>
              <a:cs typeface="Arial"/>
              <a:sym typeface="Arial"/>
            </a:endParaRPr>
          </a:p>
        </p:txBody>
      </p:sp>
      <p:pic>
        <p:nvPicPr>
          <p:cNvPr id="511" name="Google Shape;511;p62"/>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512" name="Google Shape;512;p62"/>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513" name="Google Shape;513;p62"/>
          <p:cNvGrpSpPr/>
          <p:nvPr/>
        </p:nvGrpSpPr>
        <p:grpSpPr>
          <a:xfrm>
            <a:off x="5546173" y="996742"/>
            <a:ext cx="968204" cy="968204"/>
            <a:chOff x="6079573" y="996742"/>
            <a:chExt cx="968204" cy="968204"/>
          </a:xfrm>
        </p:grpSpPr>
        <p:pic>
          <p:nvPicPr>
            <p:cNvPr descr="Desktop computer vector image with flat screen" id="514" name="Google Shape;514;p62"/>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515" name="Google Shape;515;p62"/>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516" name="Google Shape;516;p62"/>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517" name="Google Shape;517;p62"/>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518" name="Google Shape;518;p62"/>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519" name="Google Shape;519;p62"/>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520" name="Google Shape;520;p62"/>
          <p:cNvGrpSpPr/>
          <p:nvPr/>
        </p:nvGrpSpPr>
        <p:grpSpPr>
          <a:xfrm>
            <a:off x="8126767" y="962465"/>
            <a:ext cx="623046" cy="1205706"/>
            <a:chOff x="7845504" y="1416558"/>
            <a:chExt cx="1131782" cy="2190201"/>
          </a:xfrm>
        </p:grpSpPr>
        <p:pic>
          <p:nvPicPr>
            <p:cNvPr id="521" name="Google Shape;521;p62"/>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522" name="Google Shape;522;p62"/>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523" name="Google Shape;523;p62"/>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524" name="Google Shape;524;p62"/>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525" name="Google Shape;525;p62"/>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526" name="Google Shape;526;p62"/>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527" name="Google Shape;527;p62"/>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528" name="Google Shape;528;p62"/>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529" name="Google Shape;529;p62"/>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530" name="Google Shape;530;p62"/>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531" name="Google Shape;531;p62"/>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532" name="Google Shape;532;p62"/>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
        <p:nvSpPr>
          <p:cNvPr id="533" name="Google Shape;533;p62"/>
          <p:cNvSpPr/>
          <p:nvPr/>
        </p:nvSpPr>
        <p:spPr>
          <a:xfrm>
            <a:off x="232397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1000">
                <a:solidFill>
                  <a:srgbClr val="CCCCCC"/>
                </a:solidFill>
              </a:rPr>
              <a:t>Biobank or Collection</a:t>
            </a:r>
            <a:endParaRPr sz="1000">
              <a:solidFill>
                <a:srgbClr val="CCCCCC"/>
              </a:solidFill>
            </a:endParaRPr>
          </a:p>
        </p:txBody>
      </p:sp>
      <p:sp>
        <p:nvSpPr>
          <p:cNvPr id="534" name="Google Shape;534;p62"/>
          <p:cNvSpPr/>
          <p:nvPr/>
        </p:nvSpPr>
        <p:spPr>
          <a:xfrm>
            <a:off x="147482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CCCCCC"/>
                </a:solidFill>
              </a:rPr>
              <a:t>Laboratory workspaces</a:t>
            </a:r>
            <a:endParaRPr sz="1000">
              <a:solidFill>
                <a:srgbClr val="CCCCCC"/>
              </a:solidFill>
            </a:endParaRPr>
          </a:p>
        </p:txBody>
      </p:sp>
      <p:sp>
        <p:nvSpPr>
          <p:cNvPr id="535" name="Google Shape;535;p62"/>
          <p:cNvSpPr/>
          <p:nvPr/>
        </p:nvSpPr>
        <p:spPr>
          <a:xfrm>
            <a:off x="546732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CCCCCC"/>
                </a:solidFill>
              </a:rPr>
              <a:t>Digital workspaces</a:t>
            </a:r>
            <a:endParaRPr sz="1000">
              <a:solidFill>
                <a:srgbClr val="CCCCCC"/>
              </a:solidFill>
            </a:endParaRPr>
          </a:p>
        </p:txBody>
      </p:sp>
      <p:sp>
        <p:nvSpPr>
          <p:cNvPr id="536" name="Google Shape;536;p62"/>
          <p:cNvSpPr/>
          <p:nvPr/>
        </p:nvSpPr>
        <p:spPr>
          <a:xfrm>
            <a:off x="460327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CCCCCC"/>
                </a:solidFill>
              </a:rPr>
              <a:t>Data delivery</a:t>
            </a:r>
            <a:endParaRPr sz="1000">
              <a:solidFill>
                <a:srgbClr val="CCCCCC"/>
              </a:solidFill>
            </a:endParaRPr>
          </a:p>
        </p:txBody>
      </p:sp>
      <p:sp>
        <p:nvSpPr>
          <p:cNvPr id="537" name="Google Shape;537;p62"/>
          <p:cNvSpPr/>
          <p:nvPr/>
        </p:nvSpPr>
        <p:spPr>
          <a:xfrm>
            <a:off x="701952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CCCCCC"/>
                </a:solidFill>
              </a:rPr>
              <a:t>Local data archive</a:t>
            </a:r>
            <a:r>
              <a:rPr lang="en-GB" sz="1200">
                <a:solidFill>
                  <a:srgbClr val="CCCCCC"/>
                </a:solidFill>
              </a:rPr>
              <a:t> </a:t>
            </a:r>
            <a:r>
              <a:rPr lang="en-GB" sz="1000">
                <a:solidFill>
                  <a:srgbClr val="CCCCCC"/>
                </a:solidFill>
              </a:rPr>
              <a:t>etc</a:t>
            </a:r>
            <a:endParaRPr sz="1400">
              <a:solidFill>
                <a:srgbClr val="CCCCCC"/>
              </a:solidFill>
            </a:endParaRPr>
          </a:p>
        </p:txBody>
      </p:sp>
      <p:sp>
        <p:nvSpPr>
          <p:cNvPr id="538" name="Google Shape;538;p62"/>
          <p:cNvSpPr/>
          <p:nvPr/>
        </p:nvSpPr>
        <p:spPr>
          <a:xfrm>
            <a:off x="7913650"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CCCCCC"/>
                </a:solidFill>
              </a:rPr>
              <a:t>Research databases</a:t>
            </a:r>
            <a:endParaRPr sz="1000">
              <a:solidFill>
                <a:srgbClr val="CCCCCC"/>
              </a:solidFill>
            </a:endParaRPr>
          </a:p>
        </p:txBody>
      </p:sp>
      <p:sp>
        <p:nvSpPr>
          <p:cNvPr id="539" name="Google Shape;539;p62"/>
          <p:cNvSpPr/>
          <p:nvPr/>
        </p:nvSpPr>
        <p:spPr>
          <a:xfrm>
            <a:off x="337225" y="3600675"/>
            <a:ext cx="794100" cy="548400"/>
          </a:xfrm>
          <a:prstGeom prst="can">
            <a:avLst>
              <a:gd fmla="val 25000" name="adj"/>
            </a:avLst>
          </a:prstGeom>
          <a:solidFill>
            <a:srgbClr val="D8E2F3"/>
          </a:solidFill>
          <a:ln cap="flat" cmpd="sng" w="25400">
            <a:solidFill>
              <a:srgbClr val="31538F"/>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000"/>
              <a:t>Information systems</a:t>
            </a:r>
            <a:endParaRPr sz="1400"/>
          </a:p>
        </p:txBody>
      </p:sp>
      <p:sp>
        <p:nvSpPr>
          <p:cNvPr id="540" name="Google Shape;540;p6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None/>
            </a:pPr>
            <a:r>
              <a:rPr lang="en-GB"/>
              <a:t>(</a:t>
            </a:r>
            <a:r>
              <a:rPr lang="en-GB"/>
              <a:t>M</a:t>
            </a:r>
            <a:r>
              <a:rPr lang="en-GB"/>
              <a:t>eta)data in context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4" name="Shape 544"/>
        <p:cNvGrpSpPr/>
        <p:nvPr/>
      </p:nvGrpSpPr>
      <p:grpSpPr>
        <a:xfrm>
          <a:off x="0" y="0"/>
          <a:ext cx="0" cy="0"/>
          <a:chOff x="0" y="0"/>
          <a:chExt cx="0" cy="0"/>
        </a:xfrm>
      </p:grpSpPr>
      <p:pic>
        <p:nvPicPr>
          <p:cNvPr id="545" name="Google Shape;545;p63"/>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546" name="Google Shape;546;p63"/>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547" name="Google Shape;547;p63"/>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548" name="Google Shape;548;p63"/>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None/>
            </a:pPr>
            <a:r>
              <a:rPr lang="en-GB"/>
              <a:t>(Meta)data in context</a:t>
            </a:r>
            <a:endParaRPr/>
          </a:p>
        </p:txBody>
      </p:sp>
      <p:sp>
        <p:nvSpPr>
          <p:cNvPr id="549" name="Google Shape;549;p63"/>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550" name="Google Shape;550;p63"/>
          <p:cNvSpPr/>
          <p:nvPr/>
        </p:nvSpPr>
        <p:spPr>
          <a:xfrm>
            <a:off x="1474825" y="2317875"/>
            <a:ext cx="12708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Sampling </a:t>
            </a:r>
            <a:br>
              <a:rPr b="0" i="0" lang="en-GB" sz="1200" u="none" cap="none" strike="noStrike">
                <a:solidFill>
                  <a:srgbClr val="000000"/>
                </a:solidFill>
                <a:latin typeface="Arial"/>
                <a:ea typeface="Arial"/>
                <a:cs typeface="Arial"/>
                <a:sym typeface="Arial"/>
              </a:rPr>
            </a:br>
            <a:r>
              <a:rPr lang="en-GB" sz="1200"/>
              <a:t>&amp;</a:t>
            </a:r>
            <a:r>
              <a:rPr b="0" i="0" lang="en-GB" sz="1200" u="none" cap="none" strike="noStrike">
                <a:solidFill>
                  <a:srgbClr val="000000"/>
                </a:solidFill>
                <a:latin typeface="Arial"/>
                <a:ea typeface="Arial"/>
                <a:cs typeface="Arial"/>
                <a:sym typeface="Arial"/>
              </a:rPr>
              <a:t> specimen collection</a:t>
            </a:r>
            <a:endParaRPr b="0" i="0" sz="1200" u="none" cap="none" strike="noStrike">
              <a:solidFill>
                <a:srgbClr val="000000"/>
              </a:solidFill>
              <a:latin typeface="Arial"/>
              <a:ea typeface="Arial"/>
              <a:cs typeface="Arial"/>
              <a:sym typeface="Arial"/>
            </a:endParaRPr>
          </a:p>
        </p:txBody>
      </p:sp>
      <p:sp>
        <p:nvSpPr>
          <p:cNvPr id="551" name="Google Shape;551;p63"/>
          <p:cNvSpPr/>
          <p:nvPr/>
        </p:nvSpPr>
        <p:spPr>
          <a:xfrm>
            <a:off x="2793100" y="2317875"/>
            <a:ext cx="10722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preparation </a:t>
            </a:r>
            <a:endParaRPr b="0" i="0" sz="1200" u="none" cap="none" strike="noStrike">
              <a:solidFill>
                <a:srgbClr val="000000"/>
              </a:solidFill>
              <a:latin typeface="Arial"/>
              <a:ea typeface="Arial"/>
              <a:cs typeface="Arial"/>
              <a:sym typeface="Arial"/>
            </a:endParaRPr>
          </a:p>
        </p:txBody>
      </p:sp>
      <p:sp>
        <p:nvSpPr>
          <p:cNvPr id="552" name="Google Shape;552;p63"/>
          <p:cNvSpPr/>
          <p:nvPr/>
        </p:nvSpPr>
        <p:spPr>
          <a:xfrm>
            <a:off x="3908350" y="2317875"/>
            <a:ext cx="1297800" cy="652200"/>
          </a:xfrm>
          <a:prstGeom prst="roundRect">
            <a:avLst>
              <a:gd fmla="val 16667" name="adj"/>
            </a:avLst>
          </a:prstGeom>
          <a:gradFill>
            <a:gsLst>
              <a:gs pos="0">
                <a:srgbClr val="D9EAD3"/>
              </a:gs>
              <a:gs pos="100000">
                <a:srgbClr val="FCE5CD"/>
              </a:gs>
            </a:gsLst>
            <a:lin ang="0" scaled="0"/>
          </a:gra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analysis </a:t>
            </a:r>
            <a:r>
              <a:rPr lang="en-GB" sz="1200"/>
              <a:t>&amp;</a:t>
            </a:r>
            <a:r>
              <a:rPr b="0" i="0" lang="en-GB" sz="1200" u="none" cap="none" strike="noStrike">
                <a:solidFill>
                  <a:srgbClr val="000000"/>
                </a:solidFill>
                <a:latin typeface="Arial"/>
                <a:ea typeface="Arial"/>
                <a:cs typeface="Arial"/>
                <a:sym typeface="Arial"/>
              </a:rPr>
              <a:t> data generation </a:t>
            </a:r>
            <a:endParaRPr b="0" i="0" sz="1200" u="none" cap="none" strike="noStrike">
              <a:solidFill>
                <a:srgbClr val="000000"/>
              </a:solidFill>
              <a:latin typeface="Arial"/>
              <a:ea typeface="Arial"/>
              <a:cs typeface="Arial"/>
              <a:sym typeface="Arial"/>
            </a:endParaRPr>
          </a:p>
        </p:txBody>
      </p:sp>
      <p:sp>
        <p:nvSpPr>
          <p:cNvPr id="553" name="Google Shape;553;p63"/>
          <p:cNvSpPr txBox="1"/>
          <p:nvPr/>
        </p:nvSpPr>
        <p:spPr>
          <a:xfrm>
            <a:off x="268125" y="3130700"/>
            <a:ext cx="11856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t/>
            </a:r>
            <a:endParaRPr sz="1300"/>
          </a:p>
        </p:txBody>
      </p:sp>
      <p:sp>
        <p:nvSpPr>
          <p:cNvPr id="554" name="Google Shape;554;p63"/>
          <p:cNvSpPr txBox="1"/>
          <p:nvPr/>
        </p:nvSpPr>
        <p:spPr>
          <a:xfrm>
            <a:off x="1434225" y="3130700"/>
            <a:ext cx="30384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63891F"/>
                </a:solidFill>
              </a:rPr>
              <a:t>Biosamples and instruments</a:t>
            </a:r>
            <a:br>
              <a:rPr lang="en-GB" sz="1000"/>
            </a:br>
            <a:endParaRPr sz="1300"/>
          </a:p>
        </p:txBody>
      </p:sp>
      <p:sp>
        <p:nvSpPr>
          <p:cNvPr id="555" name="Google Shape;555;p63"/>
          <p:cNvSpPr/>
          <p:nvPr/>
        </p:nvSpPr>
        <p:spPr>
          <a:xfrm>
            <a:off x="1434223" y="3043557"/>
            <a:ext cx="3089100" cy="53700"/>
          </a:xfrm>
          <a:prstGeom prst="rect">
            <a:avLst/>
          </a:prstGeom>
          <a:solidFill>
            <a:srgbClr val="6389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556" name="Google Shape;556;p63"/>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557" name="Google Shape;557;p63"/>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558" name="Google Shape;558;p63"/>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559" name="Google Shape;559;p63"/>
          <p:cNvGrpSpPr/>
          <p:nvPr/>
        </p:nvGrpSpPr>
        <p:grpSpPr>
          <a:xfrm>
            <a:off x="5546173" y="996742"/>
            <a:ext cx="968204" cy="968204"/>
            <a:chOff x="6079573" y="996742"/>
            <a:chExt cx="968204" cy="968204"/>
          </a:xfrm>
        </p:grpSpPr>
        <p:pic>
          <p:nvPicPr>
            <p:cNvPr descr="Desktop computer vector image with flat screen" id="560" name="Google Shape;560;p63"/>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561" name="Google Shape;561;p63"/>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562" name="Google Shape;562;p63"/>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563" name="Google Shape;563;p63"/>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564" name="Google Shape;564;p63"/>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565" name="Google Shape;565;p63"/>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566" name="Google Shape;566;p63"/>
          <p:cNvGrpSpPr/>
          <p:nvPr/>
        </p:nvGrpSpPr>
        <p:grpSpPr>
          <a:xfrm>
            <a:off x="8126767" y="962465"/>
            <a:ext cx="623046" cy="1205706"/>
            <a:chOff x="7845504" y="1416558"/>
            <a:chExt cx="1131782" cy="2190201"/>
          </a:xfrm>
        </p:grpSpPr>
        <p:pic>
          <p:nvPicPr>
            <p:cNvPr id="567" name="Google Shape;567;p63"/>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568" name="Google Shape;568;p63"/>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569" name="Google Shape;569;p63"/>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570" name="Google Shape;570;p63"/>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571" name="Google Shape;571;p63"/>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572" name="Google Shape;572;p63"/>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573" name="Google Shape;573;p63"/>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574" name="Google Shape;574;p63"/>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575" name="Google Shape;575;p63"/>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576" name="Google Shape;576;p63"/>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577" name="Google Shape;577;p63"/>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578" name="Google Shape;578;p63"/>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
        <p:nvSpPr>
          <p:cNvPr id="579" name="Google Shape;579;p63"/>
          <p:cNvSpPr/>
          <p:nvPr/>
        </p:nvSpPr>
        <p:spPr>
          <a:xfrm>
            <a:off x="232397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1000"/>
              <a:t>Biobank or Collection</a:t>
            </a:r>
            <a:endParaRPr sz="1000"/>
          </a:p>
        </p:txBody>
      </p:sp>
      <p:sp>
        <p:nvSpPr>
          <p:cNvPr id="580" name="Google Shape;580;p63"/>
          <p:cNvSpPr/>
          <p:nvPr/>
        </p:nvSpPr>
        <p:spPr>
          <a:xfrm>
            <a:off x="147482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Laboratory workspaces</a:t>
            </a:r>
            <a:endParaRPr sz="1000"/>
          </a:p>
        </p:txBody>
      </p:sp>
      <p:sp>
        <p:nvSpPr>
          <p:cNvPr id="581" name="Google Shape;581;p63"/>
          <p:cNvSpPr/>
          <p:nvPr/>
        </p:nvSpPr>
        <p:spPr>
          <a:xfrm>
            <a:off x="337225" y="3600675"/>
            <a:ext cx="794100" cy="548400"/>
          </a:xfrm>
          <a:prstGeom prst="can">
            <a:avLst>
              <a:gd fmla="val 25000" name="adj"/>
            </a:avLst>
          </a:prstGeom>
          <a:solidFill>
            <a:srgbClr val="D8E2F3"/>
          </a:solidFill>
          <a:ln cap="flat" cmpd="sng" w="25400">
            <a:solidFill>
              <a:srgbClr val="31538F"/>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000"/>
              <a:t>Information systems</a:t>
            </a:r>
            <a:endParaRPr sz="1400"/>
          </a:p>
        </p:txBody>
      </p:sp>
      <p:sp>
        <p:nvSpPr>
          <p:cNvPr id="582" name="Google Shape;582;p63"/>
          <p:cNvSpPr/>
          <p:nvPr/>
        </p:nvSpPr>
        <p:spPr>
          <a:xfrm>
            <a:off x="5249200" y="2317875"/>
            <a:ext cx="13326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Data processing to prepare inputs for analysis </a:t>
            </a:r>
            <a:endParaRPr b="0" i="0" sz="1200" u="none" cap="none" strike="noStrike">
              <a:solidFill>
                <a:srgbClr val="CCCCCC"/>
              </a:solidFill>
              <a:latin typeface="Arial"/>
              <a:ea typeface="Arial"/>
              <a:cs typeface="Arial"/>
              <a:sym typeface="Arial"/>
            </a:endParaRPr>
          </a:p>
        </p:txBody>
      </p:sp>
      <p:sp>
        <p:nvSpPr>
          <p:cNvPr id="583" name="Google Shape;583;p63"/>
          <p:cNvSpPr/>
          <p:nvPr/>
        </p:nvSpPr>
        <p:spPr>
          <a:xfrm>
            <a:off x="6627850" y="2317875"/>
            <a:ext cx="9225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Data analysis</a:t>
            </a:r>
            <a:endParaRPr b="0" i="0" sz="1200" u="none" cap="none" strike="noStrike">
              <a:solidFill>
                <a:srgbClr val="CCCCCC"/>
              </a:solidFill>
              <a:latin typeface="Arial"/>
              <a:ea typeface="Arial"/>
              <a:cs typeface="Arial"/>
              <a:sym typeface="Arial"/>
            </a:endParaRPr>
          </a:p>
        </p:txBody>
      </p:sp>
      <p:sp>
        <p:nvSpPr>
          <p:cNvPr id="584" name="Google Shape;584;p63"/>
          <p:cNvSpPr/>
          <p:nvPr/>
        </p:nvSpPr>
        <p:spPr>
          <a:xfrm>
            <a:off x="7593400" y="2317875"/>
            <a:ext cx="11856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Communicating results</a:t>
            </a:r>
            <a:endParaRPr b="0" i="0" sz="1200" u="none" cap="none" strike="noStrike">
              <a:solidFill>
                <a:srgbClr val="CCCCCC"/>
              </a:solidFill>
              <a:latin typeface="Arial"/>
              <a:ea typeface="Arial"/>
              <a:cs typeface="Arial"/>
              <a:sym typeface="Arial"/>
            </a:endParaRPr>
          </a:p>
        </p:txBody>
      </p:sp>
      <p:sp>
        <p:nvSpPr>
          <p:cNvPr id="585" name="Google Shape;585;p63"/>
          <p:cNvSpPr/>
          <p:nvPr/>
        </p:nvSpPr>
        <p:spPr>
          <a:xfrm>
            <a:off x="4603283" y="3043557"/>
            <a:ext cx="3089100" cy="53700"/>
          </a:xfrm>
          <a:prstGeom prst="rect">
            <a:avLst/>
          </a:prstGeom>
          <a:solidFill>
            <a:srgbClr val="EFEFE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CCCCCC"/>
              </a:solidFill>
              <a:latin typeface="Arial"/>
              <a:ea typeface="Arial"/>
              <a:cs typeface="Arial"/>
              <a:sym typeface="Arial"/>
            </a:endParaRPr>
          </a:p>
        </p:txBody>
      </p:sp>
      <p:sp>
        <p:nvSpPr>
          <p:cNvPr id="586" name="Google Shape;586;p63"/>
          <p:cNvSpPr txBox="1"/>
          <p:nvPr/>
        </p:nvSpPr>
        <p:spPr>
          <a:xfrm>
            <a:off x="4603275" y="3130700"/>
            <a:ext cx="32103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CCCCCC"/>
                </a:solidFill>
              </a:rPr>
              <a:t>Data and computational workflows</a:t>
            </a:r>
            <a:endParaRPr b="1" sz="1400">
              <a:solidFill>
                <a:srgbClr val="CCCCCC"/>
              </a:solidFill>
            </a:endParaRPr>
          </a:p>
          <a:p>
            <a:pPr indent="0" lvl="0" marL="0" rtl="0" algn="l">
              <a:spcBef>
                <a:spcPts val="0"/>
              </a:spcBef>
              <a:spcAft>
                <a:spcPts val="0"/>
              </a:spcAft>
              <a:buNone/>
            </a:pPr>
            <a:r>
              <a:t/>
            </a:r>
            <a:endParaRPr b="1" sz="1400">
              <a:solidFill>
                <a:srgbClr val="CCCCCC"/>
              </a:solidFill>
            </a:endParaRPr>
          </a:p>
        </p:txBody>
      </p:sp>
      <p:sp>
        <p:nvSpPr>
          <p:cNvPr id="587" name="Google Shape;587;p63"/>
          <p:cNvSpPr/>
          <p:nvPr/>
        </p:nvSpPr>
        <p:spPr>
          <a:xfrm>
            <a:off x="7772350" y="3043550"/>
            <a:ext cx="968100" cy="55500"/>
          </a:xfrm>
          <a:prstGeom prst="rect">
            <a:avLst/>
          </a:prstGeom>
          <a:solidFill>
            <a:srgbClr val="EFEFE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CCCCCC"/>
              </a:solidFill>
              <a:latin typeface="Arial"/>
              <a:ea typeface="Arial"/>
              <a:cs typeface="Arial"/>
              <a:sym typeface="Arial"/>
            </a:endParaRPr>
          </a:p>
        </p:txBody>
      </p:sp>
      <p:sp>
        <p:nvSpPr>
          <p:cNvPr id="588" name="Google Shape;588;p63"/>
          <p:cNvSpPr txBox="1"/>
          <p:nvPr/>
        </p:nvSpPr>
        <p:spPr>
          <a:xfrm>
            <a:off x="7734775" y="3130725"/>
            <a:ext cx="118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CCCCCC"/>
                </a:solidFill>
              </a:rPr>
              <a:t>Outputs</a:t>
            </a:r>
            <a:endParaRPr b="1" sz="1400">
              <a:solidFill>
                <a:srgbClr val="CCCCCC"/>
              </a:solidFill>
            </a:endParaRPr>
          </a:p>
          <a:p>
            <a:pPr indent="0" lvl="0" marL="0" marR="0" rtl="0" algn="l">
              <a:lnSpc>
                <a:spcPct val="100000"/>
              </a:lnSpc>
              <a:spcBef>
                <a:spcPts val="0"/>
              </a:spcBef>
              <a:spcAft>
                <a:spcPts val="0"/>
              </a:spcAft>
              <a:buNone/>
            </a:pPr>
            <a:r>
              <a:t/>
            </a:r>
            <a:endParaRPr b="0" i="0" sz="1000" u="none" cap="none" strike="noStrike">
              <a:solidFill>
                <a:srgbClr val="CCCCCC"/>
              </a:solidFill>
              <a:latin typeface="Arial"/>
              <a:ea typeface="Arial"/>
              <a:cs typeface="Arial"/>
              <a:sym typeface="Arial"/>
            </a:endParaRPr>
          </a:p>
        </p:txBody>
      </p:sp>
      <p:sp>
        <p:nvSpPr>
          <p:cNvPr id="589" name="Google Shape;589;p63"/>
          <p:cNvSpPr/>
          <p:nvPr/>
        </p:nvSpPr>
        <p:spPr>
          <a:xfrm>
            <a:off x="546732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CCCCCC"/>
                </a:solidFill>
              </a:rPr>
              <a:t>Digital workspaces</a:t>
            </a:r>
            <a:endParaRPr sz="1000">
              <a:solidFill>
                <a:srgbClr val="CCCCCC"/>
              </a:solidFill>
            </a:endParaRPr>
          </a:p>
        </p:txBody>
      </p:sp>
      <p:sp>
        <p:nvSpPr>
          <p:cNvPr id="590" name="Google Shape;590;p63"/>
          <p:cNvSpPr/>
          <p:nvPr/>
        </p:nvSpPr>
        <p:spPr>
          <a:xfrm>
            <a:off x="701952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CCCCCC"/>
                </a:solidFill>
              </a:rPr>
              <a:t>Local data archive</a:t>
            </a:r>
            <a:r>
              <a:rPr lang="en-GB" sz="1200">
                <a:solidFill>
                  <a:srgbClr val="CCCCCC"/>
                </a:solidFill>
              </a:rPr>
              <a:t> </a:t>
            </a:r>
            <a:r>
              <a:rPr lang="en-GB" sz="1000">
                <a:solidFill>
                  <a:srgbClr val="CCCCCC"/>
                </a:solidFill>
              </a:rPr>
              <a:t>etc</a:t>
            </a:r>
            <a:endParaRPr sz="1400">
              <a:solidFill>
                <a:srgbClr val="CCCCCC"/>
              </a:solidFill>
            </a:endParaRPr>
          </a:p>
        </p:txBody>
      </p:sp>
      <p:sp>
        <p:nvSpPr>
          <p:cNvPr id="591" name="Google Shape;591;p63"/>
          <p:cNvSpPr/>
          <p:nvPr/>
        </p:nvSpPr>
        <p:spPr>
          <a:xfrm>
            <a:off x="7913650"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CCCCCC"/>
                </a:solidFill>
              </a:rPr>
              <a:t>Research databases</a:t>
            </a:r>
            <a:endParaRPr sz="1000">
              <a:solidFill>
                <a:srgbClr val="CCCCCC"/>
              </a:solidFill>
            </a:endParaRPr>
          </a:p>
        </p:txBody>
      </p:sp>
      <p:sp>
        <p:nvSpPr>
          <p:cNvPr id="592" name="Google Shape;592;p63"/>
          <p:cNvSpPr/>
          <p:nvPr/>
        </p:nvSpPr>
        <p:spPr>
          <a:xfrm>
            <a:off x="4603275"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CCCCCC"/>
                </a:solidFill>
              </a:rPr>
              <a:t>Data delivery</a:t>
            </a:r>
            <a:endParaRPr sz="1000">
              <a:solidFill>
                <a:srgbClr val="CCCCCC"/>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6" name="Shape 596"/>
        <p:cNvGrpSpPr/>
        <p:nvPr/>
      </p:nvGrpSpPr>
      <p:grpSpPr>
        <a:xfrm>
          <a:off x="0" y="0"/>
          <a:ext cx="0" cy="0"/>
          <a:chOff x="0" y="0"/>
          <a:chExt cx="0" cy="0"/>
        </a:xfrm>
      </p:grpSpPr>
      <p:pic>
        <p:nvPicPr>
          <p:cNvPr id="597" name="Google Shape;597;p64"/>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598" name="Google Shape;598;p64"/>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599" name="Google Shape;599;p64"/>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00" name="Google Shape;600;p6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Clr>
                <a:schemeClr val="dk1"/>
              </a:buClr>
              <a:buSzPts val="1100"/>
              <a:buFont typeface="Arial"/>
              <a:buNone/>
            </a:pPr>
            <a:r>
              <a:rPr lang="en-GB"/>
              <a:t>(Meta)data</a:t>
            </a:r>
            <a:r>
              <a:rPr lang="en-GB"/>
              <a:t> in context</a:t>
            </a:r>
            <a:endParaRPr/>
          </a:p>
        </p:txBody>
      </p:sp>
      <p:sp>
        <p:nvSpPr>
          <p:cNvPr id="601" name="Google Shape;601;p64"/>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602" name="Google Shape;602;p64"/>
          <p:cNvSpPr/>
          <p:nvPr/>
        </p:nvSpPr>
        <p:spPr>
          <a:xfrm>
            <a:off x="1474825" y="2317875"/>
            <a:ext cx="12708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Sampling </a:t>
            </a:r>
            <a:br>
              <a:rPr b="0" i="0" lang="en-GB" sz="1200" u="none" cap="none" strike="noStrike">
                <a:solidFill>
                  <a:srgbClr val="000000"/>
                </a:solidFill>
                <a:latin typeface="Arial"/>
                <a:ea typeface="Arial"/>
                <a:cs typeface="Arial"/>
                <a:sym typeface="Arial"/>
              </a:rPr>
            </a:br>
            <a:r>
              <a:rPr lang="en-GB" sz="1200"/>
              <a:t>&amp;</a:t>
            </a:r>
            <a:r>
              <a:rPr b="0" i="0" lang="en-GB" sz="1200" u="none" cap="none" strike="noStrike">
                <a:solidFill>
                  <a:srgbClr val="000000"/>
                </a:solidFill>
                <a:latin typeface="Arial"/>
                <a:ea typeface="Arial"/>
                <a:cs typeface="Arial"/>
                <a:sym typeface="Arial"/>
              </a:rPr>
              <a:t> specimen collection</a:t>
            </a:r>
            <a:endParaRPr b="0" i="0" sz="1200" u="none" cap="none" strike="noStrike">
              <a:solidFill>
                <a:srgbClr val="000000"/>
              </a:solidFill>
              <a:latin typeface="Arial"/>
              <a:ea typeface="Arial"/>
              <a:cs typeface="Arial"/>
              <a:sym typeface="Arial"/>
            </a:endParaRPr>
          </a:p>
        </p:txBody>
      </p:sp>
      <p:sp>
        <p:nvSpPr>
          <p:cNvPr id="603" name="Google Shape;603;p64"/>
          <p:cNvSpPr/>
          <p:nvPr/>
        </p:nvSpPr>
        <p:spPr>
          <a:xfrm>
            <a:off x="2793100" y="2317875"/>
            <a:ext cx="10722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preparation </a:t>
            </a:r>
            <a:endParaRPr b="0" i="0" sz="1200" u="none" cap="none" strike="noStrike">
              <a:solidFill>
                <a:srgbClr val="000000"/>
              </a:solidFill>
              <a:latin typeface="Arial"/>
              <a:ea typeface="Arial"/>
              <a:cs typeface="Arial"/>
              <a:sym typeface="Arial"/>
            </a:endParaRPr>
          </a:p>
        </p:txBody>
      </p:sp>
      <p:sp>
        <p:nvSpPr>
          <p:cNvPr id="604" name="Google Shape;604;p64"/>
          <p:cNvSpPr/>
          <p:nvPr/>
        </p:nvSpPr>
        <p:spPr>
          <a:xfrm>
            <a:off x="3908350" y="2317875"/>
            <a:ext cx="1297800" cy="652200"/>
          </a:xfrm>
          <a:prstGeom prst="roundRect">
            <a:avLst>
              <a:gd fmla="val 16667" name="adj"/>
            </a:avLst>
          </a:prstGeom>
          <a:gradFill>
            <a:gsLst>
              <a:gs pos="0">
                <a:srgbClr val="D9EAD3"/>
              </a:gs>
              <a:gs pos="100000">
                <a:srgbClr val="FCE5CD"/>
              </a:gs>
            </a:gsLst>
            <a:lin ang="0" scaled="0"/>
          </a:gra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analysis </a:t>
            </a:r>
            <a:r>
              <a:rPr lang="en-GB" sz="1200"/>
              <a:t>&amp;</a:t>
            </a:r>
            <a:r>
              <a:rPr b="0" i="0" lang="en-GB" sz="1200" u="none" cap="none" strike="noStrike">
                <a:solidFill>
                  <a:srgbClr val="000000"/>
                </a:solidFill>
                <a:latin typeface="Arial"/>
                <a:ea typeface="Arial"/>
                <a:cs typeface="Arial"/>
                <a:sym typeface="Arial"/>
              </a:rPr>
              <a:t> data generation </a:t>
            </a:r>
            <a:endParaRPr b="0" i="0" sz="1200" u="none" cap="none" strike="noStrike">
              <a:solidFill>
                <a:srgbClr val="000000"/>
              </a:solidFill>
              <a:latin typeface="Arial"/>
              <a:ea typeface="Arial"/>
              <a:cs typeface="Arial"/>
              <a:sym typeface="Arial"/>
            </a:endParaRPr>
          </a:p>
        </p:txBody>
      </p:sp>
      <p:sp>
        <p:nvSpPr>
          <p:cNvPr id="605" name="Google Shape;605;p64"/>
          <p:cNvSpPr/>
          <p:nvPr/>
        </p:nvSpPr>
        <p:spPr>
          <a:xfrm>
            <a:off x="5249200" y="2317875"/>
            <a:ext cx="13326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processing to prepare inputs for analysis </a:t>
            </a:r>
            <a:endParaRPr b="0" i="0" sz="1200" u="none" cap="none" strike="noStrike">
              <a:solidFill>
                <a:srgbClr val="000000"/>
              </a:solidFill>
              <a:latin typeface="Arial"/>
              <a:ea typeface="Arial"/>
              <a:cs typeface="Arial"/>
              <a:sym typeface="Arial"/>
            </a:endParaRPr>
          </a:p>
        </p:txBody>
      </p:sp>
      <p:sp>
        <p:nvSpPr>
          <p:cNvPr id="606" name="Google Shape;606;p64"/>
          <p:cNvSpPr/>
          <p:nvPr/>
        </p:nvSpPr>
        <p:spPr>
          <a:xfrm>
            <a:off x="6627850" y="2317875"/>
            <a:ext cx="9225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analysis</a:t>
            </a:r>
            <a:endParaRPr b="0" i="0" sz="1200" u="none" cap="none" strike="noStrike">
              <a:solidFill>
                <a:srgbClr val="000000"/>
              </a:solidFill>
              <a:latin typeface="Arial"/>
              <a:ea typeface="Arial"/>
              <a:cs typeface="Arial"/>
              <a:sym typeface="Arial"/>
            </a:endParaRPr>
          </a:p>
        </p:txBody>
      </p:sp>
      <p:sp>
        <p:nvSpPr>
          <p:cNvPr id="607" name="Google Shape;607;p64"/>
          <p:cNvSpPr txBox="1"/>
          <p:nvPr/>
        </p:nvSpPr>
        <p:spPr>
          <a:xfrm>
            <a:off x="268125" y="3130700"/>
            <a:ext cx="11856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t/>
            </a:r>
            <a:endParaRPr sz="1300"/>
          </a:p>
        </p:txBody>
      </p:sp>
      <p:sp>
        <p:nvSpPr>
          <p:cNvPr id="608" name="Google Shape;608;p64"/>
          <p:cNvSpPr txBox="1"/>
          <p:nvPr/>
        </p:nvSpPr>
        <p:spPr>
          <a:xfrm>
            <a:off x="1434225" y="3130700"/>
            <a:ext cx="30384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63891F"/>
                </a:solidFill>
              </a:rPr>
              <a:t>Biosamples and instruments</a:t>
            </a:r>
            <a:br>
              <a:rPr lang="en-GB" sz="1000"/>
            </a:br>
            <a:endParaRPr sz="1300"/>
          </a:p>
        </p:txBody>
      </p:sp>
      <p:sp>
        <p:nvSpPr>
          <p:cNvPr id="609" name="Google Shape;609;p64"/>
          <p:cNvSpPr/>
          <p:nvPr/>
        </p:nvSpPr>
        <p:spPr>
          <a:xfrm>
            <a:off x="1434223" y="3043557"/>
            <a:ext cx="3089100" cy="53700"/>
          </a:xfrm>
          <a:prstGeom prst="rect">
            <a:avLst/>
          </a:prstGeom>
          <a:solidFill>
            <a:srgbClr val="6389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10" name="Google Shape;610;p64"/>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11" name="Google Shape;611;p64"/>
          <p:cNvSpPr/>
          <p:nvPr/>
        </p:nvSpPr>
        <p:spPr>
          <a:xfrm>
            <a:off x="4603283" y="3043557"/>
            <a:ext cx="3089100" cy="53700"/>
          </a:xfrm>
          <a:prstGeom prst="rect">
            <a:avLst/>
          </a:prstGeom>
          <a:solidFill>
            <a:srgbClr val="E6842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12" name="Google Shape;612;p64"/>
          <p:cNvSpPr txBox="1"/>
          <p:nvPr/>
        </p:nvSpPr>
        <p:spPr>
          <a:xfrm>
            <a:off x="4603275" y="3130700"/>
            <a:ext cx="32103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E68422"/>
                </a:solidFill>
              </a:rPr>
              <a:t>Data and computational workflows</a:t>
            </a:r>
            <a:endParaRPr b="1" sz="1400">
              <a:solidFill>
                <a:srgbClr val="E68422"/>
              </a:solidFill>
            </a:endParaRPr>
          </a:p>
          <a:p>
            <a:pPr indent="0" lvl="0" marL="0" rtl="0" algn="l">
              <a:spcBef>
                <a:spcPts val="0"/>
              </a:spcBef>
              <a:spcAft>
                <a:spcPts val="0"/>
              </a:spcAft>
              <a:buNone/>
            </a:pPr>
            <a:r>
              <a:t/>
            </a:r>
            <a:endParaRPr b="1" sz="1400">
              <a:solidFill>
                <a:srgbClr val="E68422"/>
              </a:solidFill>
            </a:endParaRPr>
          </a:p>
        </p:txBody>
      </p:sp>
      <p:pic>
        <p:nvPicPr>
          <p:cNvPr id="613" name="Google Shape;613;p64"/>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614" name="Google Shape;614;p64"/>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615" name="Google Shape;615;p64"/>
          <p:cNvGrpSpPr/>
          <p:nvPr/>
        </p:nvGrpSpPr>
        <p:grpSpPr>
          <a:xfrm>
            <a:off x="5546173" y="996742"/>
            <a:ext cx="968204" cy="968204"/>
            <a:chOff x="6079573" y="996742"/>
            <a:chExt cx="968204" cy="968204"/>
          </a:xfrm>
        </p:grpSpPr>
        <p:pic>
          <p:nvPicPr>
            <p:cNvPr descr="Desktop computer vector image with flat screen" id="616" name="Google Shape;616;p64"/>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617" name="Google Shape;617;p64"/>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618" name="Google Shape;618;p64"/>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619" name="Google Shape;619;p64"/>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620" name="Google Shape;620;p64"/>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621" name="Google Shape;621;p64"/>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622" name="Google Shape;622;p64"/>
          <p:cNvGrpSpPr/>
          <p:nvPr/>
        </p:nvGrpSpPr>
        <p:grpSpPr>
          <a:xfrm>
            <a:off x="8126767" y="962465"/>
            <a:ext cx="623046" cy="1205706"/>
            <a:chOff x="7845504" y="1416558"/>
            <a:chExt cx="1131782" cy="2190201"/>
          </a:xfrm>
        </p:grpSpPr>
        <p:pic>
          <p:nvPicPr>
            <p:cNvPr id="623" name="Google Shape;623;p64"/>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624" name="Google Shape;624;p64"/>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625" name="Google Shape;625;p64"/>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626" name="Google Shape;626;p64"/>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627" name="Google Shape;627;p64"/>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628" name="Google Shape;628;p64"/>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629" name="Google Shape;629;p64"/>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630" name="Google Shape;630;p64"/>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631" name="Google Shape;631;p64"/>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632" name="Google Shape;632;p64"/>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633" name="Google Shape;633;p64"/>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634" name="Google Shape;634;p64"/>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
        <p:nvSpPr>
          <p:cNvPr id="635" name="Google Shape;635;p64"/>
          <p:cNvSpPr/>
          <p:nvPr/>
        </p:nvSpPr>
        <p:spPr>
          <a:xfrm>
            <a:off x="232397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chemeClr val="dk1"/>
                </a:solidFill>
              </a:rPr>
              <a:t>Biobank or Collection</a:t>
            </a:r>
            <a:endParaRPr sz="1000"/>
          </a:p>
        </p:txBody>
      </p:sp>
      <p:sp>
        <p:nvSpPr>
          <p:cNvPr id="636" name="Google Shape;636;p64"/>
          <p:cNvSpPr/>
          <p:nvPr/>
        </p:nvSpPr>
        <p:spPr>
          <a:xfrm>
            <a:off x="147482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Laboratory workspaces</a:t>
            </a:r>
            <a:endParaRPr sz="1000"/>
          </a:p>
        </p:txBody>
      </p:sp>
      <p:sp>
        <p:nvSpPr>
          <p:cNvPr id="637" name="Google Shape;637;p64"/>
          <p:cNvSpPr/>
          <p:nvPr/>
        </p:nvSpPr>
        <p:spPr>
          <a:xfrm>
            <a:off x="54673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t>Digital workspaces</a:t>
            </a:r>
            <a:endParaRPr sz="1000"/>
          </a:p>
        </p:txBody>
      </p:sp>
      <p:sp>
        <p:nvSpPr>
          <p:cNvPr id="638" name="Google Shape;638;p64"/>
          <p:cNvSpPr/>
          <p:nvPr/>
        </p:nvSpPr>
        <p:spPr>
          <a:xfrm>
            <a:off x="460327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Data delivery</a:t>
            </a:r>
            <a:endParaRPr sz="1000"/>
          </a:p>
        </p:txBody>
      </p:sp>
      <p:sp>
        <p:nvSpPr>
          <p:cNvPr id="639" name="Google Shape;639;p64"/>
          <p:cNvSpPr/>
          <p:nvPr/>
        </p:nvSpPr>
        <p:spPr>
          <a:xfrm>
            <a:off x="70195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000000"/>
                </a:solidFill>
              </a:rPr>
              <a:t>Local data archive</a:t>
            </a:r>
            <a:r>
              <a:rPr lang="en-GB" sz="1200"/>
              <a:t> </a:t>
            </a:r>
            <a:r>
              <a:rPr lang="en-GB" sz="1000">
                <a:solidFill>
                  <a:srgbClr val="000000"/>
                </a:solidFill>
              </a:rPr>
              <a:t>etc</a:t>
            </a:r>
            <a:endParaRPr sz="1400"/>
          </a:p>
        </p:txBody>
      </p:sp>
      <p:sp>
        <p:nvSpPr>
          <p:cNvPr id="640" name="Google Shape;640;p64"/>
          <p:cNvSpPr/>
          <p:nvPr/>
        </p:nvSpPr>
        <p:spPr>
          <a:xfrm>
            <a:off x="337225" y="3600675"/>
            <a:ext cx="794100" cy="548400"/>
          </a:xfrm>
          <a:prstGeom prst="can">
            <a:avLst>
              <a:gd fmla="val 25000" name="adj"/>
            </a:avLst>
          </a:prstGeom>
          <a:solidFill>
            <a:srgbClr val="D8E2F3"/>
          </a:solidFill>
          <a:ln cap="flat" cmpd="sng" w="25400">
            <a:solidFill>
              <a:srgbClr val="31538F"/>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000"/>
              <a:t>Information systems</a:t>
            </a:r>
            <a:endParaRPr sz="1400"/>
          </a:p>
        </p:txBody>
      </p:sp>
      <p:sp>
        <p:nvSpPr>
          <p:cNvPr id="641" name="Google Shape;641;p64"/>
          <p:cNvSpPr/>
          <p:nvPr/>
        </p:nvSpPr>
        <p:spPr>
          <a:xfrm>
            <a:off x="7593400" y="2317875"/>
            <a:ext cx="1185600" cy="652200"/>
          </a:xfrm>
          <a:prstGeom prst="roundRect">
            <a:avLst>
              <a:gd fmla="val 16667" name="adj"/>
            </a:avLst>
          </a:prstGeom>
          <a:solidFill>
            <a:srgbClr val="EFEFEF"/>
          </a:solidFill>
          <a:ln cap="flat" cmpd="sng" w="19050">
            <a:solidFill>
              <a:srgbClr val="CCCCCC"/>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CCCCCC"/>
                </a:solidFill>
                <a:latin typeface="Arial"/>
                <a:ea typeface="Arial"/>
                <a:cs typeface="Arial"/>
                <a:sym typeface="Arial"/>
              </a:rPr>
              <a:t>Communicating results</a:t>
            </a:r>
            <a:endParaRPr b="0" i="0" sz="1200" u="none" cap="none" strike="noStrike">
              <a:solidFill>
                <a:srgbClr val="CCCCCC"/>
              </a:solidFill>
              <a:latin typeface="Arial"/>
              <a:ea typeface="Arial"/>
              <a:cs typeface="Arial"/>
              <a:sym typeface="Arial"/>
            </a:endParaRPr>
          </a:p>
        </p:txBody>
      </p:sp>
      <p:sp>
        <p:nvSpPr>
          <p:cNvPr id="642" name="Google Shape;642;p64"/>
          <p:cNvSpPr/>
          <p:nvPr/>
        </p:nvSpPr>
        <p:spPr>
          <a:xfrm>
            <a:off x="7772350" y="3043550"/>
            <a:ext cx="968100" cy="55500"/>
          </a:xfrm>
          <a:prstGeom prst="rect">
            <a:avLst/>
          </a:prstGeom>
          <a:solidFill>
            <a:srgbClr val="EFEFE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CCCCCC"/>
              </a:solidFill>
              <a:latin typeface="Arial"/>
              <a:ea typeface="Arial"/>
              <a:cs typeface="Arial"/>
              <a:sym typeface="Arial"/>
            </a:endParaRPr>
          </a:p>
        </p:txBody>
      </p:sp>
      <p:sp>
        <p:nvSpPr>
          <p:cNvPr id="643" name="Google Shape;643;p64"/>
          <p:cNvSpPr txBox="1"/>
          <p:nvPr/>
        </p:nvSpPr>
        <p:spPr>
          <a:xfrm>
            <a:off x="7734775" y="3130725"/>
            <a:ext cx="118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CCCCCC"/>
                </a:solidFill>
              </a:rPr>
              <a:t>Outputs</a:t>
            </a:r>
            <a:endParaRPr b="1" sz="1400">
              <a:solidFill>
                <a:srgbClr val="CCCCCC"/>
              </a:solidFill>
            </a:endParaRPr>
          </a:p>
          <a:p>
            <a:pPr indent="0" lvl="0" marL="0" marR="0" rtl="0" algn="l">
              <a:lnSpc>
                <a:spcPct val="100000"/>
              </a:lnSpc>
              <a:spcBef>
                <a:spcPts val="0"/>
              </a:spcBef>
              <a:spcAft>
                <a:spcPts val="0"/>
              </a:spcAft>
              <a:buNone/>
            </a:pPr>
            <a:r>
              <a:t/>
            </a:r>
            <a:endParaRPr b="0" i="0" sz="1000" u="none" cap="none" strike="noStrike">
              <a:solidFill>
                <a:srgbClr val="CCCCCC"/>
              </a:solidFill>
              <a:latin typeface="Arial"/>
              <a:ea typeface="Arial"/>
              <a:cs typeface="Arial"/>
              <a:sym typeface="Arial"/>
            </a:endParaRPr>
          </a:p>
        </p:txBody>
      </p:sp>
      <p:sp>
        <p:nvSpPr>
          <p:cNvPr id="644" name="Google Shape;644;p64"/>
          <p:cNvSpPr/>
          <p:nvPr/>
        </p:nvSpPr>
        <p:spPr>
          <a:xfrm>
            <a:off x="7913650" y="3600675"/>
            <a:ext cx="794100" cy="548400"/>
          </a:xfrm>
          <a:prstGeom prst="can">
            <a:avLst>
              <a:gd fmla="val 25000" name="adj"/>
            </a:avLst>
          </a:prstGeom>
          <a:solidFill>
            <a:srgbClr val="EFEFEF"/>
          </a:solidFill>
          <a:ln cap="flat" cmpd="sng" w="19050">
            <a:solidFill>
              <a:srgbClr val="CCCCCC"/>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CCCCCC"/>
                </a:solidFill>
              </a:rPr>
              <a:t>Research databases</a:t>
            </a:r>
            <a:endParaRPr sz="1000">
              <a:solidFill>
                <a:srgbClr val="CCCCCC"/>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8" name="Shape 648"/>
        <p:cNvGrpSpPr/>
        <p:nvPr/>
      </p:nvGrpSpPr>
      <p:grpSpPr>
        <a:xfrm>
          <a:off x="0" y="0"/>
          <a:ext cx="0" cy="0"/>
          <a:chOff x="0" y="0"/>
          <a:chExt cx="0" cy="0"/>
        </a:xfrm>
      </p:grpSpPr>
      <p:pic>
        <p:nvPicPr>
          <p:cNvPr id="649" name="Google Shape;649;p65"/>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650" name="Google Shape;650;p65"/>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1" name="Google Shape;651;p65"/>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2" name="Google Shape;652;p6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Clr>
                <a:schemeClr val="dk1"/>
              </a:buClr>
              <a:buSzPts val="1100"/>
              <a:buFont typeface="Arial"/>
              <a:buNone/>
            </a:pPr>
            <a:r>
              <a:rPr lang="en-GB"/>
              <a:t>(Meta)data</a:t>
            </a:r>
            <a:r>
              <a:rPr lang="en-GB"/>
              <a:t> in context</a:t>
            </a:r>
            <a:endParaRPr/>
          </a:p>
        </p:txBody>
      </p:sp>
      <p:sp>
        <p:nvSpPr>
          <p:cNvPr id="653" name="Google Shape;653;p65"/>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654" name="Google Shape;654;p65"/>
          <p:cNvSpPr/>
          <p:nvPr/>
        </p:nvSpPr>
        <p:spPr>
          <a:xfrm>
            <a:off x="1474825" y="2317875"/>
            <a:ext cx="12708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Sampling </a:t>
            </a:r>
            <a:br>
              <a:rPr b="0" i="0" lang="en-GB" sz="1200" u="none" cap="none" strike="noStrike">
                <a:solidFill>
                  <a:srgbClr val="000000"/>
                </a:solidFill>
                <a:latin typeface="Arial"/>
                <a:ea typeface="Arial"/>
                <a:cs typeface="Arial"/>
                <a:sym typeface="Arial"/>
              </a:rPr>
            </a:br>
            <a:r>
              <a:rPr lang="en-GB" sz="1200"/>
              <a:t>&amp;</a:t>
            </a:r>
            <a:r>
              <a:rPr b="0" i="0" lang="en-GB" sz="1200" u="none" cap="none" strike="noStrike">
                <a:solidFill>
                  <a:srgbClr val="000000"/>
                </a:solidFill>
                <a:latin typeface="Arial"/>
                <a:ea typeface="Arial"/>
                <a:cs typeface="Arial"/>
                <a:sym typeface="Arial"/>
              </a:rPr>
              <a:t> specimen collection</a:t>
            </a:r>
            <a:endParaRPr b="0" i="0" sz="1200" u="none" cap="none" strike="noStrike">
              <a:solidFill>
                <a:srgbClr val="000000"/>
              </a:solidFill>
              <a:latin typeface="Arial"/>
              <a:ea typeface="Arial"/>
              <a:cs typeface="Arial"/>
              <a:sym typeface="Arial"/>
            </a:endParaRPr>
          </a:p>
        </p:txBody>
      </p:sp>
      <p:sp>
        <p:nvSpPr>
          <p:cNvPr id="655" name="Google Shape;655;p65"/>
          <p:cNvSpPr/>
          <p:nvPr/>
        </p:nvSpPr>
        <p:spPr>
          <a:xfrm>
            <a:off x="2793100" y="2317875"/>
            <a:ext cx="10722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preparation </a:t>
            </a:r>
            <a:endParaRPr b="0" i="0" sz="1200" u="none" cap="none" strike="noStrike">
              <a:solidFill>
                <a:srgbClr val="000000"/>
              </a:solidFill>
              <a:latin typeface="Arial"/>
              <a:ea typeface="Arial"/>
              <a:cs typeface="Arial"/>
              <a:sym typeface="Arial"/>
            </a:endParaRPr>
          </a:p>
        </p:txBody>
      </p:sp>
      <p:sp>
        <p:nvSpPr>
          <p:cNvPr id="656" name="Google Shape;656;p65"/>
          <p:cNvSpPr/>
          <p:nvPr/>
        </p:nvSpPr>
        <p:spPr>
          <a:xfrm>
            <a:off x="3908350" y="2317875"/>
            <a:ext cx="1297800" cy="652200"/>
          </a:xfrm>
          <a:prstGeom prst="roundRect">
            <a:avLst>
              <a:gd fmla="val 16667" name="adj"/>
            </a:avLst>
          </a:prstGeom>
          <a:gradFill>
            <a:gsLst>
              <a:gs pos="0">
                <a:srgbClr val="D9EAD3"/>
              </a:gs>
              <a:gs pos="100000">
                <a:srgbClr val="FCE5CD"/>
              </a:gs>
            </a:gsLst>
            <a:lin ang="0" scaled="0"/>
          </a:gra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analysis </a:t>
            </a:r>
            <a:r>
              <a:rPr lang="en-GB" sz="1200"/>
              <a:t>&amp;</a:t>
            </a:r>
            <a:r>
              <a:rPr b="0" i="0" lang="en-GB" sz="1200" u="none" cap="none" strike="noStrike">
                <a:solidFill>
                  <a:srgbClr val="000000"/>
                </a:solidFill>
                <a:latin typeface="Arial"/>
                <a:ea typeface="Arial"/>
                <a:cs typeface="Arial"/>
                <a:sym typeface="Arial"/>
              </a:rPr>
              <a:t> data generation </a:t>
            </a:r>
            <a:endParaRPr b="0" i="0" sz="1200" u="none" cap="none" strike="noStrike">
              <a:solidFill>
                <a:srgbClr val="000000"/>
              </a:solidFill>
              <a:latin typeface="Arial"/>
              <a:ea typeface="Arial"/>
              <a:cs typeface="Arial"/>
              <a:sym typeface="Arial"/>
            </a:endParaRPr>
          </a:p>
        </p:txBody>
      </p:sp>
      <p:sp>
        <p:nvSpPr>
          <p:cNvPr id="657" name="Google Shape;657;p65"/>
          <p:cNvSpPr/>
          <p:nvPr/>
        </p:nvSpPr>
        <p:spPr>
          <a:xfrm>
            <a:off x="5249200" y="2317875"/>
            <a:ext cx="13326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processing to prepare inputs for analysis </a:t>
            </a:r>
            <a:endParaRPr b="0" i="0" sz="1200" u="none" cap="none" strike="noStrike">
              <a:solidFill>
                <a:srgbClr val="000000"/>
              </a:solidFill>
              <a:latin typeface="Arial"/>
              <a:ea typeface="Arial"/>
              <a:cs typeface="Arial"/>
              <a:sym typeface="Arial"/>
            </a:endParaRPr>
          </a:p>
        </p:txBody>
      </p:sp>
      <p:sp>
        <p:nvSpPr>
          <p:cNvPr id="658" name="Google Shape;658;p65"/>
          <p:cNvSpPr/>
          <p:nvPr/>
        </p:nvSpPr>
        <p:spPr>
          <a:xfrm>
            <a:off x="6627850" y="2317875"/>
            <a:ext cx="9225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analysis</a:t>
            </a:r>
            <a:endParaRPr b="0" i="0" sz="1200" u="none" cap="none" strike="noStrike">
              <a:solidFill>
                <a:srgbClr val="000000"/>
              </a:solidFill>
              <a:latin typeface="Arial"/>
              <a:ea typeface="Arial"/>
              <a:cs typeface="Arial"/>
              <a:sym typeface="Arial"/>
            </a:endParaRPr>
          </a:p>
        </p:txBody>
      </p:sp>
      <p:sp>
        <p:nvSpPr>
          <p:cNvPr id="659" name="Google Shape;659;p65"/>
          <p:cNvSpPr/>
          <p:nvPr/>
        </p:nvSpPr>
        <p:spPr>
          <a:xfrm>
            <a:off x="7593400" y="2317875"/>
            <a:ext cx="1185600" cy="652200"/>
          </a:xfrm>
          <a:prstGeom prst="roundRect">
            <a:avLst>
              <a:gd fmla="val 16667" name="adj"/>
            </a:avLst>
          </a:prstGeom>
          <a:solidFill>
            <a:srgbClr val="D9D2E9"/>
          </a:solidFill>
          <a:ln cap="flat" cmpd="sng" w="19050">
            <a:solidFill>
              <a:srgbClr val="351C75"/>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Communicating results</a:t>
            </a:r>
            <a:endParaRPr b="0" i="0" sz="1200" u="none" cap="none" strike="noStrike">
              <a:solidFill>
                <a:srgbClr val="000000"/>
              </a:solidFill>
              <a:latin typeface="Arial"/>
              <a:ea typeface="Arial"/>
              <a:cs typeface="Arial"/>
              <a:sym typeface="Arial"/>
            </a:endParaRPr>
          </a:p>
        </p:txBody>
      </p:sp>
      <p:sp>
        <p:nvSpPr>
          <p:cNvPr id="660" name="Google Shape;660;p65"/>
          <p:cNvSpPr txBox="1"/>
          <p:nvPr/>
        </p:nvSpPr>
        <p:spPr>
          <a:xfrm>
            <a:off x="268125" y="3130700"/>
            <a:ext cx="11856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t/>
            </a:r>
            <a:endParaRPr sz="1300"/>
          </a:p>
        </p:txBody>
      </p:sp>
      <p:sp>
        <p:nvSpPr>
          <p:cNvPr id="661" name="Google Shape;661;p65"/>
          <p:cNvSpPr txBox="1"/>
          <p:nvPr/>
        </p:nvSpPr>
        <p:spPr>
          <a:xfrm>
            <a:off x="1434225" y="3130700"/>
            <a:ext cx="30384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63891F"/>
                </a:solidFill>
              </a:rPr>
              <a:t>Biosamples and instruments</a:t>
            </a:r>
            <a:br>
              <a:rPr lang="en-GB" sz="1000"/>
            </a:br>
            <a:endParaRPr sz="1300"/>
          </a:p>
        </p:txBody>
      </p:sp>
      <p:sp>
        <p:nvSpPr>
          <p:cNvPr id="662" name="Google Shape;662;p65"/>
          <p:cNvSpPr/>
          <p:nvPr/>
        </p:nvSpPr>
        <p:spPr>
          <a:xfrm>
            <a:off x="1434223" y="3043557"/>
            <a:ext cx="3089100" cy="53700"/>
          </a:xfrm>
          <a:prstGeom prst="rect">
            <a:avLst/>
          </a:prstGeom>
          <a:solidFill>
            <a:srgbClr val="6389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63" name="Google Shape;663;p65"/>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64" name="Google Shape;664;p65"/>
          <p:cNvSpPr/>
          <p:nvPr/>
        </p:nvSpPr>
        <p:spPr>
          <a:xfrm>
            <a:off x="4603283" y="3043557"/>
            <a:ext cx="3089100" cy="53700"/>
          </a:xfrm>
          <a:prstGeom prst="rect">
            <a:avLst/>
          </a:prstGeom>
          <a:solidFill>
            <a:srgbClr val="E6842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65" name="Google Shape;665;p65"/>
          <p:cNvSpPr txBox="1"/>
          <p:nvPr/>
        </p:nvSpPr>
        <p:spPr>
          <a:xfrm>
            <a:off x="4603275" y="3130700"/>
            <a:ext cx="32103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E68422"/>
                </a:solidFill>
              </a:rPr>
              <a:t>Data and computational workflows</a:t>
            </a:r>
            <a:endParaRPr b="1" sz="1400">
              <a:solidFill>
                <a:srgbClr val="E68422"/>
              </a:solidFill>
            </a:endParaRPr>
          </a:p>
          <a:p>
            <a:pPr indent="0" lvl="0" marL="0" rtl="0" algn="l">
              <a:spcBef>
                <a:spcPts val="0"/>
              </a:spcBef>
              <a:spcAft>
                <a:spcPts val="0"/>
              </a:spcAft>
              <a:buNone/>
            </a:pPr>
            <a:r>
              <a:t/>
            </a:r>
            <a:endParaRPr b="1" sz="1400">
              <a:solidFill>
                <a:srgbClr val="E68422"/>
              </a:solidFill>
            </a:endParaRPr>
          </a:p>
        </p:txBody>
      </p:sp>
      <p:sp>
        <p:nvSpPr>
          <p:cNvPr id="666" name="Google Shape;666;p65"/>
          <p:cNvSpPr/>
          <p:nvPr/>
        </p:nvSpPr>
        <p:spPr>
          <a:xfrm>
            <a:off x="7772350" y="3043550"/>
            <a:ext cx="968100" cy="55500"/>
          </a:xfrm>
          <a:prstGeom prst="rect">
            <a:avLst/>
          </a:prstGeom>
          <a:solidFill>
            <a:srgbClr val="351C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67" name="Google Shape;667;p65"/>
          <p:cNvSpPr txBox="1"/>
          <p:nvPr/>
        </p:nvSpPr>
        <p:spPr>
          <a:xfrm>
            <a:off x="7734775" y="3130725"/>
            <a:ext cx="118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51C75"/>
                </a:solidFill>
              </a:rPr>
              <a:t>Outputs</a:t>
            </a:r>
            <a:endParaRPr b="1" sz="1400">
              <a:solidFill>
                <a:srgbClr val="351C75"/>
              </a:solidFill>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pic>
        <p:nvPicPr>
          <p:cNvPr id="668" name="Google Shape;668;p65"/>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669" name="Google Shape;669;p65"/>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670" name="Google Shape;670;p65"/>
          <p:cNvGrpSpPr/>
          <p:nvPr/>
        </p:nvGrpSpPr>
        <p:grpSpPr>
          <a:xfrm>
            <a:off x="5546173" y="996742"/>
            <a:ext cx="968204" cy="968204"/>
            <a:chOff x="6079573" y="996742"/>
            <a:chExt cx="968204" cy="968204"/>
          </a:xfrm>
        </p:grpSpPr>
        <p:pic>
          <p:nvPicPr>
            <p:cNvPr descr="Desktop computer vector image with flat screen" id="671" name="Google Shape;671;p65"/>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672" name="Google Shape;672;p65"/>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673" name="Google Shape;673;p65"/>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674" name="Google Shape;674;p65"/>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675" name="Google Shape;675;p65"/>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676" name="Google Shape;676;p65"/>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677" name="Google Shape;677;p65"/>
          <p:cNvGrpSpPr/>
          <p:nvPr/>
        </p:nvGrpSpPr>
        <p:grpSpPr>
          <a:xfrm>
            <a:off x="8126767" y="962465"/>
            <a:ext cx="623046" cy="1205706"/>
            <a:chOff x="7845504" y="1416558"/>
            <a:chExt cx="1131782" cy="2190201"/>
          </a:xfrm>
        </p:grpSpPr>
        <p:pic>
          <p:nvPicPr>
            <p:cNvPr id="678" name="Google Shape;678;p65"/>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679" name="Google Shape;679;p65"/>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680" name="Google Shape;680;p65"/>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681" name="Google Shape;681;p65"/>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682" name="Google Shape;682;p65"/>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683" name="Google Shape;683;p65"/>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684" name="Google Shape;684;p65"/>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685" name="Google Shape;685;p65"/>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686" name="Google Shape;686;p65"/>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687" name="Google Shape;687;p65"/>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688" name="Google Shape;688;p65"/>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689" name="Google Shape;689;p65"/>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
        <p:nvSpPr>
          <p:cNvPr id="690" name="Google Shape;690;p65"/>
          <p:cNvSpPr/>
          <p:nvPr/>
        </p:nvSpPr>
        <p:spPr>
          <a:xfrm>
            <a:off x="232397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800"/>
              <a:buFont typeface="Arial"/>
              <a:buNone/>
            </a:pPr>
            <a:r>
              <a:rPr lang="en-GB" sz="1000">
                <a:solidFill>
                  <a:schemeClr val="dk1"/>
                </a:solidFill>
              </a:rPr>
              <a:t>Biobank or Collection</a:t>
            </a:r>
            <a:endParaRPr sz="1000"/>
          </a:p>
        </p:txBody>
      </p:sp>
      <p:sp>
        <p:nvSpPr>
          <p:cNvPr id="691" name="Google Shape;691;p65"/>
          <p:cNvSpPr/>
          <p:nvPr/>
        </p:nvSpPr>
        <p:spPr>
          <a:xfrm>
            <a:off x="147482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Laboratory workspaces</a:t>
            </a:r>
            <a:endParaRPr sz="1000"/>
          </a:p>
        </p:txBody>
      </p:sp>
      <p:sp>
        <p:nvSpPr>
          <p:cNvPr id="692" name="Google Shape;692;p65"/>
          <p:cNvSpPr/>
          <p:nvPr/>
        </p:nvSpPr>
        <p:spPr>
          <a:xfrm>
            <a:off x="54673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t>Digital workspaces</a:t>
            </a:r>
            <a:endParaRPr sz="1000"/>
          </a:p>
        </p:txBody>
      </p:sp>
      <p:sp>
        <p:nvSpPr>
          <p:cNvPr id="693" name="Google Shape;693;p65"/>
          <p:cNvSpPr/>
          <p:nvPr/>
        </p:nvSpPr>
        <p:spPr>
          <a:xfrm>
            <a:off x="460327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Data delivery</a:t>
            </a:r>
            <a:endParaRPr sz="1000"/>
          </a:p>
        </p:txBody>
      </p:sp>
      <p:sp>
        <p:nvSpPr>
          <p:cNvPr id="694" name="Google Shape;694;p65"/>
          <p:cNvSpPr/>
          <p:nvPr/>
        </p:nvSpPr>
        <p:spPr>
          <a:xfrm>
            <a:off x="70195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000000"/>
                </a:solidFill>
              </a:rPr>
              <a:t>Local data archive</a:t>
            </a:r>
            <a:r>
              <a:rPr lang="en-GB" sz="1200"/>
              <a:t> </a:t>
            </a:r>
            <a:r>
              <a:rPr lang="en-GB" sz="1000">
                <a:solidFill>
                  <a:srgbClr val="000000"/>
                </a:solidFill>
              </a:rPr>
              <a:t>etc</a:t>
            </a:r>
            <a:endParaRPr sz="1400"/>
          </a:p>
        </p:txBody>
      </p:sp>
      <p:sp>
        <p:nvSpPr>
          <p:cNvPr id="695" name="Google Shape;695;p65"/>
          <p:cNvSpPr/>
          <p:nvPr/>
        </p:nvSpPr>
        <p:spPr>
          <a:xfrm>
            <a:off x="7913650" y="3600675"/>
            <a:ext cx="794100" cy="548400"/>
          </a:xfrm>
          <a:prstGeom prst="can">
            <a:avLst>
              <a:gd fmla="val 25000" name="adj"/>
            </a:avLst>
          </a:prstGeom>
          <a:solidFill>
            <a:srgbClr val="D9D2E9"/>
          </a:solidFill>
          <a:ln cap="flat" cmpd="sng" w="19050">
            <a:solidFill>
              <a:srgbClr val="8064A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Research databases</a:t>
            </a:r>
            <a:endParaRPr sz="1000"/>
          </a:p>
        </p:txBody>
      </p:sp>
      <p:sp>
        <p:nvSpPr>
          <p:cNvPr id="696" name="Google Shape;696;p65"/>
          <p:cNvSpPr/>
          <p:nvPr/>
        </p:nvSpPr>
        <p:spPr>
          <a:xfrm>
            <a:off x="337225" y="3600675"/>
            <a:ext cx="794100" cy="548400"/>
          </a:xfrm>
          <a:prstGeom prst="can">
            <a:avLst>
              <a:gd fmla="val 25000" name="adj"/>
            </a:avLst>
          </a:prstGeom>
          <a:solidFill>
            <a:srgbClr val="D8E2F3"/>
          </a:solidFill>
          <a:ln cap="flat" cmpd="sng" w="25400">
            <a:solidFill>
              <a:srgbClr val="31538F"/>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000"/>
              <a:t>Information systems</a:t>
            </a:r>
            <a:endParaRPr sz="14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0" name="Shape 700"/>
        <p:cNvGrpSpPr/>
        <p:nvPr/>
      </p:nvGrpSpPr>
      <p:grpSpPr>
        <a:xfrm>
          <a:off x="0" y="0"/>
          <a:ext cx="0" cy="0"/>
          <a:chOff x="0" y="0"/>
          <a:chExt cx="0" cy="0"/>
        </a:xfrm>
      </p:grpSpPr>
      <p:pic>
        <p:nvPicPr>
          <p:cNvPr id="701" name="Google Shape;701;p66"/>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702" name="Google Shape;702;p66"/>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03" name="Google Shape;703;p66"/>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04" name="Google Shape;704;p66"/>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Clr>
                <a:schemeClr val="dk1"/>
              </a:buClr>
              <a:buSzPts val="1100"/>
              <a:buFont typeface="Arial"/>
              <a:buNone/>
            </a:pPr>
            <a:r>
              <a:rPr lang="en-GB"/>
              <a:t>(Meta)data</a:t>
            </a:r>
            <a:r>
              <a:rPr lang="en-GB"/>
              <a:t> in context</a:t>
            </a:r>
            <a:endParaRPr/>
          </a:p>
        </p:txBody>
      </p:sp>
      <p:sp>
        <p:nvSpPr>
          <p:cNvPr id="705" name="Google Shape;705;p66"/>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706" name="Google Shape;706;p66"/>
          <p:cNvSpPr/>
          <p:nvPr/>
        </p:nvSpPr>
        <p:spPr>
          <a:xfrm>
            <a:off x="1474825" y="2317875"/>
            <a:ext cx="12708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Sampling </a:t>
            </a:r>
            <a:br>
              <a:rPr b="0" i="0" lang="en-GB" sz="1200" u="none" cap="none" strike="noStrike">
                <a:solidFill>
                  <a:srgbClr val="000000"/>
                </a:solidFill>
                <a:latin typeface="Arial"/>
                <a:ea typeface="Arial"/>
                <a:cs typeface="Arial"/>
                <a:sym typeface="Arial"/>
              </a:rPr>
            </a:br>
            <a:r>
              <a:rPr lang="en-GB" sz="1200"/>
              <a:t>&amp;</a:t>
            </a:r>
            <a:r>
              <a:rPr b="0" i="0" lang="en-GB" sz="1200" u="none" cap="none" strike="noStrike">
                <a:solidFill>
                  <a:srgbClr val="000000"/>
                </a:solidFill>
                <a:latin typeface="Arial"/>
                <a:ea typeface="Arial"/>
                <a:cs typeface="Arial"/>
                <a:sym typeface="Arial"/>
              </a:rPr>
              <a:t> specimen collection</a:t>
            </a:r>
            <a:endParaRPr b="0" i="0" sz="1200" u="none" cap="none" strike="noStrike">
              <a:solidFill>
                <a:srgbClr val="000000"/>
              </a:solidFill>
              <a:latin typeface="Arial"/>
              <a:ea typeface="Arial"/>
              <a:cs typeface="Arial"/>
              <a:sym typeface="Arial"/>
            </a:endParaRPr>
          </a:p>
        </p:txBody>
      </p:sp>
      <p:sp>
        <p:nvSpPr>
          <p:cNvPr id="707" name="Google Shape;707;p66"/>
          <p:cNvSpPr/>
          <p:nvPr/>
        </p:nvSpPr>
        <p:spPr>
          <a:xfrm>
            <a:off x="2793100" y="2317875"/>
            <a:ext cx="10722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preparation </a:t>
            </a:r>
            <a:endParaRPr b="0" i="0" sz="1200" u="none" cap="none" strike="noStrike">
              <a:solidFill>
                <a:srgbClr val="000000"/>
              </a:solidFill>
              <a:latin typeface="Arial"/>
              <a:ea typeface="Arial"/>
              <a:cs typeface="Arial"/>
              <a:sym typeface="Arial"/>
            </a:endParaRPr>
          </a:p>
        </p:txBody>
      </p:sp>
      <p:sp>
        <p:nvSpPr>
          <p:cNvPr id="708" name="Google Shape;708;p66"/>
          <p:cNvSpPr/>
          <p:nvPr/>
        </p:nvSpPr>
        <p:spPr>
          <a:xfrm>
            <a:off x="3908350" y="2317875"/>
            <a:ext cx="1297800" cy="652200"/>
          </a:xfrm>
          <a:prstGeom prst="roundRect">
            <a:avLst>
              <a:gd fmla="val 16667" name="adj"/>
            </a:avLst>
          </a:prstGeom>
          <a:gradFill>
            <a:gsLst>
              <a:gs pos="0">
                <a:srgbClr val="D9EAD3"/>
              </a:gs>
              <a:gs pos="100000">
                <a:srgbClr val="FCE5CD"/>
              </a:gs>
            </a:gsLst>
            <a:lin ang="0" scaled="0"/>
          </a:gra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analysis </a:t>
            </a:r>
            <a:r>
              <a:rPr lang="en-GB" sz="1200"/>
              <a:t>&amp;</a:t>
            </a:r>
            <a:r>
              <a:rPr b="0" i="0" lang="en-GB" sz="1200" u="none" cap="none" strike="noStrike">
                <a:solidFill>
                  <a:srgbClr val="000000"/>
                </a:solidFill>
                <a:latin typeface="Arial"/>
                <a:ea typeface="Arial"/>
                <a:cs typeface="Arial"/>
                <a:sym typeface="Arial"/>
              </a:rPr>
              <a:t> data generation </a:t>
            </a:r>
            <a:endParaRPr b="0" i="0" sz="1200" u="none" cap="none" strike="noStrike">
              <a:solidFill>
                <a:srgbClr val="000000"/>
              </a:solidFill>
              <a:latin typeface="Arial"/>
              <a:ea typeface="Arial"/>
              <a:cs typeface="Arial"/>
              <a:sym typeface="Arial"/>
            </a:endParaRPr>
          </a:p>
        </p:txBody>
      </p:sp>
      <p:sp>
        <p:nvSpPr>
          <p:cNvPr id="709" name="Google Shape;709;p66"/>
          <p:cNvSpPr/>
          <p:nvPr/>
        </p:nvSpPr>
        <p:spPr>
          <a:xfrm>
            <a:off x="5249200" y="2317875"/>
            <a:ext cx="13326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processing to prepare inputs for analysis </a:t>
            </a:r>
            <a:endParaRPr b="0" i="0" sz="1200" u="none" cap="none" strike="noStrike">
              <a:solidFill>
                <a:srgbClr val="000000"/>
              </a:solidFill>
              <a:latin typeface="Arial"/>
              <a:ea typeface="Arial"/>
              <a:cs typeface="Arial"/>
              <a:sym typeface="Arial"/>
            </a:endParaRPr>
          </a:p>
        </p:txBody>
      </p:sp>
      <p:sp>
        <p:nvSpPr>
          <p:cNvPr id="710" name="Google Shape;710;p66"/>
          <p:cNvSpPr/>
          <p:nvPr/>
        </p:nvSpPr>
        <p:spPr>
          <a:xfrm>
            <a:off x="6627850" y="2317875"/>
            <a:ext cx="9225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analysis</a:t>
            </a:r>
            <a:endParaRPr b="0" i="0" sz="1200" u="none" cap="none" strike="noStrike">
              <a:solidFill>
                <a:srgbClr val="000000"/>
              </a:solidFill>
              <a:latin typeface="Arial"/>
              <a:ea typeface="Arial"/>
              <a:cs typeface="Arial"/>
              <a:sym typeface="Arial"/>
            </a:endParaRPr>
          </a:p>
        </p:txBody>
      </p:sp>
      <p:sp>
        <p:nvSpPr>
          <p:cNvPr id="711" name="Google Shape;711;p66"/>
          <p:cNvSpPr/>
          <p:nvPr/>
        </p:nvSpPr>
        <p:spPr>
          <a:xfrm>
            <a:off x="7593400" y="2317875"/>
            <a:ext cx="1185600" cy="652200"/>
          </a:xfrm>
          <a:prstGeom prst="roundRect">
            <a:avLst>
              <a:gd fmla="val 16667" name="adj"/>
            </a:avLst>
          </a:prstGeom>
          <a:solidFill>
            <a:srgbClr val="D9D2E9"/>
          </a:solidFill>
          <a:ln cap="flat" cmpd="sng" w="19050">
            <a:solidFill>
              <a:srgbClr val="351C75"/>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Communicating results</a:t>
            </a:r>
            <a:endParaRPr b="0" i="0" sz="1200" u="none" cap="none" strike="noStrike">
              <a:solidFill>
                <a:srgbClr val="000000"/>
              </a:solidFill>
              <a:latin typeface="Arial"/>
              <a:ea typeface="Arial"/>
              <a:cs typeface="Arial"/>
              <a:sym typeface="Arial"/>
            </a:endParaRPr>
          </a:p>
        </p:txBody>
      </p:sp>
      <p:sp>
        <p:nvSpPr>
          <p:cNvPr id="712" name="Google Shape;712;p66"/>
          <p:cNvSpPr txBox="1"/>
          <p:nvPr/>
        </p:nvSpPr>
        <p:spPr>
          <a:xfrm>
            <a:off x="268125" y="3130700"/>
            <a:ext cx="11856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rPr lang="en-GB" sz="1000"/>
              <a:t>data protection, </a:t>
            </a:r>
            <a:endParaRPr sz="10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ethic</a:t>
            </a:r>
            <a:r>
              <a:rPr lang="en-GB" sz="1000"/>
              <a:t>s</a:t>
            </a:r>
            <a:r>
              <a:rPr b="0" i="0" lang="en-GB" sz="1000" u="none" cap="none" strike="noStrike">
                <a:solidFill>
                  <a:srgbClr val="000000"/>
                </a:solidFill>
                <a:latin typeface="Arial"/>
                <a:ea typeface="Arial"/>
                <a:cs typeface="Arial"/>
                <a:sym typeface="Arial"/>
              </a:rPr>
              <a:t> permit,</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infrastructure,</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standards,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protocols,</a:t>
            </a:r>
            <a:br>
              <a:rPr b="0" i="0" lang="en-GB" sz="1000" u="none" cap="none" strike="noStrike">
                <a:solidFill>
                  <a:srgbClr val="000000"/>
                </a:solidFill>
                <a:latin typeface="Arial"/>
                <a:ea typeface="Arial"/>
                <a:cs typeface="Arial"/>
                <a:sym typeface="Arial"/>
              </a:rPr>
            </a:br>
            <a:r>
              <a:rPr b="0" i="0" lang="en-GB" sz="1000" u="none" cap="none" strike="noStrike">
                <a:solidFill>
                  <a:srgbClr val="000000"/>
                </a:solidFill>
                <a:latin typeface="Arial"/>
                <a:ea typeface="Arial"/>
                <a:cs typeface="Arial"/>
                <a:sym typeface="Arial"/>
              </a:rPr>
              <a:t>data dictionaries,</a:t>
            </a:r>
            <a:endParaRPr sz="1300"/>
          </a:p>
          <a:p>
            <a:pPr indent="0" lvl="0" marL="0" marR="0" rtl="0" algn="l">
              <a:lnSpc>
                <a:spcPct val="100000"/>
              </a:lnSpc>
              <a:spcBef>
                <a:spcPts val="0"/>
              </a:spcBef>
              <a:spcAft>
                <a:spcPts val="0"/>
              </a:spcAft>
              <a:buNone/>
            </a:pPr>
            <a:r>
              <a:rPr lang="en-GB" sz="1000"/>
              <a:t>data access, …</a:t>
            </a:r>
            <a:endParaRPr sz="1300"/>
          </a:p>
        </p:txBody>
      </p:sp>
      <p:sp>
        <p:nvSpPr>
          <p:cNvPr id="713" name="Google Shape;713;p66"/>
          <p:cNvSpPr/>
          <p:nvPr/>
        </p:nvSpPr>
        <p:spPr>
          <a:xfrm>
            <a:off x="1434223" y="3043557"/>
            <a:ext cx="3089100" cy="53700"/>
          </a:xfrm>
          <a:prstGeom prst="rect">
            <a:avLst/>
          </a:prstGeom>
          <a:solidFill>
            <a:srgbClr val="6389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4" name="Google Shape;714;p66"/>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5" name="Google Shape;715;p66"/>
          <p:cNvSpPr/>
          <p:nvPr/>
        </p:nvSpPr>
        <p:spPr>
          <a:xfrm>
            <a:off x="4603283" y="3043557"/>
            <a:ext cx="3089100" cy="53700"/>
          </a:xfrm>
          <a:prstGeom prst="rect">
            <a:avLst/>
          </a:prstGeom>
          <a:solidFill>
            <a:srgbClr val="E6842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6" name="Google Shape;716;p66"/>
          <p:cNvSpPr/>
          <p:nvPr/>
        </p:nvSpPr>
        <p:spPr>
          <a:xfrm>
            <a:off x="7772350" y="3043550"/>
            <a:ext cx="968100" cy="55500"/>
          </a:xfrm>
          <a:prstGeom prst="rect">
            <a:avLst/>
          </a:prstGeom>
          <a:solidFill>
            <a:srgbClr val="351C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717" name="Google Shape;717;p66"/>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718" name="Google Shape;718;p66"/>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719" name="Google Shape;719;p66"/>
          <p:cNvGrpSpPr/>
          <p:nvPr/>
        </p:nvGrpSpPr>
        <p:grpSpPr>
          <a:xfrm>
            <a:off x="5546173" y="996742"/>
            <a:ext cx="968204" cy="968204"/>
            <a:chOff x="6079573" y="996742"/>
            <a:chExt cx="968204" cy="968204"/>
          </a:xfrm>
        </p:grpSpPr>
        <p:pic>
          <p:nvPicPr>
            <p:cNvPr descr="Desktop computer vector image with flat screen" id="720" name="Google Shape;720;p66"/>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721" name="Google Shape;721;p66"/>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722" name="Google Shape;722;p66"/>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723" name="Google Shape;723;p66"/>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724" name="Google Shape;724;p66"/>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725" name="Google Shape;725;p66"/>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726" name="Google Shape;726;p66"/>
          <p:cNvGrpSpPr/>
          <p:nvPr/>
        </p:nvGrpSpPr>
        <p:grpSpPr>
          <a:xfrm>
            <a:off x="8126767" y="962465"/>
            <a:ext cx="623046" cy="1205706"/>
            <a:chOff x="7845504" y="1416558"/>
            <a:chExt cx="1131782" cy="2190201"/>
          </a:xfrm>
        </p:grpSpPr>
        <p:pic>
          <p:nvPicPr>
            <p:cNvPr id="727" name="Google Shape;727;p66"/>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728" name="Google Shape;728;p66"/>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729" name="Google Shape;729;p66"/>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730" name="Google Shape;730;p66"/>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731" name="Google Shape;731;p66"/>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732" name="Google Shape;732;p66"/>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733" name="Google Shape;733;p66"/>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734" name="Google Shape;734;p66"/>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735" name="Google Shape;735;p66"/>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736" name="Google Shape;736;p66"/>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737" name="Google Shape;737;p66"/>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738" name="Google Shape;738;p66"/>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
        <p:nvSpPr>
          <p:cNvPr id="739" name="Google Shape;739;p66"/>
          <p:cNvSpPr/>
          <p:nvPr/>
        </p:nvSpPr>
        <p:spPr>
          <a:xfrm>
            <a:off x="232397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800"/>
              <a:buFont typeface="Arial"/>
              <a:buNone/>
            </a:pPr>
            <a:r>
              <a:rPr lang="en-GB" sz="1000">
                <a:solidFill>
                  <a:schemeClr val="dk1"/>
                </a:solidFill>
              </a:rPr>
              <a:t>Biobank or Collection</a:t>
            </a:r>
            <a:endParaRPr sz="1000"/>
          </a:p>
        </p:txBody>
      </p:sp>
      <p:sp>
        <p:nvSpPr>
          <p:cNvPr id="740" name="Google Shape;740;p66"/>
          <p:cNvSpPr/>
          <p:nvPr/>
        </p:nvSpPr>
        <p:spPr>
          <a:xfrm>
            <a:off x="1474825" y="3600675"/>
            <a:ext cx="794100" cy="548400"/>
          </a:xfrm>
          <a:prstGeom prst="can">
            <a:avLst>
              <a:gd fmla="val 25000" name="adj"/>
            </a:avLst>
          </a:prstGeom>
          <a:solidFill>
            <a:srgbClr val="D9EAD3"/>
          </a:solidFill>
          <a:ln cap="flat" cmpd="sng" w="19050">
            <a:solidFill>
              <a:srgbClr val="63891F"/>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Laboratory workspaces</a:t>
            </a:r>
            <a:endParaRPr sz="1000"/>
          </a:p>
        </p:txBody>
      </p:sp>
      <p:sp>
        <p:nvSpPr>
          <p:cNvPr id="741" name="Google Shape;741;p66"/>
          <p:cNvSpPr/>
          <p:nvPr/>
        </p:nvSpPr>
        <p:spPr>
          <a:xfrm>
            <a:off x="54673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t>Digital workspaces</a:t>
            </a:r>
            <a:endParaRPr sz="1000"/>
          </a:p>
        </p:txBody>
      </p:sp>
      <p:sp>
        <p:nvSpPr>
          <p:cNvPr id="742" name="Google Shape;742;p66"/>
          <p:cNvSpPr/>
          <p:nvPr/>
        </p:nvSpPr>
        <p:spPr>
          <a:xfrm>
            <a:off x="460327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Data delivery</a:t>
            </a:r>
            <a:endParaRPr sz="1000"/>
          </a:p>
        </p:txBody>
      </p:sp>
      <p:sp>
        <p:nvSpPr>
          <p:cNvPr id="743" name="Google Shape;743;p66"/>
          <p:cNvSpPr/>
          <p:nvPr/>
        </p:nvSpPr>
        <p:spPr>
          <a:xfrm>
            <a:off x="70195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000000"/>
                </a:solidFill>
              </a:rPr>
              <a:t>Local data archive</a:t>
            </a:r>
            <a:r>
              <a:rPr lang="en-GB" sz="1200"/>
              <a:t> </a:t>
            </a:r>
            <a:r>
              <a:rPr lang="en-GB" sz="1000">
                <a:solidFill>
                  <a:srgbClr val="000000"/>
                </a:solidFill>
              </a:rPr>
              <a:t>etc</a:t>
            </a:r>
            <a:endParaRPr sz="1400"/>
          </a:p>
        </p:txBody>
      </p:sp>
      <p:sp>
        <p:nvSpPr>
          <p:cNvPr id="744" name="Google Shape;744;p66"/>
          <p:cNvSpPr/>
          <p:nvPr/>
        </p:nvSpPr>
        <p:spPr>
          <a:xfrm>
            <a:off x="7913650" y="3600675"/>
            <a:ext cx="794100" cy="548400"/>
          </a:xfrm>
          <a:prstGeom prst="can">
            <a:avLst>
              <a:gd fmla="val 25000" name="adj"/>
            </a:avLst>
          </a:prstGeom>
          <a:solidFill>
            <a:srgbClr val="D9D2E9"/>
          </a:solidFill>
          <a:ln cap="flat" cmpd="sng" w="19050">
            <a:solidFill>
              <a:srgbClr val="8064A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Research databases</a:t>
            </a:r>
            <a:endParaRPr sz="1000"/>
          </a:p>
        </p:txBody>
      </p:sp>
      <p:sp>
        <p:nvSpPr>
          <p:cNvPr id="745" name="Google Shape;745;p66"/>
          <p:cNvSpPr txBox="1"/>
          <p:nvPr/>
        </p:nvSpPr>
        <p:spPr>
          <a:xfrm>
            <a:off x="1434225" y="3130700"/>
            <a:ext cx="30384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63891F"/>
                </a:solidFill>
              </a:rPr>
              <a:t>Biosamples and instruments</a:t>
            </a:r>
            <a:br>
              <a:rPr lang="en-GB" sz="1000"/>
            </a:br>
            <a:endParaRPr sz="1300"/>
          </a:p>
        </p:txBody>
      </p:sp>
      <p:sp>
        <p:nvSpPr>
          <p:cNvPr id="746" name="Google Shape;746;p66"/>
          <p:cNvSpPr txBox="1"/>
          <p:nvPr/>
        </p:nvSpPr>
        <p:spPr>
          <a:xfrm>
            <a:off x="4603275" y="3130700"/>
            <a:ext cx="32103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E68422"/>
                </a:solidFill>
              </a:rPr>
              <a:t>Data and computational workflows</a:t>
            </a:r>
            <a:endParaRPr b="1" sz="1400">
              <a:solidFill>
                <a:srgbClr val="E68422"/>
              </a:solidFill>
            </a:endParaRPr>
          </a:p>
          <a:p>
            <a:pPr indent="0" lvl="0" marL="0" rtl="0" algn="l">
              <a:spcBef>
                <a:spcPts val="0"/>
              </a:spcBef>
              <a:spcAft>
                <a:spcPts val="0"/>
              </a:spcAft>
              <a:buNone/>
            </a:pPr>
            <a:r>
              <a:t/>
            </a:r>
            <a:endParaRPr b="1" sz="1400">
              <a:solidFill>
                <a:srgbClr val="E68422"/>
              </a:solidFill>
            </a:endParaRPr>
          </a:p>
        </p:txBody>
      </p:sp>
      <p:sp>
        <p:nvSpPr>
          <p:cNvPr id="747" name="Google Shape;747;p66"/>
          <p:cNvSpPr txBox="1"/>
          <p:nvPr/>
        </p:nvSpPr>
        <p:spPr>
          <a:xfrm>
            <a:off x="7734775" y="3130725"/>
            <a:ext cx="118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51C75"/>
                </a:solidFill>
              </a:rPr>
              <a:t>Outputs</a:t>
            </a:r>
            <a:endParaRPr b="1" sz="1400">
              <a:solidFill>
                <a:srgbClr val="351C75"/>
              </a:solidFill>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1" name="Shape 751"/>
        <p:cNvGrpSpPr/>
        <p:nvPr/>
      </p:nvGrpSpPr>
      <p:grpSpPr>
        <a:xfrm>
          <a:off x="0" y="0"/>
          <a:ext cx="0" cy="0"/>
          <a:chOff x="0" y="0"/>
          <a:chExt cx="0" cy="0"/>
        </a:xfrm>
      </p:grpSpPr>
      <p:pic>
        <p:nvPicPr>
          <p:cNvPr id="752" name="Google Shape;752;p67"/>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753" name="Google Shape;753;p67"/>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4" name="Google Shape;754;p67"/>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5" name="Google Shape;755;p67"/>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Clr>
                <a:schemeClr val="dk1"/>
              </a:buClr>
              <a:buSzPts val="1100"/>
              <a:buFont typeface="Arial"/>
              <a:buNone/>
            </a:pPr>
            <a:r>
              <a:rPr lang="en-GB"/>
              <a:t>(Meta)data</a:t>
            </a:r>
            <a:r>
              <a:rPr lang="en-GB"/>
              <a:t> in context</a:t>
            </a:r>
            <a:endParaRPr/>
          </a:p>
        </p:txBody>
      </p:sp>
      <p:sp>
        <p:nvSpPr>
          <p:cNvPr id="756" name="Google Shape;756;p67"/>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757" name="Google Shape;757;p67"/>
          <p:cNvSpPr/>
          <p:nvPr/>
        </p:nvSpPr>
        <p:spPr>
          <a:xfrm>
            <a:off x="1474825" y="2317875"/>
            <a:ext cx="12708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Sampling </a:t>
            </a:r>
            <a:br>
              <a:rPr b="0" i="0" lang="en-GB" sz="1200" u="none" cap="none" strike="noStrike">
                <a:solidFill>
                  <a:srgbClr val="000000"/>
                </a:solidFill>
                <a:latin typeface="Arial"/>
                <a:ea typeface="Arial"/>
                <a:cs typeface="Arial"/>
                <a:sym typeface="Arial"/>
              </a:rPr>
            </a:br>
            <a:r>
              <a:rPr lang="en-GB" sz="1200"/>
              <a:t>&amp;</a:t>
            </a:r>
            <a:r>
              <a:rPr b="0" i="0" lang="en-GB" sz="1200" u="none" cap="none" strike="noStrike">
                <a:solidFill>
                  <a:srgbClr val="000000"/>
                </a:solidFill>
                <a:latin typeface="Arial"/>
                <a:ea typeface="Arial"/>
                <a:cs typeface="Arial"/>
                <a:sym typeface="Arial"/>
              </a:rPr>
              <a:t> specimen collection</a:t>
            </a:r>
            <a:endParaRPr b="0" i="0" sz="1200" u="none" cap="none" strike="noStrike">
              <a:solidFill>
                <a:srgbClr val="000000"/>
              </a:solidFill>
              <a:latin typeface="Arial"/>
              <a:ea typeface="Arial"/>
              <a:cs typeface="Arial"/>
              <a:sym typeface="Arial"/>
            </a:endParaRPr>
          </a:p>
        </p:txBody>
      </p:sp>
      <p:sp>
        <p:nvSpPr>
          <p:cNvPr id="758" name="Google Shape;758;p67"/>
          <p:cNvSpPr/>
          <p:nvPr/>
        </p:nvSpPr>
        <p:spPr>
          <a:xfrm>
            <a:off x="2793100" y="2317875"/>
            <a:ext cx="10722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preparation </a:t>
            </a:r>
            <a:endParaRPr b="0" i="0" sz="1200" u="none" cap="none" strike="noStrike">
              <a:solidFill>
                <a:srgbClr val="000000"/>
              </a:solidFill>
              <a:latin typeface="Arial"/>
              <a:ea typeface="Arial"/>
              <a:cs typeface="Arial"/>
              <a:sym typeface="Arial"/>
            </a:endParaRPr>
          </a:p>
        </p:txBody>
      </p:sp>
      <p:sp>
        <p:nvSpPr>
          <p:cNvPr id="759" name="Google Shape;759;p67"/>
          <p:cNvSpPr/>
          <p:nvPr/>
        </p:nvSpPr>
        <p:spPr>
          <a:xfrm>
            <a:off x="3908350" y="2317875"/>
            <a:ext cx="1297800" cy="652200"/>
          </a:xfrm>
          <a:prstGeom prst="roundRect">
            <a:avLst>
              <a:gd fmla="val 16667" name="adj"/>
            </a:avLst>
          </a:prstGeom>
          <a:gradFill>
            <a:gsLst>
              <a:gs pos="0">
                <a:srgbClr val="D9EAD3"/>
              </a:gs>
              <a:gs pos="100000">
                <a:srgbClr val="FCE5CD"/>
              </a:gs>
            </a:gsLst>
            <a:lin ang="0" scaled="0"/>
          </a:gra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analysis </a:t>
            </a:r>
            <a:r>
              <a:rPr lang="en-GB" sz="1200"/>
              <a:t>&amp;</a:t>
            </a:r>
            <a:r>
              <a:rPr b="0" i="0" lang="en-GB" sz="1200" u="none" cap="none" strike="noStrike">
                <a:solidFill>
                  <a:srgbClr val="000000"/>
                </a:solidFill>
                <a:latin typeface="Arial"/>
                <a:ea typeface="Arial"/>
                <a:cs typeface="Arial"/>
                <a:sym typeface="Arial"/>
              </a:rPr>
              <a:t> data generation </a:t>
            </a:r>
            <a:endParaRPr b="0" i="0" sz="1200" u="none" cap="none" strike="noStrike">
              <a:solidFill>
                <a:srgbClr val="000000"/>
              </a:solidFill>
              <a:latin typeface="Arial"/>
              <a:ea typeface="Arial"/>
              <a:cs typeface="Arial"/>
              <a:sym typeface="Arial"/>
            </a:endParaRPr>
          </a:p>
        </p:txBody>
      </p:sp>
      <p:sp>
        <p:nvSpPr>
          <p:cNvPr id="760" name="Google Shape;760;p67"/>
          <p:cNvSpPr/>
          <p:nvPr/>
        </p:nvSpPr>
        <p:spPr>
          <a:xfrm>
            <a:off x="5249200" y="2317875"/>
            <a:ext cx="13326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processing to prepare inputs for analysis </a:t>
            </a:r>
            <a:endParaRPr b="0" i="0" sz="1200" u="none" cap="none" strike="noStrike">
              <a:solidFill>
                <a:srgbClr val="000000"/>
              </a:solidFill>
              <a:latin typeface="Arial"/>
              <a:ea typeface="Arial"/>
              <a:cs typeface="Arial"/>
              <a:sym typeface="Arial"/>
            </a:endParaRPr>
          </a:p>
        </p:txBody>
      </p:sp>
      <p:sp>
        <p:nvSpPr>
          <p:cNvPr id="761" name="Google Shape;761;p67"/>
          <p:cNvSpPr/>
          <p:nvPr/>
        </p:nvSpPr>
        <p:spPr>
          <a:xfrm>
            <a:off x="6627850" y="2317875"/>
            <a:ext cx="9225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analysis</a:t>
            </a:r>
            <a:endParaRPr b="0" i="0" sz="1200" u="none" cap="none" strike="noStrike">
              <a:solidFill>
                <a:srgbClr val="000000"/>
              </a:solidFill>
              <a:latin typeface="Arial"/>
              <a:ea typeface="Arial"/>
              <a:cs typeface="Arial"/>
              <a:sym typeface="Arial"/>
            </a:endParaRPr>
          </a:p>
        </p:txBody>
      </p:sp>
      <p:sp>
        <p:nvSpPr>
          <p:cNvPr id="762" name="Google Shape;762;p67"/>
          <p:cNvSpPr/>
          <p:nvPr/>
        </p:nvSpPr>
        <p:spPr>
          <a:xfrm>
            <a:off x="7593400" y="2317875"/>
            <a:ext cx="1185600" cy="652200"/>
          </a:xfrm>
          <a:prstGeom prst="roundRect">
            <a:avLst>
              <a:gd fmla="val 16667" name="adj"/>
            </a:avLst>
          </a:prstGeom>
          <a:solidFill>
            <a:srgbClr val="D9D2E9"/>
          </a:solidFill>
          <a:ln cap="flat" cmpd="sng" w="19050">
            <a:solidFill>
              <a:srgbClr val="351C75"/>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Communicating results</a:t>
            </a:r>
            <a:endParaRPr b="0" i="0" sz="1200" u="none" cap="none" strike="noStrike">
              <a:solidFill>
                <a:srgbClr val="000000"/>
              </a:solidFill>
              <a:latin typeface="Arial"/>
              <a:ea typeface="Arial"/>
              <a:cs typeface="Arial"/>
              <a:sym typeface="Arial"/>
            </a:endParaRPr>
          </a:p>
        </p:txBody>
      </p:sp>
      <p:sp>
        <p:nvSpPr>
          <p:cNvPr id="763" name="Google Shape;763;p67"/>
          <p:cNvSpPr txBox="1"/>
          <p:nvPr/>
        </p:nvSpPr>
        <p:spPr>
          <a:xfrm>
            <a:off x="268125" y="3130700"/>
            <a:ext cx="11856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rPr lang="en-GB" sz="1000"/>
              <a:t>data protection, </a:t>
            </a:r>
            <a:endParaRPr sz="10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ethic</a:t>
            </a:r>
            <a:r>
              <a:rPr lang="en-GB" sz="1000"/>
              <a:t>s</a:t>
            </a:r>
            <a:r>
              <a:rPr b="0" i="0" lang="en-GB" sz="1000" u="none" cap="none" strike="noStrike">
                <a:solidFill>
                  <a:srgbClr val="000000"/>
                </a:solidFill>
                <a:latin typeface="Arial"/>
                <a:ea typeface="Arial"/>
                <a:cs typeface="Arial"/>
                <a:sym typeface="Arial"/>
              </a:rPr>
              <a:t> permit,</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infrastructure,</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standards,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protocols,</a:t>
            </a:r>
            <a:br>
              <a:rPr b="0" i="0" lang="en-GB" sz="1000" u="none" cap="none" strike="noStrike">
                <a:solidFill>
                  <a:srgbClr val="000000"/>
                </a:solidFill>
                <a:latin typeface="Arial"/>
                <a:ea typeface="Arial"/>
                <a:cs typeface="Arial"/>
                <a:sym typeface="Arial"/>
              </a:rPr>
            </a:br>
            <a:r>
              <a:rPr b="0" i="0" lang="en-GB" sz="1000" u="none" cap="none" strike="noStrike">
                <a:solidFill>
                  <a:srgbClr val="000000"/>
                </a:solidFill>
                <a:latin typeface="Arial"/>
                <a:ea typeface="Arial"/>
                <a:cs typeface="Arial"/>
                <a:sym typeface="Arial"/>
              </a:rPr>
              <a:t>data dictionaries,</a:t>
            </a:r>
            <a:endParaRPr sz="1300"/>
          </a:p>
          <a:p>
            <a:pPr indent="0" lvl="0" marL="0" marR="0" rtl="0" algn="l">
              <a:lnSpc>
                <a:spcPct val="100000"/>
              </a:lnSpc>
              <a:spcBef>
                <a:spcPts val="0"/>
              </a:spcBef>
              <a:spcAft>
                <a:spcPts val="0"/>
              </a:spcAft>
              <a:buNone/>
            </a:pPr>
            <a:r>
              <a:rPr lang="en-GB" sz="1000"/>
              <a:t>data access, …</a:t>
            </a:r>
            <a:endParaRPr sz="1300"/>
          </a:p>
        </p:txBody>
      </p:sp>
      <p:sp>
        <p:nvSpPr>
          <p:cNvPr id="764" name="Google Shape;764;p67"/>
          <p:cNvSpPr txBox="1"/>
          <p:nvPr/>
        </p:nvSpPr>
        <p:spPr>
          <a:xfrm>
            <a:off x="1434225" y="3130700"/>
            <a:ext cx="30384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63891F"/>
                </a:solidFill>
              </a:rPr>
              <a:t>Biosamples and instruments</a:t>
            </a:r>
            <a:br>
              <a:rPr lang="en-GB" sz="1000"/>
            </a:br>
            <a:r>
              <a:rPr b="0" i="0" lang="en-GB" sz="1000" u="none" cap="none" strike="noStrike">
                <a:solidFill>
                  <a:srgbClr val="000000"/>
                </a:solidFill>
                <a:latin typeface="Arial"/>
                <a:ea typeface="Arial"/>
                <a:cs typeface="Arial"/>
                <a:sym typeface="Arial"/>
              </a:rPr>
              <a:t>populations (statistical) and inclusion criteria, </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physical processing steps,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working storage conditions,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long-term storage location,</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sample quality assessment,</a:t>
            </a:r>
            <a:br>
              <a:rPr b="0" i="0" lang="en-GB" sz="1000" u="none" cap="none" strike="noStrike">
                <a:solidFill>
                  <a:srgbClr val="000000"/>
                </a:solidFill>
                <a:latin typeface="Arial"/>
                <a:ea typeface="Arial"/>
                <a:cs typeface="Arial"/>
                <a:sym typeface="Arial"/>
              </a:rPr>
            </a:br>
            <a:r>
              <a:rPr b="0" i="0" lang="en-GB" sz="1000" u="none" cap="none" strike="noStrike">
                <a:solidFill>
                  <a:srgbClr val="000000"/>
                </a:solidFill>
                <a:latin typeface="Arial"/>
                <a:ea typeface="Arial"/>
                <a:cs typeface="Arial"/>
                <a:sym typeface="Arial"/>
              </a:rPr>
              <a:t>sample annotations,</a:t>
            </a:r>
            <a:endParaRPr sz="1300"/>
          </a:p>
          <a:p>
            <a:pPr indent="0" lvl="0" marL="0" rtl="0" algn="l">
              <a:spcBef>
                <a:spcPts val="0"/>
              </a:spcBef>
              <a:spcAft>
                <a:spcPts val="0"/>
              </a:spcAft>
              <a:buNone/>
            </a:pPr>
            <a:r>
              <a:rPr lang="en-GB" sz="1000">
                <a:solidFill>
                  <a:schemeClr val="dk1"/>
                </a:solidFill>
              </a:rPr>
              <a:t>reagents, instruments, kits, …</a:t>
            </a:r>
            <a:endParaRPr sz="1300"/>
          </a:p>
        </p:txBody>
      </p:sp>
      <p:sp>
        <p:nvSpPr>
          <p:cNvPr id="765" name="Google Shape;765;p67"/>
          <p:cNvSpPr/>
          <p:nvPr/>
        </p:nvSpPr>
        <p:spPr>
          <a:xfrm>
            <a:off x="1434223" y="3043557"/>
            <a:ext cx="3089100" cy="53700"/>
          </a:xfrm>
          <a:prstGeom prst="rect">
            <a:avLst/>
          </a:prstGeom>
          <a:solidFill>
            <a:srgbClr val="6389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6" name="Google Shape;766;p67"/>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7" name="Google Shape;767;p67"/>
          <p:cNvSpPr/>
          <p:nvPr/>
        </p:nvSpPr>
        <p:spPr>
          <a:xfrm>
            <a:off x="4603283" y="3043557"/>
            <a:ext cx="3089100" cy="53700"/>
          </a:xfrm>
          <a:prstGeom prst="rect">
            <a:avLst/>
          </a:prstGeom>
          <a:solidFill>
            <a:srgbClr val="E6842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8" name="Google Shape;768;p67"/>
          <p:cNvSpPr/>
          <p:nvPr/>
        </p:nvSpPr>
        <p:spPr>
          <a:xfrm>
            <a:off x="7772350" y="3043550"/>
            <a:ext cx="968100" cy="55500"/>
          </a:xfrm>
          <a:prstGeom prst="rect">
            <a:avLst/>
          </a:prstGeom>
          <a:solidFill>
            <a:srgbClr val="351C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769" name="Google Shape;769;p67"/>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770" name="Google Shape;770;p67"/>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771" name="Google Shape;771;p67"/>
          <p:cNvGrpSpPr/>
          <p:nvPr/>
        </p:nvGrpSpPr>
        <p:grpSpPr>
          <a:xfrm>
            <a:off x="5546173" y="996742"/>
            <a:ext cx="968204" cy="968204"/>
            <a:chOff x="6079573" y="996742"/>
            <a:chExt cx="968204" cy="968204"/>
          </a:xfrm>
        </p:grpSpPr>
        <p:pic>
          <p:nvPicPr>
            <p:cNvPr descr="Desktop computer vector image with flat screen" id="772" name="Google Shape;772;p67"/>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773" name="Google Shape;773;p67"/>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774" name="Google Shape;774;p67"/>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775" name="Google Shape;775;p67"/>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776" name="Google Shape;776;p67"/>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777" name="Google Shape;777;p67"/>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778" name="Google Shape;778;p67"/>
          <p:cNvGrpSpPr/>
          <p:nvPr/>
        </p:nvGrpSpPr>
        <p:grpSpPr>
          <a:xfrm>
            <a:off x="8126767" y="962465"/>
            <a:ext cx="623046" cy="1205706"/>
            <a:chOff x="7845504" y="1416558"/>
            <a:chExt cx="1131782" cy="2190201"/>
          </a:xfrm>
        </p:grpSpPr>
        <p:pic>
          <p:nvPicPr>
            <p:cNvPr id="779" name="Google Shape;779;p67"/>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780" name="Google Shape;780;p67"/>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781" name="Google Shape;781;p67"/>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782" name="Google Shape;782;p67"/>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783" name="Google Shape;783;p67"/>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784" name="Google Shape;784;p67"/>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785" name="Google Shape;785;p67"/>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786" name="Google Shape;786;p67"/>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787" name="Google Shape;787;p67"/>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788" name="Google Shape;788;p67"/>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789" name="Google Shape;789;p67"/>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790" name="Google Shape;790;p67"/>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
        <p:nvSpPr>
          <p:cNvPr id="791" name="Google Shape;791;p67"/>
          <p:cNvSpPr/>
          <p:nvPr/>
        </p:nvSpPr>
        <p:spPr>
          <a:xfrm>
            <a:off x="54673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t>Digital workspaces</a:t>
            </a:r>
            <a:endParaRPr sz="1000"/>
          </a:p>
        </p:txBody>
      </p:sp>
      <p:sp>
        <p:nvSpPr>
          <p:cNvPr id="792" name="Google Shape;792;p67"/>
          <p:cNvSpPr/>
          <p:nvPr/>
        </p:nvSpPr>
        <p:spPr>
          <a:xfrm>
            <a:off x="460327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Data delivery</a:t>
            </a:r>
            <a:endParaRPr sz="1000"/>
          </a:p>
        </p:txBody>
      </p:sp>
      <p:sp>
        <p:nvSpPr>
          <p:cNvPr id="793" name="Google Shape;793;p67"/>
          <p:cNvSpPr/>
          <p:nvPr/>
        </p:nvSpPr>
        <p:spPr>
          <a:xfrm>
            <a:off x="7019525" y="3600675"/>
            <a:ext cx="794100" cy="548400"/>
          </a:xfrm>
          <a:prstGeom prst="can">
            <a:avLst>
              <a:gd fmla="val 25000" name="adj"/>
            </a:avLst>
          </a:prstGeom>
          <a:solidFill>
            <a:srgbClr val="FCE5CD"/>
          </a:solidFill>
          <a:ln cap="flat" cmpd="sng" w="19050">
            <a:solidFill>
              <a:srgbClr val="E6842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None/>
            </a:pPr>
            <a:r>
              <a:rPr lang="en-GB" sz="1000">
                <a:solidFill>
                  <a:srgbClr val="000000"/>
                </a:solidFill>
              </a:rPr>
              <a:t>Local data archive</a:t>
            </a:r>
            <a:r>
              <a:rPr lang="en-GB" sz="1200"/>
              <a:t> </a:t>
            </a:r>
            <a:r>
              <a:rPr lang="en-GB" sz="1000">
                <a:solidFill>
                  <a:srgbClr val="000000"/>
                </a:solidFill>
              </a:rPr>
              <a:t>etc</a:t>
            </a:r>
            <a:endParaRPr sz="1400"/>
          </a:p>
        </p:txBody>
      </p:sp>
      <p:sp>
        <p:nvSpPr>
          <p:cNvPr id="794" name="Google Shape;794;p67"/>
          <p:cNvSpPr/>
          <p:nvPr/>
        </p:nvSpPr>
        <p:spPr>
          <a:xfrm>
            <a:off x="7913650" y="3600675"/>
            <a:ext cx="794100" cy="548400"/>
          </a:xfrm>
          <a:prstGeom prst="can">
            <a:avLst>
              <a:gd fmla="val 25000" name="adj"/>
            </a:avLst>
          </a:prstGeom>
          <a:solidFill>
            <a:srgbClr val="D9D2E9"/>
          </a:solidFill>
          <a:ln cap="flat" cmpd="sng" w="19050">
            <a:solidFill>
              <a:srgbClr val="8064A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Research databases</a:t>
            </a:r>
            <a:endParaRPr sz="1000"/>
          </a:p>
        </p:txBody>
      </p:sp>
      <p:sp>
        <p:nvSpPr>
          <p:cNvPr id="795" name="Google Shape;795;p67"/>
          <p:cNvSpPr txBox="1"/>
          <p:nvPr/>
        </p:nvSpPr>
        <p:spPr>
          <a:xfrm>
            <a:off x="4603275" y="3130700"/>
            <a:ext cx="32103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E68422"/>
                </a:solidFill>
              </a:rPr>
              <a:t>Data and computational workflows</a:t>
            </a:r>
            <a:endParaRPr b="1" sz="1400">
              <a:solidFill>
                <a:srgbClr val="E68422"/>
              </a:solidFill>
            </a:endParaRPr>
          </a:p>
          <a:p>
            <a:pPr indent="0" lvl="0" marL="0" rtl="0" algn="l">
              <a:spcBef>
                <a:spcPts val="0"/>
              </a:spcBef>
              <a:spcAft>
                <a:spcPts val="0"/>
              </a:spcAft>
              <a:buNone/>
            </a:pPr>
            <a:r>
              <a:t/>
            </a:r>
            <a:endParaRPr b="1" sz="1400">
              <a:solidFill>
                <a:srgbClr val="E68422"/>
              </a:solidFill>
            </a:endParaRPr>
          </a:p>
        </p:txBody>
      </p:sp>
      <p:sp>
        <p:nvSpPr>
          <p:cNvPr id="796" name="Google Shape;796;p67"/>
          <p:cNvSpPr txBox="1"/>
          <p:nvPr/>
        </p:nvSpPr>
        <p:spPr>
          <a:xfrm>
            <a:off x="7734775" y="3130725"/>
            <a:ext cx="118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51C75"/>
                </a:solidFill>
              </a:rPr>
              <a:t>Outputs</a:t>
            </a:r>
            <a:endParaRPr b="1" sz="1400">
              <a:solidFill>
                <a:srgbClr val="351C75"/>
              </a:solidFill>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0" name="Shape 800"/>
        <p:cNvGrpSpPr/>
        <p:nvPr/>
      </p:nvGrpSpPr>
      <p:grpSpPr>
        <a:xfrm>
          <a:off x="0" y="0"/>
          <a:ext cx="0" cy="0"/>
          <a:chOff x="0" y="0"/>
          <a:chExt cx="0" cy="0"/>
        </a:xfrm>
      </p:grpSpPr>
      <p:pic>
        <p:nvPicPr>
          <p:cNvPr id="801" name="Google Shape;801;p68"/>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802" name="Google Shape;802;p68"/>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03" name="Google Shape;803;p68"/>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04" name="Google Shape;804;p68"/>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Clr>
                <a:schemeClr val="dk1"/>
              </a:buClr>
              <a:buSzPts val="1100"/>
              <a:buFont typeface="Arial"/>
              <a:buNone/>
            </a:pPr>
            <a:r>
              <a:rPr lang="en-GB"/>
              <a:t>(Meta)data</a:t>
            </a:r>
            <a:r>
              <a:rPr lang="en-GB"/>
              <a:t> in context</a:t>
            </a:r>
            <a:endParaRPr/>
          </a:p>
        </p:txBody>
      </p:sp>
      <p:sp>
        <p:nvSpPr>
          <p:cNvPr id="805" name="Google Shape;805;p68"/>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806" name="Google Shape;806;p68"/>
          <p:cNvSpPr/>
          <p:nvPr/>
        </p:nvSpPr>
        <p:spPr>
          <a:xfrm>
            <a:off x="1474825" y="2317875"/>
            <a:ext cx="12708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Sampling </a:t>
            </a:r>
            <a:br>
              <a:rPr b="0" i="0" lang="en-GB" sz="1200" u="none" cap="none" strike="noStrike">
                <a:solidFill>
                  <a:srgbClr val="000000"/>
                </a:solidFill>
                <a:latin typeface="Arial"/>
                <a:ea typeface="Arial"/>
                <a:cs typeface="Arial"/>
                <a:sym typeface="Arial"/>
              </a:rPr>
            </a:br>
            <a:r>
              <a:rPr lang="en-GB" sz="1200"/>
              <a:t>&amp;</a:t>
            </a:r>
            <a:r>
              <a:rPr b="0" i="0" lang="en-GB" sz="1200" u="none" cap="none" strike="noStrike">
                <a:solidFill>
                  <a:srgbClr val="000000"/>
                </a:solidFill>
                <a:latin typeface="Arial"/>
                <a:ea typeface="Arial"/>
                <a:cs typeface="Arial"/>
                <a:sym typeface="Arial"/>
              </a:rPr>
              <a:t> specimen collection</a:t>
            </a:r>
            <a:endParaRPr b="0" i="0" sz="1200" u="none" cap="none" strike="noStrike">
              <a:solidFill>
                <a:srgbClr val="000000"/>
              </a:solidFill>
              <a:latin typeface="Arial"/>
              <a:ea typeface="Arial"/>
              <a:cs typeface="Arial"/>
              <a:sym typeface="Arial"/>
            </a:endParaRPr>
          </a:p>
        </p:txBody>
      </p:sp>
      <p:sp>
        <p:nvSpPr>
          <p:cNvPr id="807" name="Google Shape;807;p68"/>
          <p:cNvSpPr/>
          <p:nvPr/>
        </p:nvSpPr>
        <p:spPr>
          <a:xfrm>
            <a:off x="2793100" y="2317875"/>
            <a:ext cx="10722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preparation </a:t>
            </a:r>
            <a:endParaRPr b="0" i="0" sz="1200" u="none" cap="none" strike="noStrike">
              <a:solidFill>
                <a:srgbClr val="000000"/>
              </a:solidFill>
              <a:latin typeface="Arial"/>
              <a:ea typeface="Arial"/>
              <a:cs typeface="Arial"/>
              <a:sym typeface="Arial"/>
            </a:endParaRPr>
          </a:p>
        </p:txBody>
      </p:sp>
      <p:sp>
        <p:nvSpPr>
          <p:cNvPr id="808" name="Google Shape;808;p68"/>
          <p:cNvSpPr/>
          <p:nvPr/>
        </p:nvSpPr>
        <p:spPr>
          <a:xfrm>
            <a:off x="3908350" y="2317875"/>
            <a:ext cx="1297800" cy="652200"/>
          </a:xfrm>
          <a:prstGeom prst="roundRect">
            <a:avLst>
              <a:gd fmla="val 16667" name="adj"/>
            </a:avLst>
          </a:prstGeom>
          <a:gradFill>
            <a:gsLst>
              <a:gs pos="0">
                <a:srgbClr val="D9EAD3"/>
              </a:gs>
              <a:gs pos="100000">
                <a:srgbClr val="FCE5CD"/>
              </a:gs>
            </a:gsLst>
            <a:lin ang="0" scaled="0"/>
          </a:gra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analysis </a:t>
            </a:r>
            <a:r>
              <a:rPr lang="en-GB" sz="1200"/>
              <a:t>&amp;</a:t>
            </a:r>
            <a:r>
              <a:rPr b="0" i="0" lang="en-GB" sz="1200" u="none" cap="none" strike="noStrike">
                <a:solidFill>
                  <a:srgbClr val="000000"/>
                </a:solidFill>
                <a:latin typeface="Arial"/>
                <a:ea typeface="Arial"/>
                <a:cs typeface="Arial"/>
                <a:sym typeface="Arial"/>
              </a:rPr>
              <a:t> data generation </a:t>
            </a:r>
            <a:endParaRPr b="0" i="0" sz="1200" u="none" cap="none" strike="noStrike">
              <a:solidFill>
                <a:srgbClr val="000000"/>
              </a:solidFill>
              <a:latin typeface="Arial"/>
              <a:ea typeface="Arial"/>
              <a:cs typeface="Arial"/>
              <a:sym typeface="Arial"/>
            </a:endParaRPr>
          </a:p>
        </p:txBody>
      </p:sp>
      <p:sp>
        <p:nvSpPr>
          <p:cNvPr id="809" name="Google Shape;809;p68"/>
          <p:cNvSpPr/>
          <p:nvPr/>
        </p:nvSpPr>
        <p:spPr>
          <a:xfrm>
            <a:off x="5249200" y="2317875"/>
            <a:ext cx="13326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processing to prepare inputs for analysis </a:t>
            </a:r>
            <a:endParaRPr b="0" i="0" sz="1200" u="none" cap="none" strike="noStrike">
              <a:solidFill>
                <a:srgbClr val="000000"/>
              </a:solidFill>
              <a:latin typeface="Arial"/>
              <a:ea typeface="Arial"/>
              <a:cs typeface="Arial"/>
              <a:sym typeface="Arial"/>
            </a:endParaRPr>
          </a:p>
        </p:txBody>
      </p:sp>
      <p:sp>
        <p:nvSpPr>
          <p:cNvPr id="810" name="Google Shape;810;p68"/>
          <p:cNvSpPr/>
          <p:nvPr/>
        </p:nvSpPr>
        <p:spPr>
          <a:xfrm>
            <a:off x="6627850" y="2317875"/>
            <a:ext cx="9225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analysis</a:t>
            </a:r>
            <a:endParaRPr b="0" i="0" sz="1200" u="none" cap="none" strike="noStrike">
              <a:solidFill>
                <a:srgbClr val="000000"/>
              </a:solidFill>
              <a:latin typeface="Arial"/>
              <a:ea typeface="Arial"/>
              <a:cs typeface="Arial"/>
              <a:sym typeface="Arial"/>
            </a:endParaRPr>
          </a:p>
        </p:txBody>
      </p:sp>
      <p:sp>
        <p:nvSpPr>
          <p:cNvPr id="811" name="Google Shape;811;p68"/>
          <p:cNvSpPr/>
          <p:nvPr/>
        </p:nvSpPr>
        <p:spPr>
          <a:xfrm>
            <a:off x="7593400" y="2317875"/>
            <a:ext cx="1185600" cy="652200"/>
          </a:xfrm>
          <a:prstGeom prst="roundRect">
            <a:avLst>
              <a:gd fmla="val 16667" name="adj"/>
            </a:avLst>
          </a:prstGeom>
          <a:solidFill>
            <a:srgbClr val="D9D2E9"/>
          </a:solidFill>
          <a:ln cap="flat" cmpd="sng" w="19050">
            <a:solidFill>
              <a:srgbClr val="351C75"/>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Communicating results</a:t>
            </a:r>
            <a:endParaRPr b="0" i="0" sz="1200" u="none" cap="none" strike="noStrike">
              <a:solidFill>
                <a:srgbClr val="000000"/>
              </a:solidFill>
              <a:latin typeface="Arial"/>
              <a:ea typeface="Arial"/>
              <a:cs typeface="Arial"/>
              <a:sym typeface="Arial"/>
            </a:endParaRPr>
          </a:p>
        </p:txBody>
      </p:sp>
      <p:sp>
        <p:nvSpPr>
          <p:cNvPr id="812" name="Google Shape;812;p68"/>
          <p:cNvSpPr txBox="1"/>
          <p:nvPr/>
        </p:nvSpPr>
        <p:spPr>
          <a:xfrm>
            <a:off x="268125" y="3130700"/>
            <a:ext cx="11856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rPr lang="en-GB" sz="1000"/>
              <a:t>data protection, </a:t>
            </a:r>
            <a:endParaRPr sz="10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ethic</a:t>
            </a:r>
            <a:r>
              <a:rPr lang="en-GB" sz="1000"/>
              <a:t>s</a:t>
            </a:r>
            <a:r>
              <a:rPr b="0" i="0" lang="en-GB" sz="1000" u="none" cap="none" strike="noStrike">
                <a:solidFill>
                  <a:srgbClr val="000000"/>
                </a:solidFill>
                <a:latin typeface="Arial"/>
                <a:ea typeface="Arial"/>
                <a:cs typeface="Arial"/>
                <a:sym typeface="Arial"/>
              </a:rPr>
              <a:t> permit,</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infrastructure,</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standards,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protocols,</a:t>
            </a:r>
            <a:br>
              <a:rPr b="0" i="0" lang="en-GB" sz="1000" u="none" cap="none" strike="noStrike">
                <a:solidFill>
                  <a:srgbClr val="000000"/>
                </a:solidFill>
                <a:latin typeface="Arial"/>
                <a:ea typeface="Arial"/>
                <a:cs typeface="Arial"/>
                <a:sym typeface="Arial"/>
              </a:rPr>
            </a:br>
            <a:r>
              <a:rPr b="0" i="0" lang="en-GB" sz="1000" u="none" cap="none" strike="noStrike">
                <a:solidFill>
                  <a:srgbClr val="000000"/>
                </a:solidFill>
                <a:latin typeface="Arial"/>
                <a:ea typeface="Arial"/>
                <a:cs typeface="Arial"/>
                <a:sym typeface="Arial"/>
              </a:rPr>
              <a:t>data dictionaries,</a:t>
            </a:r>
            <a:endParaRPr sz="1300"/>
          </a:p>
          <a:p>
            <a:pPr indent="0" lvl="0" marL="0" marR="0" rtl="0" algn="l">
              <a:lnSpc>
                <a:spcPct val="100000"/>
              </a:lnSpc>
              <a:spcBef>
                <a:spcPts val="0"/>
              </a:spcBef>
              <a:spcAft>
                <a:spcPts val="0"/>
              </a:spcAft>
              <a:buNone/>
            </a:pPr>
            <a:r>
              <a:rPr lang="en-GB" sz="1000"/>
              <a:t>data access, …</a:t>
            </a:r>
            <a:endParaRPr sz="1300"/>
          </a:p>
        </p:txBody>
      </p:sp>
      <p:sp>
        <p:nvSpPr>
          <p:cNvPr id="813" name="Google Shape;813;p68"/>
          <p:cNvSpPr txBox="1"/>
          <p:nvPr/>
        </p:nvSpPr>
        <p:spPr>
          <a:xfrm>
            <a:off x="1434225" y="3130700"/>
            <a:ext cx="30384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63891F"/>
                </a:solidFill>
              </a:rPr>
              <a:t>Biosamples and instruments</a:t>
            </a:r>
            <a:br>
              <a:rPr lang="en-GB" sz="1000"/>
            </a:br>
            <a:r>
              <a:rPr b="0" i="0" lang="en-GB" sz="1000" u="none" cap="none" strike="noStrike">
                <a:solidFill>
                  <a:srgbClr val="000000"/>
                </a:solidFill>
                <a:latin typeface="Arial"/>
                <a:ea typeface="Arial"/>
                <a:cs typeface="Arial"/>
                <a:sym typeface="Arial"/>
              </a:rPr>
              <a:t>populations (statistical) and inclusion criteria, </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physical processing steps,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working storage conditions,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long-term storage location,</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sample quality assessment,</a:t>
            </a:r>
            <a:br>
              <a:rPr b="0" i="0" lang="en-GB" sz="1000" u="none" cap="none" strike="noStrike">
                <a:solidFill>
                  <a:srgbClr val="000000"/>
                </a:solidFill>
                <a:latin typeface="Arial"/>
                <a:ea typeface="Arial"/>
                <a:cs typeface="Arial"/>
                <a:sym typeface="Arial"/>
              </a:rPr>
            </a:br>
            <a:r>
              <a:rPr b="0" i="0" lang="en-GB" sz="1000" u="none" cap="none" strike="noStrike">
                <a:solidFill>
                  <a:srgbClr val="000000"/>
                </a:solidFill>
                <a:latin typeface="Arial"/>
                <a:ea typeface="Arial"/>
                <a:cs typeface="Arial"/>
                <a:sym typeface="Arial"/>
              </a:rPr>
              <a:t>sample annotations,</a:t>
            </a:r>
            <a:endParaRPr sz="1300"/>
          </a:p>
          <a:p>
            <a:pPr indent="0" lvl="0" marL="0" rtl="0" algn="l">
              <a:spcBef>
                <a:spcPts val="0"/>
              </a:spcBef>
              <a:spcAft>
                <a:spcPts val="0"/>
              </a:spcAft>
              <a:buNone/>
            </a:pPr>
            <a:r>
              <a:rPr lang="en-GB" sz="1000">
                <a:solidFill>
                  <a:schemeClr val="dk1"/>
                </a:solidFill>
              </a:rPr>
              <a:t>reagents, instruments, kits, …</a:t>
            </a:r>
            <a:endParaRPr sz="1300"/>
          </a:p>
        </p:txBody>
      </p:sp>
      <p:sp>
        <p:nvSpPr>
          <p:cNvPr id="814" name="Google Shape;814;p68"/>
          <p:cNvSpPr/>
          <p:nvPr/>
        </p:nvSpPr>
        <p:spPr>
          <a:xfrm>
            <a:off x="1434223" y="3043557"/>
            <a:ext cx="3089100" cy="53700"/>
          </a:xfrm>
          <a:prstGeom prst="rect">
            <a:avLst/>
          </a:prstGeom>
          <a:solidFill>
            <a:srgbClr val="6389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15" name="Google Shape;815;p68"/>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16" name="Google Shape;816;p68"/>
          <p:cNvSpPr/>
          <p:nvPr/>
        </p:nvSpPr>
        <p:spPr>
          <a:xfrm>
            <a:off x="4603283" y="3043557"/>
            <a:ext cx="3089100" cy="53700"/>
          </a:xfrm>
          <a:prstGeom prst="rect">
            <a:avLst/>
          </a:prstGeom>
          <a:solidFill>
            <a:srgbClr val="E6842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17" name="Google Shape;817;p68"/>
          <p:cNvSpPr txBox="1"/>
          <p:nvPr/>
        </p:nvSpPr>
        <p:spPr>
          <a:xfrm>
            <a:off x="4603275" y="3130700"/>
            <a:ext cx="3210300" cy="1385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E68422"/>
                </a:solidFill>
              </a:rPr>
              <a:t>Data and computational workflows</a:t>
            </a:r>
            <a:endParaRPr b="1" sz="1400">
              <a:solidFill>
                <a:srgbClr val="E68422"/>
              </a:solidFill>
            </a:endParaRPr>
          </a:p>
          <a:p>
            <a:pPr indent="0" lvl="0" marL="0" rtl="0" algn="l">
              <a:spcBef>
                <a:spcPts val="0"/>
              </a:spcBef>
              <a:spcAft>
                <a:spcPts val="0"/>
              </a:spcAft>
              <a:buClr>
                <a:schemeClr val="dk1"/>
              </a:buClr>
              <a:buFont typeface="Arial"/>
              <a:buNone/>
            </a:pPr>
            <a:r>
              <a:rPr lang="en-GB" sz="1000">
                <a:solidFill>
                  <a:schemeClr val="dk1"/>
                </a:solidFill>
              </a:rPr>
              <a:t>digital processing steps, </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working storage conditions,</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long-term storage location,</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data quality assessment,</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sample/data annotations,</a:t>
            </a:r>
            <a:endParaRPr sz="1300">
              <a:solidFill>
                <a:schemeClr val="dk1"/>
              </a:solidFill>
            </a:endParaRPr>
          </a:p>
          <a:p>
            <a:pPr indent="0" lvl="0" marL="0" rtl="0" algn="l">
              <a:spcBef>
                <a:spcPts val="0"/>
              </a:spcBef>
              <a:spcAft>
                <a:spcPts val="0"/>
              </a:spcAft>
              <a:buNone/>
            </a:pPr>
            <a:r>
              <a:rPr lang="en-GB" sz="1000">
                <a:solidFill>
                  <a:schemeClr val="dk1"/>
                </a:solidFill>
              </a:rPr>
              <a:t>reference data, </a:t>
            </a:r>
            <a:br>
              <a:rPr lang="en-GB" sz="1000">
                <a:solidFill>
                  <a:schemeClr val="dk1"/>
                </a:solidFill>
              </a:rPr>
            </a:br>
            <a:r>
              <a:rPr lang="en-GB" sz="1000">
                <a:solidFill>
                  <a:schemeClr val="dk1"/>
                </a:solidFill>
              </a:rPr>
              <a:t>analysis method…</a:t>
            </a:r>
            <a:endParaRPr b="1" sz="1400">
              <a:solidFill>
                <a:srgbClr val="E68422"/>
              </a:solidFill>
            </a:endParaRPr>
          </a:p>
        </p:txBody>
      </p:sp>
      <p:sp>
        <p:nvSpPr>
          <p:cNvPr id="818" name="Google Shape;818;p68"/>
          <p:cNvSpPr/>
          <p:nvPr/>
        </p:nvSpPr>
        <p:spPr>
          <a:xfrm>
            <a:off x="7772350" y="3043550"/>
            <a:ext cx="968100" cy="55500"/>
          </a:xfrm>
          <a:prstGeom prst="rect">
            <a:avLst/>
          </a:prstGeom>
          <a:solidFill>
            <a:srgbClr val="351C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819" name="Google Shape;819;p68"/>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820" name="Google Shape;820;p68"/>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821" name="Google Shape;821;p68"/>
          <p:cNvGrpSpPr/>
          <p:nvPr/>
        </p:nvGrpSpPr>
        <p:grpSpPr>
          <a:xfrm>
            <a:off x="5546173" y="996742"/>
            <a:ext cx="968204" cy="968204"/>
            <a:chOff x="6079573" y="996742"/>
            <a:chExt cx="968204" cy="968204"/>
          </a:xfrm>
        </p:grpSpPr>
        <p:pic>
          <p:nvPicPr>
            <p:cNvPr descr="Desktop computer vector image with flat screen" id="822" name="Google Shape;822;p68"/>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823" name="Google Shape;823;p68"/>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824" name="Google Shape;824;p68"/>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825" name="Google Shape;825;p68"/>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826" name="Google Shape;826;p68"/>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827" name="Google Shape;827;p68"/>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828" name="Google Shape;828;p68"/>
          <p:cNvGrpSpPr/>
          <p:nvPr/>
        </p:nvGrpSpPr>
        <p:grpSpPr>
          <a:xfrm>
            <a:off x="8126767" y="962465"/>
            <a:ext cx="623046" cy="1205706"/>
            <a:chOff x="7845504" y="1416558"/>
            <a:chExt cx="1131782" cy="2190201"/>
          </a:xfrm>
        </p:grpSpPr>
        <p:pic>
          <p:nvPicPr>
            <p:cNvPr id="829" name="Google Shape;829;p68"/>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830" name="Google Shape;830;p68"/>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831" name="Google Shape;831;p68"/>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832" name="Google Shape;832;p68"/>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833" name="Google Shape;833;p68"/>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834" name="Google Shape;834;p68"/>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835" name="Google Shape;835;p68"/>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836" name="Google Shape;836;p68"/>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837" name="Google Shape;837;p68"/>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838" name="Google Shape;838;p68"/>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839" name="Google Shape;839;p68"/>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840" name="Google Shape;840;p68"/>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
        <p:nvSpPr>
          <p:cNvPr id="841" name="Google Shape;841;p68"/>
          <p:cNvSpPr/>
          <p:nvPr/>
        </p:nvSpPr>
        <p:spPr>
          <a:xfrm>
            <a:off x="7913650" y="3600675"/>
            <a:ext cx="794100" cy="548400"/>
          </a:xfrm>
          <a:prstGeom prst="can">
            <a:avLst>
              <a:gd fmla="val 25000" name="adj"/>
            </a:avLst>
          </a:prstGeom>
          <a:solidFill>
            <a:srgbClr val="D9D2E9"/>
          </a:solidFill>
          <a:ln cap="flat" cmpd="sng" w="19050">
            <a:solidFill>
              <a:srgbClr val="8064A2"/>
            </a:solidFill>
            <a:prstDash val="solid"/>
            <a:round/>
            <a:headEnd len="sm" w="sm" type="none"/>
            <a:tailEnd len="sm" w="sm" type="none"/>
          </a:ln>
        </p:spPr>
        <p:txBody>
          <a:bodyPr anchorCtr="0" anchor="ctr" bIns="91425" lIns="54000" spcFirstLastPara="1" rIns="54000" wrap="square" tIns="91425">
            <a:noAutofit/>
          </a:bodyPr>
          <a:lstStyle/>
          <a:p>
            <a:pPr indent="0" lvl="0" marL="0" marR="0" rtl="0" algn="ctr">
              <a:lnSpc>
                <a:spcPct val="100000"/>
              </a:lnSpc>
              <a:spcBef>
                <a:spcPts val="0"/>
              </a:spcBef>
              <a:spcAft>
                <a:spcPts val="0"/>
              </a:spcAft>
              <a:buClr>
                <a:srgbClr val="000000"/>
              </a:buClr>
              <a:buFont typeface="Arial"/>
              <a:buNone/>
            </a:pPr>
            <a:r>
              <a:rPr lang="en-GB" sz="1000"/>
              <a:t>Research databases</a:t>
            </a:r>
            <a:endParaRPr sz="1000"/>
          </a:p>
        </p:txBody>
      </p:sp>
      <p:sp>
        <p:nvSpPr>
          <p:cNvPr id="842" name="Google Shape;842;p68"/>
          <p:cNvSpPr txBox="1"/>
          <p:nvPr/>
        </p:nvSpPr>
        <p:spPr>
          <a:xfrm>
            <a:off x="7734775" y="3130725"/>
            <a:ext cx="118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51C75"/>
                </a:solidFill>
              </a:rPr>
              <a:t>Outputs</a:t>
            </a:r>
            <a:endParaRPr b="1" sz="1400">
              <a:solidFill>
                <a:srgbClr val="351C75"/>
              </a:solidFill>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6" name="Shape 846"/>
        <p:cNvGrpSpPr/>
        <p:nvPr/>
      </p:nvGrpSpPr>
      <p:grpSpPr>
        <a:xfrm>
          <a:off x="0" y="0"/>
          <a:ext cx="0" cy="0"/>
          <a:chOff x="0" y="0"/>
          <a:chExt cx="0" cy="0"/>
        </a:xfrm>
      </p:grpSpPr>
      <p:pic>
        <p:nvPicPr>
          <p:cNvPr id="847" name="Google Shape;847;p69"/>
          <p:cNvPicPr preferRelativeResize="0"/>
          <p:nvPr/>
        </p:nvPicPr>
        <p:blipFill rotWithShape="1">
          <a:blip r:embed="rId3">
            <a:alphaModFix/>
          </a:blip>
          <a:srcRect b="0" l="0" r="0" t="0"/>
          <a:stretch/>
        </p:blipFill>
        <p:spPr>
          <a:xfrm>
            <a:off x="2511029" y="1374009"/>
            <a:ext cx="884801" cy="884801"/>
          </a:xfrm>
          <a:prstGeom prst="rect">
            <a:avLst/>
          </a:prstGeom>
          <a:noFill/>
          <a:ln>
            <a:noFill/>
          </a:ln>
        </p:spPr>
      </p:pic>
      <p:sp>
        <p:nvSpPr>
          <p:cNvPr id="848" name="Google Shape;848;p69"/>
          <p:cNvSpPr/>
          <p:nvPr/>
        </p:nvSpPr>
        <p:spPr>
          <a:xfrm rot="1709738">
            <a:off x="7931502" y="1626327"/>
            <a:ext cx="215053" cy="212899"/>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49" name="Google Shape;849;p69"/>
          <p:cNvSpPr/>
          <p:nvPr/>
        </p:nvSpPr>
        <p:spPr>
          <a:xfrm rot="-1780530">
            <a:off x="7931591" y="1387593"/>
            <a:ext cx="215114" cy="212844"/>
          </a:xfrm>
          <a:prstGeom prst="rightArrow">
            <a:avLst>
              <a:gd fmla="val 50000" name="adj1"/>
              <a:gd fmla="val 50000" name="adj2"/>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50" name="Google Shape;850;p69"/>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Clr>
                <a:schemeClr val="dk1"/>
              </a:buClr>
              <a:buSzPts val="1100"/>
              <a:buFont typeface="Arial"/>
              <a:buNone/>
            </a:pPr>
            <a:r>
              <a:rPr lang="en-GB"/>
              <a:t>(Meta)data</a:t>
            </a:r>
            <a:r>
              <a:rPr lang="en-GB"/>
              <a:t> in context</a:t>
            </a:r>
            <a:endParaRPr/>
          </a:p>
        </p:txBody>
      </p:sp>
      <p:sp>
        <p:nvSpPr>
          <p:cNvPr id="851" name="Google Shape;851;p69"/>
          <p:cNvSpPr/>
          <p:nvPr/>
        </p:nvSpPr>
        <p:spPr>
          <a:xfrm>
            <a:off x="337224" y="2317875"/>
            <a:ext cx="1103100" cy="652200"/>
          </a:xfrm>
          <a:prstGeom prst="roundRect">
            <a:avLst>
              <a:gd fmla="val 16667" name="adj"/>
            </a:avLst>
          </a:prstGeom>
          <a:solidFill>
            <a:srgbClr val="C9DAF8"/>
          </a:solidFill>
          <a:ln cap="flat" cmpd="sng" w="19050">
            <a:solidFill>
              <a:srgbClr val="2F5897"/>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Study </a:t>
            </a:r>
            <a:r>
              <a:rPr lang="en-GB" sz="1200"/>
              <a:t>&amp;</a:t>
            </a:r>
            <a:r>
              <a:rPr b="0" i="0" lang="en-GB" sz="1200" u="none" cap="none" strike="noStrike">
                <a:solidFill>
                  <a:srgbClr val="000000"/>
                </a:solidFill>
                <a:latin typeface="Arial"/>
                <a:ea typeface="Arial"/>
                <a:cs typeface="Arial"/>
                <a:sym typeface="Arial"/>
              </a:rPr>
              <a:t> data design</a:t>
            </a:r>
            <a:endParaRPr b="0" i="0" sz="1200" u="none" cap="none" strike="noStrike">
              <a:solidFill>
                <a:srgbClr val="000000"/>
              </a:solidFill>
              <a:latin typeface="Arial"/>
              <a:ea typeface="Arial"/>
              <a:cs typeface="Arial"/>
              <a:sym typeface="Arial"/>
            </a:endParaRPr>
          </a:p>
        </p:txBody>
      </p:sp>
      <p:sp>
        <p:nvSpPr>
          <p:cNvPr id="852" name="Google Shape;852;p69"/>
          <p:cNvSpPr/>
          <p:nvPr/>
        </p:nvSpPr>
        <p:spPr>
          <a:xfrm>
            <a:off x="1474825" y="2317875"/>
            <a:ext cx="12708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Sampling </a:t>
            </a:r>
            <a:br>
              <a:rPr b="0" i="0" lang="en-GB" sz="1200" u="none" cap="none" strike="noStrike">
                <a:solidFill>
                  <a:srgbClr val="000000"/>
                </a:solidFill>
                <a:latin typeface="Arial"/>
                <a:ea typeface="Arial"/>
                <a:cs typeface="Arial"/>
                <a:sym typeface="Arial"/>
              </a:rPr>
            </a:br>
            <a:r>
              <a:rPr lang="en-GB" sz="1200"/>
              <a:t>&amp;</a:t>
            </a:r>
            <a:r>
              <a:rPr b="0" i="0" lang="en-GB" sz="1200" u="none" cap="none" strike="noStrike">
                <a:solidFill>
                  <a:srgbClr val="000000"/>
                </a:solidFill>
                <a:latin typeface="Arial"/>
                <a:ea typeface="Arial"/>
                <a:cs typeface="Arial"/>
                <a:sym typeface="Arial"/>
              </a:rPr>
              <a:t> specimen collection</a:t>
            </a:r>
            <a:endParaRPr b="0" i="0" sz="1200" u="none" cap="none" strike="noStrike">
              <a:solidFill>
                <a:srgbClr val="000000"/>
              </a:solidFill>
              <a:latin typeface="Arial"/>
              <a:ea typeface="Arial"/>
              <a:cs typeface="Arial"/>
              <a:sym typeface="Arial"/>
            </a:endParaRPr>
          </a:p>
        </p:txBody>
      </p:sp>
      <p:sp>
        <p:nvSpPr>
          <p:cNvPr id="853" name="Google Shape;853;p69"/>
          <p:cNvSpPr/>
          <p:nvPr/>
        </p:nvSpPr>
        <p:spPr>
          <a:xfrm>
            <a:off x="2793100" y="2317875"/>
            <a:ext cx="1072200" cy="652200"/>
          </a:xfrm>
          <a:prstGeom prst="roundRect">
            <a:avLst>
              <a:gd fmla="val 16667" name="adj"/>
            </a:avLst>
          </a:prstGeom>
          <a:solidFill>
            <a:srgbClr val="D9EAD3"/>
          </a:soli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preparation </a:t>
            </a:r>
            <a:endParaRPr b="0" i="0" sz="1200" u="none" cap="none" strike="noStrike">
              <a:solidFill>
                <a:srgbClr val="000000"/>
              </a:solidFill>
              <a:latin typeface="Arial"/>
              <a:ea typeface="Arial"/>
              <a:cs typeface="Arial"/>
              <a:sym typeface="Arial"/>
            </a:endParaRPr>
          </a:p>
        </p:txBody>
      </p:sp>
      <p:sp>
        <p:nvSpPr>
          <p:cNvPr id="854" name="Google Shape;854;p69"/>
          <p:cNvSpPr/>
          <p:nvPr/>
        </p:nvSpPr>
        <p:spPr>
          <a:xfrm>
            <a:off x="3908350" y="2317875"/>
            <a:ext cx="1297800" cy="652200"/>
          </a:xfrm>
          <a:prstGeom prst="roundRect">
            <a:avLst>
              <a:gd fmla="val 16667" name="adj"/>
            </a:avLst>
          </a:prstGeom>
          <a:gradFill>
            <a:gsLst>
              <a:gs pos="0">
                <a:srgbClr val="D9EAD3"/>
              </a:gs>
              <a:gs pos="100000">
                <a:srgbClr val="FCE5CD"/>
              </a:gs>
            </a:gsLst>
            <a:lin ang="0" scaled="0"/>
          </a:gradFill>
          <a:ln cap="flat" cmpd="sng" w="19050">
            <a:solidFill>
              <a:srgbClr val="63891F"/>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Sample analysis </a:t>
            </a:r>
            <a:r>
              <a:rPr lang="en-GB" sz="1200"/>
              <a:t>&amp;</a:t>
            </a:r>
            <a:r>
              <a:rPr b="0" i="0" lang="en-GB" sz="1200" u="none" cap="none" strike="noStrike">
                <a:solidFill>
                  <a:srgbClr val="000000"/>
                </a:solidFill>
                <a:latin typeface="Arial"/>
                <a:ea typeface="Arial"/>
                <a:cs typeface="Arial"/>
                <a:sym typeface="Arial"/>
              </a:rPr>
              <a:t> data generation </a:t>
            </a:r>
            <a:endParaRPr b="0" i="0" sz="1200" u="none" cap="none" strike="noStrike">
              <a:solidFill>
                <a:srgbClr val="000000"/>
              </a:solidFill>
              <a:latin typeface="Arial"/>
              <a:ea typeface="Arial"/>
              <a:cs typeface="Arial"/>
              <a:sym typeface="Arial"/>
            </a:endParaRPr>
          </a:p>
        </p:txBody>
      </p:sp>
      <p:sp>
        <p:nvSpPr>
          <p:cNvPr id="855" name="Google Shape;855;p69"/>
          <p:cNvSpPr/>
          <p:nvPr/>
        </p:nvSpPr>
        <p:spPr>
          <a:xfrm>
            <a:off x="5249200" y="2317875"/>
            <a:ext cx="13326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processing to prepare inputs for analysis </a:t>
            </a:r>
            <a:endParaRPr b="0" i="0" sz="1200" u="none" cap="none" strike="noStrike">
              <a:solidFill>
                <a:srgbClr val="000000"/>
              </a:solidFill>
              <a:latin typeface="Arial"/>
              <a:ea typeface="Arial"/>
              <a:cs typeface="Arial"/>
              <a:sym typeface="Arial"/>
            </a:endParaRPr>
          </a:p>
        </p:txBody>
      </p:sp>
      <p:sp>
        <p:nvSpPr>
          <p:cNvPr id="856" name="Google Shape;856;p69"/>
          <p:cNvSpPr/>
          <p:nvPr/>
        </p:nvSpPr>
        <p:spPr>
          <a:xfrm>
            <a:off x="6627850" y="2317875"/>
            <a:ext cx="922500" cy="652200"/>
          </a:xfrm>
          <a:prstGeom prst="roundRect">
            <a:avLst>
              <a:gd fmla="val 16667" name="adj"/>
            </a:avLst>
          </a:prstGeom>
          <a:solidFill>
            <a:srgbClr val="FCE5CD"/>
          </a:solidFill>
          <a:ln cap="flat" cmpd="sng" w="19050">
            <a:solidFill>
              <a:srgbClr val="E68422"/>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Data analysis</a:t>
            </a:r>
            <a:endParaRPr b="0" i="0" sz="1200" u="none" cap="none" strike="noStrike">
              <a:solidFill>
                <a:srgbClr val="000000"/>
              </a:solidFill>
              <a:latin typeface="Arial"/>
              <a:ea typeface="Arial"/>
              <a:cs typeface="Arial"/>
              <a:sym typeface="Arial"/>
            </a:endParaRPr>
          </a:p>
        </p:txBody>
      </p:sp>
      <p:sp>
        <p:nvSpPr>
          <p:cNvPr id="857" name="Google Shape;857;p69"/>
          <p:cNvSpPr/>
          <p:nvPr/>
        </p:nvSpPr>
        <p:spPr>
          <a:xfrm>
            <a:off x="7593400" y="2317875"/>
            <a:ext cx="1185600" cy="652200"/>
          </a:xfrm>
          <a:prstGeom prst="roundRect">
            <a:avLst>
              <a:gd fmla="val 16667" name="adj"/>
            </a:avLst>
          </a:prstGeom>
          <a:solidFill>
            <a:srgbClr val="D9D2E9"/>
          </a:solidFill>
          <a:ln cap="flat" cmpd="sng" w="19050">
            <a:solidFill>
              <a:srgbClr val="351C75"/>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Communicating results</a:t>
            </a:r>
            <a:endParaRPr b="0" i="0" sz="1200" u="none" cap="none" strike="noStrike">
              <a:solidFill>
                <a:srgbClr val="000000"/>
              </a:solidFill>
              <a:latin typeface="Arial"/>
              <a:ea typeface="Arial"/>
              <a:cs typeface="Arial"/>
              <a:sym typeface="Arial"/>
            </a:endParaRPr>
          </a:p>
        </p:txBody>
      </p:sp>
      <p:sp>
        <p:nvSpPr>
          <p:cNvPr id="858" name="Google Shape;858;p69"/>
          <p:cNvSpPr txBox="1"/>
          <p:nvPr/>
        </p:nvSpPr>
        <p:spPr>
          <a:xfrm>
            <a:off x="268125" y="3130700"/>
            <a:ext cx="11856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1538F"/>
                </a:solidFill>
              </a:rPr>
              <a:t>Procedures</a:t>
            </a:r>
            <a:endParaRPr b="1" sz="1400">
              <a:solidFill>
                <a:srgbClr val="31538F"/>
              </a:solidFill>
            </a:endParaRPr>
          </a:p>
          <a:p>
            <a:pPr indent="0" lvl="0" marL="0" marR="0" rtl="0" algn="l">
              <a:lnSpc>
                <a:spcPct val="100000"/>
              </a:lnSpc>
              <a:spcBef>
                <a:spcPts val="0"/>
              </a:spcBef>
              <a:spcAft>
                <a:spcPts val="0"/>
              </a:spcAft>
              <a:buNone/>
            </a:pPr>
            <a:r>
              <a:rPr lang="en-GB" sz="1000"/>
              <a:t>data protection, </a:t>
            </a:r>
            <a:endParaRPr sz="10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ethic</a:t>
            </a:r>
            <a:r>
              <a:rPr lang="en-GB" sz="1000"/>
              <a:t>s</a:t>
            </a:r>
            <a:r>
              <a:rPr b="0" i="0" lang="en-GB" sz="1000" u="none" cap="none" strike="noStrike">
                <a:solidFill>
                  <a:srgbClr val="000000"/>
                </a:solidFill>
                <a:latin typeface="Arial"/>
                <a:ea typeface="Arial"/>
                <a:cs typeface="Arial"/>
                <a:sym typeface="Arial"/>
              </a:rPr>
              <a:t> permit,</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infrastructure,</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standards,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protocols,</a:t>
            </a:r>
            <a:br>
              <a:rPr b="0" i="0" lang="en-GB" sz="1000" u="none" cap="none" strike="noStrike">
                <a:solidFill>
                  <a:srgbClr val="000000"/>
                </a:solidFill>
                <a:latin typeface="Arial"/>
                <a:ea typeface="Arial"/>
                <a:cs typeface="Arial"/>
                <a:sym typeface="Arial"/>
              </a:rPr>
            </a:br>
            <a:r>
              <a:rPr b="0" i="0" lang="en-GB" sz="1000" u="none" cap="none" strike="noStrike">
                <a:solidFill>
                  <a:srgbClr val="000000"/>
                </a:solidFill>
                <a:latin typeface="Arial"/>
                <a:ea typeface="Arial"/>
                <a:cs typeface="Arial"/>
                <a:sym typeface="Arial"/>
              </a:rPr>
              <a:t>data dictionaries,</a:t>
            </a:r>
            <a:endParaRPr sz="1300"/>
          </a:p>
          <a:p>
            <a:pPr indent="0" lvl="0" marL="0" marR="0" rtl="0" algn="l">
              <a:lnSpc>
                <a:spcPct val="100000"/>
              </a:lnSpc>
              <a:spcBef>
                <a:spcPts val="0"/>
              </a:spcBef>
              <a:spcAft>
                <a:spcPts val="0"/>
              </a:spcAft>
              <a:buNone/>
            </a:pPr>
            <a:r>
              <a:rPr lang="en-GB" sz="1000"/>
              <a:t>data access, …</a:t>
            </a:r>
            <a:endParaRPr sz="1300"/>
          </a:p>
        </p:txBody>
      </p:sp>
      <p:sp>
        <p:nvSpPr>
          <p:cNvPr id="859" name="Google Shape;859;p69"/>
          <p:cNvSpPr txBox="1"/>
          <p:nvPr/>
        </p:nvSpPr>
        <p:spPr>
          <a:xfrm>
            <a:off x="1434225" y="3130700"/>
            <a:ext cx="30384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63891F"/>
                </a:solidFill>
              </a:rPr>
              <a:t>Biosamples and instruments</a:t>
            </a:r>
            <a:br>
              <a:rPr lang="en-GB" sz="1000"/>
            </a:br>
            <a:r>
              <a:rPr b="0" i="0" lang="en-GB" sz="1000" u="none" cap="none" strike="noStrike">
                <a:solidFill>
                  <a:srgbClr val="000000"/>
                </a:solidFill>
                <a:latin typeface="Arial"/>
                <a:ea typeface="Arial"/>
                <a:cs typeface="Arial"/>
                <a:sym typeface="Arial"/>
              </a:rPr>
              <a:t>populations (statistical) and inclusion criteria, </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physical processing steps,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working storage conditions,</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long-term storage location,</a:t>
            </a:r>
            <a:endParaRPr sz="1300"/>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sample quality assessment,</a:t>
            </a:r>
            <a:br>
              <a:rPr b="0" i="0" lang="en-GB" sz="1000" u="none" cap="none" strike="noStrike">
                <a:solidFill>
                  <a:srgbClr val="000000"/>
                </a:solidFill>
                <a:latin typeface="Arial"/>
                <a:ea typeface="Arial"/>
                <a:cs typeface="Arial"/>
                <a:sym typeface="Arial"/>
              </a:rPr>
            </a:br>
            <a:r>
              <a:rPr b="0" i="0" lang="en-GB" sz="1000" u="none" cap="none" strike="noStrike">
                <a:solidFill>
                  <a:srgbClr val="000000"/>
                </a:solidFill>
                <a:latin typeface="Arial"/>
                <a:ea typeface="Arial"/>
                <a:cs typeface="Arial"/>
                <a:sym typeface="Arial"/>
              </a:rPr>
              <a:t>sample annotations,</a:t>
            </a:r>
            <a:endParaRPr sz="1300"/>
          </a:p>
          <a:p>
            <a:pPr indent="0" lvl="0" marL="0" rtl="0" algn="l">
              <a:spcBef>
                <a:spcPts val="0"/>
              </a:spcBef>
              <a:spcAft>
                <a:spcPts val="0"/>
              </a:spcAft>
              <a:buNone/>
            </a:pPr>
            <a:r>
              <a:rPr lang="en-GB" sz="1000">
                <a:solidFill>
                  <a:schemeClr val="dk1"/>
                </a:solidFill>
              </a:rPr>
              <a:t>reagents, instruments, kits, …</a:t>
            </a:r>
            <a:endParaRPr sz="1300"/>
          </a:p>
        </p:txBody>
      </p:sp>
      <p:sp>
        <p:nvSpPr>
          <p:cNvPr id="860" name="Google Shape;860;p69"/>
          <p:cNvSpPr/>
          <p:nvPr/>
        </p:nvSpPr>
        <p:spPr>
          <a:xfrm>
            <a:off x="1434223" y="3043557"/>
            <a:ext cx="3089100" cy="53700"/>
          </a:xfrm>
          <a:prstGeom prst="rect">
            <a:avLst/>
          </a:prstGeom>
          <a:solidFill>
            <a:srgbClr val="6389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61" name="Google Shape;861;p69"/>
          <p:cNvSpPr/>
          <p:nvPr/>
        </p:nvSpPr>
        <p:spPr>
          <a:xfrm>
            <a:off x="337229" y="3043575"/>
            <a:ext cx="1034100" cy="53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62" name="Google Shape;862;p69"/>
          <p:cNvSpPr/>
          <p:nvPr/>
        </p:nvSpPr>
        <p:spPr>
          <a:xfrm>
            <a:off x="4603283" y="3043557"/>
            <a:ext cx="3089100" cy="53700"/>
          </a:xfrm>
          <a:prstGeom prst="rect">
            <a:avLst/>
          </a:prstGeom>
          <a:solidFill>
            <a:srgbClr val="E6842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63" name="Google Shape;863;p69"/>
          <p:cNvSpPr txBox="1"/>
          <p:nvPr/>
        </p:nvSpPr>
        <p:spPr>
          <a:xfrm>
            <a:off x="4603275" y="3130700"/>
            <a:ext cx="3210300" cy="1385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GB" sz="1400">
                <a:solidFill>
                  <a:srgbClr val="E68422"/>
                </a:solidFill>
              </a:rPr>
              <a:t>Data and computational workflows</a:t>
            </a:r>
            <a:endParaRPr b="1" sz="1400">
              <a:solidFill>
                <a:srgbClr val="E68422"/>
              </a:solidFill>
            </a:endParaRPr>
          </a:p>
          <a:p>
            <a:pPr indent="0" lvl="0" marL="0" rtl="0" algn="l">
              <a:spcBef>
                <a:spcPts val="0"/>
              </a:spcBef>
              <a:spcAft>
                <a:spcPts val="0"/>
              </a:spcAft>
              <a:buClr>
                <a:schemeClr val="dk1"/>
              </a:buClr>
              <a:buFont typeface="Arial"/>
              <a:buNone/>
            </a:pPr>
            <a:r>
              <a:rPr lang="en-GB" sz="1000">
                <a:solidFill>
                  <a:schemeClr val="dk1"/>
                </a:solidFill>
              </a:rPr>
              <a:t>digital processing steps, </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working storage conditions,</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long-term storage location,</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data quality assessment,</a:t>
            </a:r>
            <a:endParaRPr sz="1300">
              <a:solidFill>
                <a:schemeClr val="dk1"/>
              </a:solidFill>
            </a:endParaRPr>
          </a:p>
          <a:p>
            <a:pPr indent="0" lvl="0" marL="0" rtl="0" algn="l">
              <a:spcBef>
                <a:spcPts val="0"/>
              </a:spcBef>
              <a:spcAft>
                <a:spcPts val="0"/>
              </a:spcAft>
              <a:buClr>
                <a:schemeClr val="dk1"/>
              </a:buClr>
              <a:buFont typeface="Arial"/>
              <a:buNone/>
            </a:pPr>
            <a:r>
              <a:rPr lang="en-GB" sz="1000">
                <a:solidFill>
                  <a:schemeClr val="dk1"/>
                </a:solidFill>
              </a:rPr>
              <a:t>sample/data annotations,</a:t>
            </a:r>
            <a:endParaRPr sz="1300">
              <a:solidFill>
                <a:schemeClr val="dk1"/>
              </a:solidFill>
            </a:endParaRPr>
          </a:p>
          <a:p>
            <a:pPr indent="0" lvl="0" marL="0" rtl="0" algn="l">
              <a:spcBef>
                <a:spcPts val="0"/>
              </a:spcBef>
              <a:spcAft>
                <a:spcPts val="0"/>
              </a:spcAft>
              <a:buNone/>
            </a:pPr>
            <a:r>
              <a:rPr lang="en-GB" sz="1000">
                <a:solidFill>
                  <a:schemeClr val="dk1"/>
                </a:solidFill>
              </a:rPr>
              <a:t>reference data, </a:t>
            </a:r>
            <a:br>
              <a:rPr lang="en-GB" sz="1000">
                <a:solidFill>
                  <a:schemeClr val="dk1"/>
                </a:solidFill>
              </a:rPr>
            </a:br>
            <a:r>
              <a:rPr lang="en-GB" sz="1000">
                <a:solidFill>
                  <a:schemeClr val="dk1"/>
                </a:solidFill>
              </a:rPr>
              <a:t>analysis method…</a:t>
            </a:r>
            <a:endParaRPr b="1" sz="1400">
              <a:solidFill>
                <a:srgbClr val="E68422"/>
              </a:solidFill>
            </a:endParaRPr>
          </a:p>
        </p:txBody>
      </p:sp>
      <p:sp>
        <p:nvSpPr>
          <p:cNvPr id="864" name="Google Shape;864;p69"/>
          <p:cNvSpPr/>
          <p:nvPr/>
        </p:nvSpPr>
        <p:spPr>
          <a:xfrm>
            <a:off x="7772350" y="3043550"/>
            <a:ext cx="968100" cy="55500"/>
          </a:xfrm>
          <a:prstGeom prst="rect">
            <a:avLst/>
          </a:prstGeom>
          <a:solidFill>
            <a:srgbClr val="351C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65" name="Google Shape;865;p69"/>
          <p:cNvSpPr txBox="1"/>
          <p:nvPr/>
        </p:nvSpPr>
        <p:spPr>
          <a:xfrm>
            <a:off x="7734775" y="3130725"/>
            <a:ext cx="1185600" cy="123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sz="1400">
                <a:solidFill>
                  <a:srgbClr val="351C75"/>
                </a:solidFill>
              </a:rPr>
              <a:t>Outputs</a:t>
            </a:r>
            <a:endParaRPr b="1" sz="1400">
              <a:solidFill>
                <a:srgbClr val="351C75"/>
              </a:solidFill>
            </a:endParaRPr>
          </a:p>
          <a:p>
            <a:pPr indent="0" lvl="0" marL="0" marR="0" rtl="0" algn="l">
              <a:lnSpc>
                <a:spcPct val="100000"/>
              </a:lnSpc>
              <a:spcBef>
                <a:spcPts val="0"/>
              </a:spcBef>
              <a:spcAft>
                <a:spcPts val="0"/>
              </a:spcAft>
              <a:buNone/>
            </a:pPr>
            <a:r>
              <a:rPr b="0" i="0" lang="en-GB" sz="1000" u="none" cap="none" strike="noStrike">
                <a:solidFill>
                  <a:srgbClr val="000000"/>
                </a:solidFill>
                <a:latin typeface="Arial"/>
                <a:ea typeface="Arial"/>
                <a:cs typeface="Arial"/>
                <a:sym typeface="Arial"/>
              </a:rPr>
              <a:t>publications,</a:t>
            </a:r>
            <a:br>
              <a:rPr b="0" i="0" lang="en-GB" sz="1000" u="none" cap="none" strike="noStrike">
                <a:solidFill>
                  <a:srgbClr val="000000"/>
                </a:solidFill>
                <a:latin typeface="Arial"/>
                <a:ea typeface="Arial"/>
                <a:cs typeface="Arial"/>
                <a:sym typeface="Arial"/>
              </a:rPr>
            </a:br>
            <a:r>
              <a:rPr lang="en-GB" sz="1000"/>
              <a:t>data</a:t>
            </a:r>
            <a:r>
              <a:rPr b="0" i="0" lang="en-GB"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GB" sz="1000"/>
              <a:t>tools,</a:t>
            </a:r>
            <a:endParaRPr sz="1000"/>
          </a:p>
          <a:p>
            <a:pPr indent="0" lvl="0" marL="0" marR="0" rtl="0" algn="l">
              <a:lnSpc>
                <a:spcPct val="100000"/>
              </a:lnSpc>
              <a:spcBef>
                <a:spcPts val="0"/>
              </a:spcBef>
              <a:spcAft>
                <a:spcPts val="0"/>
              </a:spcAft>
              <a:buNone/>
            </a:pPr>
            <a:r>
              <a:rPr lang="en-GB" sz="1000"/>
              <a:t>workflows,</a:t>
            </a:r>
            <a:endParaRPr sz="1000"/>
          </a:p>
          <a:p>
            <a:pPr indent="0" lvl="0" marL="0" marR="0" rtl="0" algn="l">
              <a:lnSpc>
                <a:spcPct val="100000"/>
              </a:lnSpc>
              <a:spcBef>
                <a:spcPts val="0"/>
              </a:spcBef>
              <a:spcAft>
                <a:spcPts val="0"/>
              </a:spcAft>
              <a:buNone/>
            </a:pPr>
            <a:r>
              <a:rPr lang="en-GB" sz="1000"/>
              <a:t>reports,</a:t>
            </a:r>
            <a:endParaRPr sz="1000"/>
          </a:p>
          <a:p>
            <a:pPr indent="0" lvl="0" marL="0" marR="0" rtl="0" algn="l">
              <a:lnSpc>
                <a:spcPct val="100000"/>
              </a:lnSpc>
              <a:spcBef>
                <a:spcPts val="0"/>
              </a:spcBef>
              <a:spcAft>
                <a:spcPts val="0"/>
              </a:spcAft>
              <a:buNone/>
            </a:pPr>
            <a:r>
              <a:rPr lang="en-GB" sz="1000"/>
              <a:t>dashboards, …</a:t>
            </a:r>
            <a:endParaRPr b="0" i="0" sz="1000" u="none" cap="none" strike="noStrike">
              <a:solidFill>
                <a:srgbClr val="000000"/>
              </a:solidFill>
              <a:latin typeface="Arial"/>
              <a:ea typeface="Arial"/>
              <a:cs typeface="Arial"/>
              <a:sym typeface="Arial"/>
            </a:endParaRPr>
          </a:p>
        </p:txBody>
      </p:sp>
      <p:pic>
        <p:nvPicPr>
          <p:cNvPr id="866" name="Google Shape;866;p69"/>
          <p:cNvPicPr preferRelativeResize="0"/>
          <p:nvPr/>
        </p:nvPicPr>
        <p:blipFill>
          <a:blip r:embed="rId4">
            <a:alphaModFix/>
          </a:blip>
          <a:stretch>
            <a:fillRect/>
          </a:stretch>
        </p:blipFill>
        <p:spPr>
          <a:xfrm>
            <a:off x="1601925" y="1019075"/>
            <a:ext cx="968200" cy="968200"/>
          </a:xfrm>
          <a:prstGeom prst="rect">
            <a:avLst/>
          </a:prstGeom>
          <a:noFill/>
          <a:ln>
            <a:noFill/>
          </a:ln>
        </p:spPr>
      </p:pic>
      <p:pic>
        <p:nvPicPr>
          <p:cNvPr id="867" name="Google Shape;867;p69"/>
          <p:cNvPicPr preferRelativeResize="0"/>
          <p:nvPr/>
        </p:nvPicPr>
        <p:blipFill rotWithShape="1">
          <a:blip r:embed="rId5">
            <a:alphaModFix/>
          </a:blip>
          <a:srcRect b="0" l="0" r="0" t="0"/>
          <a:stretch/>
        </p:blipFill>
        <p:spPr>
          <a:xfrm>
            <a:off x="3431563" y="997374"/>
            <a:ext cx="1270800" cy="953100"/>
          </a:xfrm>
          <a:prstGeom prst="rect">
            <a:avLst/>
          </a:prstGeom>
          <a:noFill/>
          <a:ln>
            <a:noFill/>
          </a:ln>
        </p:spPr>
      </p:pic>
      <p:grpSp>
        <p:nvGrpSpPr>
          <p:cNvPr id="868" name="Google Shape;868;p69"/>
          <p:cNvGrpSpPr/>
          <p:nvPr/>
        </p:nvGrpSpPr>
        <p:grpSpPr>
          <a:xfrm>
            <a:off x="5546173" y="996742"/>
            <a:ext cx="968204" cy="968204"/>
            <a:chOff x="6079573" y="996742"/>
            <a:chExt cx="968204" cy="968204"/>
          </a:xfrm>
        </p:grpSpPr>
        <p:pic>
          <p:nvPicPr>
            <p:cNvPr descr="Desktop computer vector image with flat screen" id="869" name="Google Shape;869;p69"/>
            <p:cNvPicPr preferRelativeResize="0"/>
            <p:nvPr/>
          </p:nvPicPr>
          <p:blipFill rotWithShape="1">
            <a:blip r:embed="rId6">
              <a:alphaModFix/>
            </a:blip>
            <a:srcRect b="0" l="0" r="0" t="0"/>
            <a:stretch/>
          </p:blipFill>
          <p:spPr>
            <a:xfrm>
              <a:off x="6079573" y="996742"/>
              <a:ext cx="968204" cy="968204"/>
            </a:xfrm>
            <a:prstGeom prst="rect">
              <a:avLst/>
            </a:prstGeom>
            <a:noFill/>
            <a:ln>
              <a:noFill/>
            </a:ln>
          </p:spPr>
        </p:pic>
        <p:pic>
          <p:nvPicPr>
            <p:cNvPr descr="Spreadsheet document symbol" id="870" name="Google Shape;870;p69"/>
            <p:cNvPicPr preferRelativeResize="0"/>
            <p:nvPr/>
          </p:nvPicPr>
          <p:blipFill rotWithShape="1">
            <a:blip r:embed="rId7">
              <a:alphaModFix/>
            </a:blip>
            <a:srcRect b="0" l="0" r="0" t="0"/>
            <a:stretch/>
          </p:blipFill>
          <p:spPr>
            <a:xfrm rot="316307">
              <a:off x="6520467" y="1236401"/>
              <a:ext cx="324131" cy="324131"/>
            </a:xfrm>
            <a:prstGeom prst="rect">
              <a:avLst/>
            </a:prstGeom>
            <a:noFill/>
            <a:ln>
              <a:noFill/>
            </a:ln>
          </p:spPr>
        </p:pic>
        <p:pic>
          <p:nvPicPr>
            <p:cNvPr descr="Spreadsheet document symbol" id="871" name="Google Shape;871;p69"/>
            <p:cNvPicPr preferRelativeResize="0"/>
            <p:nvPr/>
          </p:nvPicPr>
          <p:blipFill rotWithShape="1">
            <a:blip r:embed="rId7">
              <a:alphaModFix/>
            </a:blip>
            <a:srcRect b="0" l="0" r="0" t="0"/>
            <a:stretch/>
          </p:blipFill>
          <p:spPr>
            <a:xfrm rot="-508798">
              <a:off x="6251505" y="1238942"/>
              <a:ext cx="324131" cy="324131"/>
            </a:xfrm>
            <a:prstGeom prst="rect">
              <a:avLst/>
            </a:prstGeom>
            <a:noFill/>
            <a:ln>
              <a:noFill/>
            </a:ln>
          </p:spPr>
        </p:pic>
      </p:grpSp>
      <p:pic>
        <p:nvPicPr>
          <p:cNvPr id="872" name="Google Shape;872;p69"/>
          <p:cNvPicPr preferRelativeResize="0"/>
          <p:nvPr/>
        </p:nvPicPr>
        <p:blipFill rotWithShape="1">
          <a:blip r:embed="rId3">
            <a:alphaModFix/>
          </a:blip>
          <a:srcRect b="0" l="0" r="0" t="0"/>
          <a:stretch/>
        </p:blipFill>
        <p:spPr>
          <a:xfrm>
            <a:off x="2112929" y="1374009"/>
            <a:ext cx="884801" cy="884801"/>
          </a:xfrm>
          <a:prstGeom prst="rect">
            <a:avLst/>
          </a:prstGeom>
          <a:noFill/>
          <a:ln>
            <a:noFill/>
          </a:ln>
        </p:spPr>
      </p:pic>
      <p:pic>
        <p:nvPicPr>
          <p:cNvPr descr="Spreadsheet document symbol" id="873" name="Google Shape;873;p69"/>
          <p:cNvPicPr preferRelativeResize="0"/>
          <p:nvPr/>
        </p:nvPicPr>
        <p:blipFill rotWithShape="1">
          <a:blip r:embed="rId7">
            <a:alphaModFix/>
          </a:blip>
          <a:srcRect b="0" l="0" r="0" t="0"/>
          <a:stretch/>
        </p:blipFill>
        <p:spPr>
          <a:xfrm rot="316296">
            <a:off x="4475412" y="1498289"/>
            <a:ext cx="570749" cy="570726"/>
          </a:xfrm>
          <a:prstGeom prst="rect">
            <a:avLst/>
          </a:prstGeom>
          <a:noFill/>
          <a:ln>
            <a:noFill/>
          </a:ln>
        </p:spPr>
      </p:pic>
      <p:pic>
        <p:nvPicPr>
          <p:cNvPr descr="Spreadsheet document symbol" id="874" name="Google Shape;874;p69"/>
          <p:cNvPicPr preferRelativeResize="0"/>
          <p:nvPr/>
        </p:nvPicPr>
        <p:blipFill rotWithShape="1">
          <a:blip r:embed="rId7">
            <a:alphaModFix/>
          </a:blip>
          <a:srcRect b="0" l="0" r="0" t="0"/>
          <a:stretch/>
        </p:blipFill>
        <p:spPr>
          <a:xfrm rot="827203">
            <a:off x="6542464" y="1618314"/>
            <a:ext cx="424723" cy="424723"/>
          </a:xfrm>
          <a:prstGeom prst="rect">
            <a:avLst/>
          </a:prstGeom>
          <a:noFill/>
          <a:ln>
            <a:noFill/>
          </a:ln>
        </p:spPr>
      </p:pic>
      <p:grpSp>
        <p:nvGrpSpPr>
          <p:cNvPr id="875" name="Google Shape;875;p69"/>
          <p:cNvGrpSpPr/>
          <p:nvPr/>
        </p:nvGrpSpPr>
        <p:grpSpPr>
          <a:xfrm>
            <a:off x="8126767" y="962465"/>
            <a:ext cx="623046" cy="1205706"/>
            <a:chOff x="7845504" y="1416558"/>
            <a:chExt cx="1131782" cy="2190201"/>
          </a:xfrm>
        </p:grpSpPr>
        <p:pic>
          <p:nvPicPr>
            <p:cNvPr id="876" name="Google Shape;876;p69"/>
            <p:cNvPicPr preferRelativeResize="0"/>
            <p:nvPr/>
          </p:nvPicPr>
          <p:blipFill rotWithShape="1">
            <a:blip r:embed="rId8">
              <a:alphaModFix/>
            </a:blip>
            <a:srcRect b="0" l="0" r="0" t="0"/>
            <a:stretch/>
          </p:blipFill>
          <p:spPr>
            <a:xfrm>
              <a:off x="7908681" y="1416558"/>
              <a:ext cx="1005463" cy="1042798"/>
            </a:xfrm>
            <a:prstGeom prst="rect">
              <a:avLst/>
            </a:prstGeom>
            <a:noFill/>
            <a:ln>
              <a:noFill/>
            </a:ln>
            <a:effectLst>
              <a:outerShdw blurRad="50800" rotWithShape="0" algn="tl" dir="2700000" dist="38100">
                <a:srgbClr val="000000">
                  <a:alpha val="40000"/>
                </a:srgbClr>
              </a:outerShdw>
            </a:effectLst>
          </p:spPr>
        </p:pic>
        <p:pic>
          <p:nvPicPr>
            <p:cNvPr id="877" name="Google Shape;877;p69"/>
            <p:cNvPicPr preferRelativeResize="0"/>
            <p:nvPr/>
          </p:nvPicPr>
          <p:blipFill rotWithShape="1">
            <a:blip r:embed="rId9">
              <a:alphaModFix/>
            </a:blip>
            <a:srcRect b="0" l="0" r="65282" t="0"/>
            <a:stretch/>
          </p:blipFill>
          <p:spPr>
            <a:xfrm>
              <a:off x="7845504" y="2592872"/>
              <a:ext cx="1131782" cy="1013888"/>
            </a:xfrm>
            <a:prstGeom prst="rect">
              <a:avLst/>
            </a:prstGeom>
            <a:noFill/>
            <a:ln>
              <a:noFill/>
            </a:ln>
            <a:effectLst>
              <a:outerShdw blurRad="50800" rotWithShape="0" algn="tl" dir="2700000" dist="38100">
                <a:srgbClr val="000000">
                  <a:alpha val="40000"/>
                </a:srgbClr>
              </a:outerShdw>
            </a:effectLst>
          </p:spPr>
        </p:pic>
      </p:grpSp>
      <p:pic>
        <p:nvPicPr>
          <p:cNvPr id="878" name="Google Shape;878;p69"/>
          <p:cNvPicPr preferRelativeResize="0"/>
          <p:nvPr/>
        </p:nvPicPr>
        <p:blipFill rotWithShape="1">
          <a:blip r:embed="rId10">
            <a:alphaModFix/>
          </a:blip>
          <a:srcRect b="0" l="0" r="0" t="0"/>
          <a:stretch/>
        </p:blipFill>
        <p:spPr>
          <a:xfrm>
            <a:off x="7281976" y="1348363"/>
            <a:ext cx="620775" cy="620775"/>
          </a:xfrm>
          <a:prstGeom prst="rect">
            <a:avLst/>
          </a:prstGeom>
          <a:noFill/>
          <a:ln>
            <a:noFill/>
          </a:ln>
          <a:effectLst>
            <a:outerShdw blurRad="50800" rotWithShape="0" algn="tl" dir="2700000" dist="38100">
              <a:srgbClr val="000000">
                <a:alpha val="40000"/>
              </a:srgbClr>
            </a:outerShdw>
          </a:effectLst>
        </p:spPr>
      </p:pic>
      <p:cxnSp>
        <p:nvCxnSpPr>
          <p:cNvPr id="879" name="Google Shape;879;p69"/>
          <p:cNvCxnSpPr/>
          <p:nvPr/>
        </p:nvCxnSpPr>
        <p:spPr>
          <a:xfrm>
            <a:off x="2694799" y="1830682"/>
            <a:ext cx="162600" cy="0"/>
          </a:xfrm>
          <a:prstGeom prst="straightConnector1">
            <a:avLst/>
          </a:prstGeom>
          <a:noFill/>
          <a:ln cap="flat" cmpd="sng" w="19050">
            <a:solidFill>
              <a:srgbClr val="000000"/>
            </a:solidFill>
            <a:prstDash val="solid"/>
            <a:round/>
            <a:headEnd len="sm" w="sm" type="none"/>
            <a:tailEnd len="med" w="med" type="triangle"/>
          </a:ln>
        </p:spPr>
      </p:cxnSp>
      <p:pic>
        <p:nvPicPr>
          <p:cNvPr descr="Spreadsheet document symbol" id="880" name="Google Shape;880;p69"/>
          <p:cNvPicPr preferRelativeResize="0"/>
          <p:nvPr/>
        </p:nvPicPr>
        <p:blipFill rotWithShape="1">
          <a:blip r:embed="rId7">
            <a:alphaModFix/>
          </a:blip>
          <a:srcRect b="0" l="0" r="0" t="0"/>
          <a:stretch/>
        </p:blipFill>
        <p:spPr>
          <a:xfrm rot="316308">
            <a:off x="6430764" y="1542114"/>
            <a:ext cx="424723" cy="424723"/>
          </a:xfrm>
          <a:prstGeom prst="rect">
            <a:avLst/>
          </a:prstGeom>
          <a:noFill/>
          <a:ln>
            <a:noFill/>
          </a:ln>
        </p:spPr>
      </p:pic>
      <p:pic>
        <p:nvPicPr>
          <p:cNvPr descr="Spreadsheet document symbol" id="881" name="Google Shape;881;p69"/>
          <p:cNvPicPr preferRelativeResize="0"/>
          <p:nvPr/>
        </p:nvPicPr>
        <p:blipFill rotWithShape="1">
          <a:blip r:embed="rId7">
            <a:alphaModFix/>
          </a:blip>
          <a:srcRect b="0" l="0" r="0" t="0"/>
          <a:stretch/>
        </p:blipFill>
        <p:spPr>
          <a:xfrm>
            <a:off x="6354564" y="1618314"/>
            <a:ext cx="424722" cy="424722"/>
          </a:xfrm>
          <a:prstGeom prst="rect">
            <a:avLst/>
          </a:prstGeom>
          <a:noFill/>
          <a:ln>
            <a:noFill/>
          </a:ln>
        </p:spPr>
      </p:pic>
      <p:pic>
        <p:nvPicPr>
          <p:cNvPr descr="Spreadsheet document symbol" id="882" name="Google Shape;882;p69"/>
          <p:cNvPicPr preferRelativeResize="0"/>
          <p:nvPr/>
        </p:nvPicPr>
        <p:blipFill rotWithShape="1">
          <a:blip r:embed="rId7">
            <a:alphaModFix/>
          </a:blip>
          <a:srcRect b="0" l="0" r="0" t="0"/>
          <a:stretch/>
        </p:blipFill>
        <p:spPr>
          <a:xfrm>
            <a:off x="2997725" y="1866850"/>
            <a:ext cx="290400" cy="290400"/>
          </a:xfrm>
          <a:prstGeom prst="rect">
            <a:avLst/>
          </a:prstGeom>
          <a:noFill/>
          <a:ln>
            <a:noFill/>
          </a:ln>
        </p:spPr>
      </p:pic>
      <p:pic>
        <p:nvPicPr>
          <p:cNvPr descr="Spreadsheet document symbol" id="883" name="Google Shape;883;p69"/>
          <p:cNvPicPr preferRelativeResize="0"/>
          <p:nvPr/>
        </p:nvPicPr>
        <p:blipFill rotWithShape="1">
          <a:blip r:embed="rId7">
            <a:alphaModFix/>
          </a:blip>
          <a:srcRect b="0" l="0" r="0" t="0"/>
          <a:stretch/>
        </p:blipFill>
        <p:spPr>
          <a:xfrm>
            <a:off x="2184875" y="1745013"/>
            <a:ext cx="290400" cy="290400"/>
          </a:xfrm>
          <a:prstGeom prst="rect">
            <a:avLst/>
          </a:prstGeom>
          <a:noFill/>
          <a:ln>
            <a:noFill/>
          </a:ln>
        </p:spPr>
      </p:pic>
      <p:pic>
        <p:nvPicPr>
          <p:cNvPr id="884" name="Google Shape;884;p69"/>
          <p:cNvPicPr preferRelativeResize="0"/>
          <p:nvPr/>
        </p:nvPicPr>
        <p:blipFill>
          <a:blip r:embed="rId11">
            <a:alphaModFix/>
          </a:blip>
          <a:stretch>
            <a:fillRect/>
          </a:stretch>
        </p:blipFill>
        <p:spPr>
          <a:xfrm>
            <a:off x="60775" y="962475"/>
            <a:ext cx="968101" cy="968101"/>
          </a:xfrm>
          <a:prstGeom prst="rect">
            <a:avLst/>
          </a:prstGeom>
          <a:noFill/>
          <a:ln>
            <a:noFill/>
          </a:ln>
        </p:spPr>
      </p:pic>
      <p:pic>
        <p:nvPicPr>
          <p:cNvPr id="885" name="Google Shape;885;p69"/>
          <p:cNvPicPr preferRelativeResize="0"/>
          <p:nvPr/>
        </p:nvPicPr>
        <p:blipFill>
          <a:blip r:embed="rId12">
            <a:alphaModFix/>
          </a:blip>
          <a:stretch>
            <a:fillRect/>
          </a:stretch>
        </p:blipFill>
        <p:spPr>
          <a:xfrm>
            <a:off x="446375" y="1447825"/>
            <a:ext cx="884799" cy="884799"/>
          </a:xfrm>
          <a:prstGeom prst="rect">
            <a:avLst/>
          </a:prstGeom>
          <a:noFill/>
          <a:ln>
            <a:noFill/>
          </a:ln>
        </p:spPr>
      </p:pic>
      <p:pic>
        <p:nvPicPr>
          <p:cNvPr id="886" name="Google Shape;886;p69"/>
          <p:cNvPicPr preferRelativeResize="0"/>
          <p:nvPr/>
        </p:nvPicPr>
        <p:blipFill>
          <a:blip r:embed="rId13">
            <a:alphaModFix/>
          </a:blip>
          <a:stretch>
            <a:fillRect/>
          </a:stretch>
        </p:blipFill>
        <p:spPr>
          <a:xfrm>
            <a:off x="609973" y="853973"/>
            <a:ext cx="922499" cy="922499"/>
          </a:xfrm>
          <a:prstGeom prst="rect">
            <a:avLst/>
          </a:prstGeom>
          <a:noFill/>
          <a:ln>
            <a:noFill/>
          </a:ln>
        </p:spPr>
      </p:pic>
      <p:sp>
        <p:nvSpPr>
          <p:cNvPr id="887" name="Google Shape;887;p69"/>
          <p:cNvSpPr txBox="1"/>
          <p:nvPr/>
        </p:nvSpPr>
        <p:spPr>
          <a:xfrm>
            <a:off x="1331175" y="4470088"/>
            <a:ext cx="7542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900">
                <a:solidFill>
                  <a:srgbClr val="999999"/>
                </a:solidFill>
              </a:rPr>
              <a:t>“Protocol” &amp; “project plan” icons by Justin Blake, and “infrastructure” icon by Eko Purnomo, from thenounproject.com</a:t>
            </a:r>
            <a:endParaRPr sz="900">
              <a:solidFill>
                <a:srgbClr val="999999"/>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1" name="Shape 891"/>
        <p:cNvGrpSpPr/>
        <p:nvPr/>
      </p:nvGrpSpPr>
      <p:grpSpPr>
        <a:xfrm>
          <a:off x="0" y="0"/>
          <a:ext cx="0" cy="0"/>
          <a:chOff x="0" y="0"/>
          <a:chExt cx="0" cy="0"/>
        </a:xfrm>
      </p:grpSpPr>
      <p:pic>
        <p:nvPicPr>
          <p:cNvPr id="892" name="Google Shape;892;p70"/>
          <p:cNvPicPr preferRelativeResize="0"/>
          <p:nvPr/>
        </p:nvPicPr>
        <p:blipFill>
          <a:blip r:embed="rId3">
            <a:alphaModFix/>
          </a:blip>
          <a:stretch>
            <a:fillRect/>
          </a:stretch>
        </p:blipFill>
        <p:spPr>
          <a:xfrm>
            <a:off x="7175650" y="974775"/>
            <a:ext cx="1559949" cy="1626949"/>
          </a:xfrm>
          <a:prstGeom prst="rect">
            <a:avLst/>
          </a:prstGeom>
          <a:noFill/>
          <a:ln cap="flat" cmpd="sng" w="28575">
            <a:solidFill>
              <a:srgbClr val="980000"/>
            </a:solidFill>
            <a:prstDash val="dash"/>
            <a:round/>
            <a:headEnd len="sm" w="sm" type="none"/>
            <a:tailEnd len="sm" w="sm" type="none"/>
          </a:ln>
        </p:spPr>
      </p:pic>
      <p:sp>
        <p:nvSpPr>
          <p:cNvPr id="893" name="Google Shape;893;p70"/>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lnSpc>
                <a:spcPct val="115000"/>
              </a:lnSpc>
              <a:spcBef>
                <a:spcPts val="0"/>
              </a:spcBef>
              <a:spcAft>
                <a:spcPts val="0"/>
              </a:spcAft>
              <a:buClr>
                <a:schemeClr val="dk1"/>
              </a:buClr>
              <a:buSzPts val="1100"/>
              <a:buFont typeface="Arial"/>
              <a:buNone/>
            </a:pPr>
            <a:r>
              <a:rPr lang="en-GB"/>
              <a:t>(Meta)data</a:t>
            </a:r>
            <a:r>
              <a:rPr lang="en-GB"/>
              <a:t> organisation</a:t>
            </a:r>
            <a:endParaRPr/>
          </a:p>
        </p:txBody>
      </p:sp>
      <p:pic>
        <p:nvPicPr>
          <p:cNvPr id="894" name="Google Shape;894;p70"/>
          <p:cNvPicPr preferRelativeResize="0"/>
          <p:nvPr/>
        </p:nvPicPr>
        <p:blipFill rotWithShape="1">
          <a:blip r:embed="rId4">
            <a:alphaModFix/>
          </a:blip>
          <a:srcRect b="0" l="0" r="0" t="0"/>
          <a:stretch/>
        </p:blipFill>
        <p:spPr>
          <a:xfrm>
            <a:off x="169125" y="974775"/>
            <a:ext cx="6744520" cy="3769024"/>
          </a:xfrm>
          <a:prstGeom prst="rect">
            <a:avLst/>
          </a:prstGeom>
          <a:noFill/>
          <a:ln>
            <a:noFill/>
          </a:ln>
        </p:spPr>
      </p:pic>
      <p:sp>
        <p:nvSpPr>
          <p:cNvPr id="895" name="Google Shape;895;p70"/>
          <p:cNvSpPr/>
          <p:nvPr/>
        </p:nvSpPr>
        <p:spPr>
          <a:xfrm>
            <a:off x="6751125" y="1793450"/>
            <a:ext cx="650543" cy="1010598"/>
          </a:xfrm>
          <a:custGeom>
            <a:rect b="b" l="l" r="r" t="t"/>
            <a:pathLst>
              <a:path extrusionOk="0" h="31596" w="40844">
                <a:moveTo>
                  <a:pt x="0" y="2324"/>
                </a:moveTo>
                <a:cubicBezTo>
                  <a:pt x="11521" y="-1516"/>
                  <a:pt x="25996" y="-479"/>
                  <a:pt x="36241" y="6041"/>
                </a:cubicBezTo>
                <a:cubicBezTo>
                  <a:pt x="43503" y="10663"/>
                  <a:pt x="39958" y="22988"/>
                  <a:pt x="39958" y="31596"/>
                </a:cubicBezTo>
              </a:path>
            </a:pathLst>
          </a:custGeom>
          <a:noFill/>
          <a:ln cap="flat" cmpd="sng" w="19050">
            <a:solidFill>
              <a:srgbClr val="999999"/>
            </a:solidFill>
            <a:prstDash val="solid"/>
            <a:round/>
            <a:headEnd len="med" w="med" type="oval"/>
            <a:tailEnd len="med" w="med" type="none"/>
          </a:ln>
        </p:spPr>
      </p:sp>
      <p:pic>
        <p:nvPicPr>
          <p:cNvPr id="896" name="Google Shape;896;p70"/>
          <p:cNvPicPr preferRelativeResize="0"/>
          <p:nvPr/>
        </p:nvPicPr>
        <p:blipFill>
          <a:blip r:embed="rId5">
            <a:alphaModFix/>
          </a:blip>
          <a:stretch>
            <a:fillRect/>
          </a:stretch>
        </p:blipFill>
        <p:spPr>
          <a:xfrm>
            <a:off x="5932538" y="2740369"/>
            <a:ext cx="3031665" cy="17082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0" name="Shape 900"/>
        <p:cNvGrpSpPr/>
        <p:nvPr/>
      </p:nvGrpSpPr>
      <p:grpSpPr>
        <a:xfrm>
          <a:off x="0" y="0"/>
          <a:ext cx="0" cy="0"/>
          <a:chOff x="0" y="0"/>
          <a:chExt cx="0" cy="0"/>
        </a:xfrm>
      </p:grpSpPr>
      <p:sp>
        <p:nvSpPr>
          <p:cNvPr id="901" name="Google Shape;901;p71"/>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a:t>
            </a:r>
            <a:r>
              <a:rPr lang="en-GB"/>
              <a:t>equencing example</a:t>
            </a:r>
            <a:endParaRPr/>
          </a:p>
        </p:txBody>
      </p:sp>
      <p:grpSp>
        <p:nvGrpSpPr>
          <p:cNvPr id="902" name="Google Shape;902;p71"/>
          <p:cNvGrpSpPr/>
          <p:nvPr/>
        </p:nvGrpSpPr>
        <p:grpSpPr>
          <a:xfrm>
            <a:off x="51825" y="678325"/>
            <a:ext cx="8821525" cy="3836100"/>
            <a:chOff x="51825" y="678325"/>
            <a:chExt cx="8821525" cy="3836100"/>
          </a:xfrm>
        </p:grpSpPr>
        <p:pic>
          <p:nvPicPr>
            <p:cNvPr id="903" name="Google Shape;903;p71"/>
            <p:cNvPicPr preferRelativeResize="0"/>
            <p:nvPr/>
          </p:nvPicPr>
          <p:blipFill>
            <a:blip r:embed="rId3">
              <a:alphaModFix/>
            </a:blip>
            <a:stretch>
              <a:fillRect/>
            </a:stretch>
          </p:blipFill>
          <p:spPr>
            <a:xfrm>
              <a:off x="356175" y="941675"/>
              <a:ext cx="6388500" cy="2463947"/>
            </a:xfrm>
            <a:prstGeom prst="rect">
              <a:avLst/>
            </a:prstGeom>
            <a:noFill/>
            <a:ln>
              <a:noFill/>
            </a:ln>
          </p:spPr>
        </p:pic>
        <p:sp>
          <p:nvSpPr>
            <p:cNvPr id="904" name="Google Shape;904;p71"/>
            <p:cNvSpPr txBox="1"/>
            <p:nvPr/>
          </p:nvSpPr>
          <p:spPr>
            <a:xfrm>
              <a:off x="4112950" y="678325"/>
              <a:ext cx="47604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800">
                  <a:solidFill>
                    <a:srgbClr val="999999"/>
                  </a:solidFill>
                </a:rPr>
                <a:t>Söderhäll, I., Fasterius, E., Ekblom, C., &amp; Söderhäll, K. (2022). Characterization of hemocytes and hematopoietic cells of a freshwater crayfish based on single-cell transcriptome analysis. In iScience Vol. 25, Issue 8, p. 104850. Elsevier. https://doi.org/10.1016/j.isci.2022.104850 </a:t>
              </a:r>
              <a:endParaRPr sz="800">
                <a:solidFill>
                  <a:srgbClr val="999999"/>
                </a:solidFill>
              </a:endParaRPr>
            </a:p>
          </p:txBody>
        </p:sp>
        <p:pic>
          <p:nvPicPr>
            <p:cNvPr id="905" name="Google Shape;905;p71"/>
            <p:cNvPicPr preferRelativeResize="0"/>
            <p:nvPr/>
          </p:nvPicPr>
          <p:blipFill rotWithShape="1">
            <a:blip r:embed="rId4">
              <a:alphaModFix/>
            </a:blip>
            <a:srcRect b="46475" l="0" r="35649" t="2152"/>
            <a:stretch/>
          </p:blipFill>
          <p:spPr>
            <a:xfrm>
              <a:off x="7038401" y="1326275"/>
              <a:ext cx="1757774" cy="2660925"/>
            </a:xfrm>
            <a:prstGeom prst="rect">
              <a:avLst/>
            </a:prstGeom>
            <a:noFill/>
            <a:ln>
              <a:noFill/>
            </a:ln>
          </p:spPr>
        </p:pic>
        <p:pic>
          <p:nvPicPr>
            <p:cNvPr id="906" name="Google Shape;906;p71"/>
            <p:cNvPicPr preferRelativeResize="0"/>
            <p:nvPr/>
          </p:nvPicPr>
          <p:blipFill>
            <a:blip r:embed="rId5">
              <a:alphaModFix/>
            </a:blip>
            <a:stretch>
              <a:fillRect/>
            </a:stretch>
          </p:blipFill>
          <p:spPr>
            <a:xfrm>
              <a:off x="51825" y="3473125"/>
              <a:ext cx="1041300" cy="1041300"/>
            </a:xfrm>
            <a:prstGeom prst="rect">
              <a:avLst/>
            </a:prstGeom>
            <a:noFill/>
            <a:ln>
              <a:noFill/>
            </a:ln>
          </p:spPr>
        </p:pic>
        <p:sp>
          <p:nvSpPr>
            <p:cNvPr id="907" name="Google Shape;907;p71"/>
            <p:cNvSpPr txBox="1"/>
            <p:nvPr/>
          </p:nvSpPr>
          <p:spPr>
            <a:xfrm>
              <a:off x="777600" y="3606325"/>
              <a:ext cx="8943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Sample collection protocol</a:t>
              </a:r>
              <a:endParaRPr sz="1300"/>
            </a:p>
          </p:txBody>
        </p:sp>
        <p:sp>
          <p:nvSpPr>
            <p:cNvPr id="908" name="Google Shape;908;p71"/>
            <p:cNvSpPr txBox="1"/>
            <p:nvPr/>
          </p:nvSpPr>
          <p:spPr>
            <a:xfrm>
              <a:off x="2088146" y="3610425"/>
              <a:ext cx="10953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Nucleic acid</a:t>
              </a:r>
              <a:br>
                <a:rPr lang="en-GB" sz="1300"/>
              </a:br>
              <a:r>
                <a:rPr lang="en-GB" sz="1300"/>
                <a:t>extraction protocol</a:t>
              </a:r>
              <a:endParaRPr sz="1300"/>
            </a:p>
          </p:txBody>
        </p:sp>
        <p:sp>
          <p:nvSpPr>
            <p:cNvPr id="909" name="Google Shape;909;p71"/>
            <p:cNvSpPr txBox="1"/>
            <p:nvPr/>
          </p:nvSpPr>
          <p:spPr>
            <a:xfrm>
              <a:off x="3711300" y="3601225"/>
              <a:ext cx="10953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Library construction protocol</a:t>
              </a:r>
              <a:endParaRPr sz="1300"/>
            </a:p>
          </p:txBody>
        </p:sp>
        <p:sp>
          <p:nvSpPr>
            <p:cNvPr id="910" name="Google Shape;910;p71"/>
            <p:cNvSpPr txBox="1"/>
            <p:nvPr/>
          </p:nvSpPr>
          <p:spPr>
            <a:xfrm>
              <a:off x="5305450" y="3701275"/>
              <a:ext cx="1095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Sequencing protocol</a:t>
              </a:r>
              <a:endParaRPr sz="1300"/>
            </a:p>
          </p:txBody>
        </p:sp>
        <p:pic>
          <p:nvPicPr>
            <p:cNvPr id="911" name="Google Shape;911;p71"/>
            <p:cNvPicPr preferRelativeResize="0"/>
            <p:nvPr/>
          </p:nvPicPr>
          <p:blipFill>
            <a:blip r:embed="rId5">
              <a:alphaModFix/>
            </a:blip>
            <a:stretch>
              <a:fillRect/>
            </a:stretch>
          </p:blipFill>
          <p:spPr>
            <a:xfrm>
              <a:off x="1357550" y="3473125"/>
              <a:ext cx="1041300" cy="1041300"/>
            </a:xfrm>
            <a:prstGeom prst="rect">
              <a:avLst/>
            </a:prstGeom>
            <a:noFill/>
            <a:ln>
              <a:noFill/>
            </a:ln>
          </p:spPr>
        </p:pic>
        <p:pic>
          <p:nvPicPr>
            <p:cNvPr id="912" name="Google Shape;912;p71"/>
            <p:cNvPicPr preferRelativeResize="0"/>
            <p:nvPr/>
          </p:nvPicPr>
          <p:blipFill>
            <a:blip r:embed="rId5">
              <a:alphaModFix/>
            </a:blip>
            <a:stretch>
              <a:fillRect/>
            </a:stretch>
          </p:blipFill>
          <p:spPr>
            <a:xfrm>
              <a:off x="2968075" y="3473125"/>
              <a:ext cx="1041300" cy="1041300"/>
            </a:xfrm>
            <a:prstGeom prst="rect">
              <a:avLst/>
            </a:prstGeom>
            <a:noFill/>
            <a:ln>
              <a:noFill/>
            </a:ln>
          </p:spPr>
        </p:pic>
        <p:pic>
          <p:nvPicPr>
            <p:cNvPr id="913" name="Google Shape;913;p71"/>
            <p:cNvPicPr preferRelativeResize="0"/>
            <p:nvPr/>
          </p:nvPicPr>
          <p:blipFill>
            <a:blip r:embed="rId5">
              <a:alphaModFix/>
            </a:blip>
            <a:stretch>
              <a:fillRect/>
            </a:stretch>
          </p:blipFill>
          <p:spPr>
            <a:xfrm>
              <a:off x="4578600" y="3473125"/>
              <a:ext cx="1041300" cy="1041300"/>
            </a:xfrm>
            <a:prstGeom prst="rect">
              <a:avLst/>
            </a:prstGeom>
            <a:noFill/>
            <a:ln>
              <a:noFill/>
            </a:ln>
          </p:spPr>
        </p:pic>
        <p:pic>
          <p:nvPicPr>
            <p:cNvPr descr="Spreadsheet document symbol" id="914" name="Google Shape;914;p71"/>
            <p:cNvPicPr preferRelativeResize="0"/>
            <p:nvPr/>
          </p:nvPicPr>
          <p:blipFill rotWithShape="1">
            <a:blip r:embed="rId6">
              <a:alphaModFix/>
            </a:blip>
            <a:srcRect b="0" l="0" r="0" t="0"/>
            <a:stretch/>
          </p:blipFill>
          <p:spPr>
            <a:xfrm rot="-13">
              <a:off x="2676525" y="941676"/>
              <a:ext cx="656825" cy="656797"/>
            </a:xfrm>
            <a:prstGeom prst="rect">
              <a:avLst/>
            </a:prstGeom>
            <a:noFill/>
            <a:ln>
              <a:noFill/>
            </a:ln>
          </p:spPr>
        </p:pic>
        <p:sp>
          <p:nvSpPr>
            <p:cNvPr id="915" name="Google Shape;915;p71"/>
            <p:cNvSpPr txBox="1"/>
            <p:nvPr/>
          </p:nvSpPr>
          <p:spPr>
            <a:xfrm>
              <a:off x="3241675" y="977575"/>
              <a:ext cx="1469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Sample information</a:t>
              </a:r>
              <a:endParaRPr sz="1300"/>
            </a:p>
          </p:txBody>
        </p:sp>
        <p:sp>
          <p:nvSpPr>
            <p:cNvPr id="916" name="Google Shape;916;p71"/>
            <p:cNvSpPr txBox="1"/>
            <p:nvPr/>
          </p:nvSpPr>
          <p:spPr>
            <a:xfrm>
              <a:off x="287075" y="678325"/>
              <a:ext cx="858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999999"/>
                  </a:solidFill>
                </a:rPr>
                <a:t>“Protocol” icon by Justin Blake from thenounproject.com</a:t>
              </a:r>
              <a:endParaRPr sz="800">
                <a:solidFill>
                  <a:srgbClr val="999999"/>
                </a:solidFill>
              </a:endParaRPr>
            </a:p>
          </p:txBody>
        </p:sp>
        <p:pic>
          <p:nvPicPr>
            <p:cNvPr descr="Spreadsheet document symbol" id="917" name="Google Shape;917;p71"/>
            <p:cNvPicPr preferRelativeResize="0"/>
            <p:nvPr/>
          </p:nvPicPr>
          <p:blipFill rotWithShape="1">
            <a:blip r:embed="rId6">
              <a:alphaModFix/>
            </a:blip>
            <a:srcRect b="0" l="0" r="0" t="0"/>
            <a:stretch/>
          </p:blipFill>
          <p:spPr>
            <a:xfrm rot="-7">
              <a:off x="5149404" y="1475826"/>
              <a:ext cx="585018" cy="584999"/>
            </a:xfrm>
            <a:prstGeom prst="rect">
              <a:avLst/>
            </a:prstGeom>
            <a:noFill/>
            <a:ln>
              <a:noFill/>
            </a:ln>
          </p:spPr>
        </p:pic>
        <p:sp>
          <p:nvSpPr>
            <p:cNvPr id="918" name="Google Shape;918;p71"/>
            <p:cNvSpPr txBox="1"/>
            <p:nvPr/>
          </p:nvSpPr>
          <p:spPr>
            <a:xfrm>
              <a:off x="5642725" y="1475825"/>
              <a:ext cx="1469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Experiment information</a:t>
              </a:r>
              <a:endParaRPr sz="1300"/>
            </a:p>
          </p:txBody>
        </p:sp>
        <p:pic>
          <p:nvPicPr>
            <p:cNvPr descr="Spreadsheet document symbol" id="919" name="Google Shape;919;p71"/>
            <p:cNvPicPr preferRelativeResize="0"/>
            <p:nvPr/>
          </p:nvPicPr>
          <p:blipFill rotWithShape="1">
            <a:blip r:embed="rId6">
              <a:alphaModFix/>
            </a:blip>
            <a:srcRect b="0" l="0" r="0" t="0"/>
            <a:stretch/>
          </p:blipFill>
          <p:spPr>
            <a:xfrm rot="-7">
              <a:off x="5610254" y="2820626"/>
              <a:ext cx="585018" cy="584999"/>
            </a:xfrm>
            <a:prstGeom prst="rect">
              <a:avLst/>
            </a:prstGeom>
            <a:noFill/>
            <a:ln>
              <a:noFill/>
            </a:ln>
          </p:spPr>
        </p:pic>
        <p:sp>
          <p:nvSpPr>
            <p:cNvPr id="920" name="Google Shape;920;p71"/>
            <p:cNvSpPr txBox="1"/>
            <p:nvPr/>
          </p:nvSpPr>
          <p:spPr>
            <a:xfrm>
              <a:off x="6103584" y="2820625"/>
              <a:ext cx="1041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File information</a:t>
              </a:r>
              <a:endParaRPr sz="1300"/>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4" name="Shape 924"/>
        <p:cNvGrpSpPr/>
        <p:nvPr/>
      </p:nvGrpSpPr>
      <p:grpSpPr>
        <a:xfrm>
          <a:off x="0" y="0"/>
          <a:ext cx="0" cy="0"/>
          <a:chOff x="0" y="0"/>
          <a:chExt cx="0" cy="0"/>
        </a:xfrm>
      </p:grpSpPr>
      <p:sp>
        <p:nvSpPr>
          <p:cNvPr id="925" name="Google Shape;925;p72"/>
          <p:cNvSpPr txBox="1"/>
          <p:nvPr>
            <p:ph idx="4294967295" type="body"/>
          </p:nvPr>
        </p:nvSpPr>
        <p:spPr>
          <a:xfrm>
            <a:off x="341748" y="923701"/>
            <a:ext cx="4038600" cy="3670800"/>
          </a:xfrm>
          <a:prstGeom prst="rect">
            <a:avLst/>
          </a:prstGeom>
        </p:spPr>
        <p:txBody>
          <a:bodyPr anchorCtr="0" anchor="t" bIns="25700" lIns="51425" spcFirstLastPara="1" rIns="51425" wrap="square" tIns="25700">
            <a:normAutofit/>
          </a:bodyPr>
          <a:lstStyle/>
          <a:p>
            <a:pPr indent="-355600" lvl="0" marL="457200" rtl="0" algn="l">
              <a:spcBef>
                <a:spcPts val="1000"/>
              </a:spcBef>
              <a:spcAft>
                <a:spcPts val="0"/>
              </a:spcAft>
              <a:buSzPts val="2000"/>
              <a:buChar char="●"/>
            </a:pPr>
            <a:r>
              <a:rPr lang="en-GB" sz="2000"/>
              <a:t>Obtain freshwater crayfish (adult males) from lake Erken, Sweden (59.8 N 18.6 E)</a:t>
            </a:r>
            <a:endParaRPr sz="2000"/>
          </a:p>
          <a:p>
            <a:pPr indent="-355600" lvl="0" marL="457200" rtl="0" algn="l">
              <a:spcBef>
                <a:spcPts val="1000"/>
              </a:spcBef>
              <a:spcAft>
                <a:spcPts val="0"/>
              </a:spcAft>
              <a:buSzPts val="2000"/>
              <a:buChar char="●"/>
            </a:pPr>
            <a:r>
              <a:rPr lang="en-GB" sz="2000"/>
              <a:t>Maintain in the crayfish facility in running tap water,10-12°C, 12:12 light:dark cycle…</a:t>
            </a:r>
            <a:endParaRPr sz="2000"/>
          </a:p>
          <a:p>
            <a:pPr indent="-355600" lvl="0" marL="457200" rtl="0" algn="l">
              <a:spcBef>
                <a:spcPts val="1000"/>
              </a:spcBef>
              <a:spcAft>
                <a:spcPts val="0"/>
              </a:spcAft>
              <a:buSzPts val="2000"/>
              <a:buChar char="●"/>
            </a:pPr>
            <a:r>
              <a:rPr lang="en-GB" sz="2000"/>
              <a:t>Feed once a week</a:t>
            </a:r>
            <a:endParaRPr sz="2000"/>
          </a:p>
        </p:txBody>
      </p:sp>
      <p:sp>
        <p:nvSpPr>
          <p:cNvPr id="926" name="Google Shape;926;p7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Sample collection protocols</a:t>
            </a:r>
            <a:endParaRPr/>
          </a:p>
        </p:txBody>
      </p:sp>
      <p:grpSp>
        <p:nvGrpSpPr>
          <p:cNvPr id="927" name="Google Shape;927;p72"/>
          <p:cNvGrpSpPr/>
          <p:nvPr/>
        </p:nvGrpSpPr>
        <p:grpSpPr>
          <a:xfrm>
            <a:off x="4489275" y="1422450"/>
            <a:ext cx="4210125" cy="3102174"/>
            <a:chOff x="4641675" y="840925"/>
            <a:chExt cx="4210125" cy="3102174"/>
          </a:xfrm>
        </p:grpSpPr>
        <p:pic>
          <p:nvPicPr>
            <p:cNvPr id="928" name="Google Shape;928;p72"/>
            <p:cNvPicPr preferRelativeResize="0"/>
            <p:nvPr/>
          </p:nvPicPr>
          <p:blipFill rotWithShape="1">
            <a:blip r:embed="rId3">
              <a:alphaModFix/>
            </a:blip>
            <a:srcRect b="80275" l="15341" r="66082" t="0"/>
            <a:stretch/>
          </p:blipFill>
          <p:spPr>
            <a:xfrm>
              <a:off x="6446525" y="3008800"/>
              <a:ext cx="1923698" cy="934299"/>
            </a:xfrm>
            <a:prstGeom prst="rect">
              <a:avLst/>
            </a:prstGeom>
            <a:noFill/>
            <a:ln>
              <a:noFill/>
            </a:ln>
          </p:spPr>
        </p:pic>
        <p:pic>
          <p:nvPicPr>
            <p:cNvPr id="929" name="Google Shape;929;p72"/>
            <p:cNvPicPr preferRelativeResize="0"/>
            <p:nvPr/>
          </p:nvPicPr>
          <p:blipFill>
            <a:blip r:embed="rId4">
              <a:alphaModFix/>
            </a:blip>
            <a:stretch>
              <a:fillRect/>
            </a:stretch>
          </p:blipFill>
          <p:spPr>
            <a:xfrm>
              <a:off x="4641675" y="840925"/>
              <a:ext cx="4210125" cy="1975549"/>
            </a:xfrm>
            <a:prstGeom prst="rect">
              <a:avLst/>
            </a:prstGeom>
            <a:noFill/>
            <a:ln>
              <a:noFill/>
            </a:ln>
            <a:effectLst>
              <a:outerShdw blurRad="57150" rotWithShape="0" algn="bl" dir="5400000" dist="19050">
                <a:srgbClr val="000000">
                  <a:alpha val="50000"/>
                </a:srgbClr>
              </a:outerShdw>
            </a:effectLst>
          </p:spPr>
        </p:pic>
        <p:cxnSp>
          <p:nvCxnSpPr>
            <p:cNvPr id="930" name="Google Shape;930;p72"/>
            <p:cNvCxnSpPr/>
            <p:nvPr/>
          </p:nvCxnSpPr>
          <p:spPr>
            <a:xfrm rot="10800000">
              <a:off x="7076800" y="2219850"/>
              <a:ext cx="312600" cy="926400"/>
            </a:xfrm>
            <a:prstGeom prst="straightConnector1">
              <a:avLst/>
            </a:prstGeom>
            <a:noFill/>
            <a:ln cap="flat" cmpd="sng" w="76200">
              <a:solidFill>
                <a:srgbClr val="E68422"/>
              </a:solidFill>
              <a:prstDash val="solid"/>
              <a:round/>
              <a:headEnd len="med" w="med" type="none"/>
              <a:tailEnd len="med" w="med" type="none"/>
            </a:ln>
          </p:spPr>
        </p:cxnSp>
        <p:sp>
          <p:nvSpPr>
            <p:cNvPr id="931" name="Google Shape;931;p72"/>
            <p:cNvSpPr/>
            <p:nvPr/>
          </p:nvSpPr>
          <p:spPr>
            <a:xfrm>
              <a:off x="7008375" y="2163675"/>
              <a:ext cx="156300" cy="156300"/>
            </a:xfrm>
            <a:prstGeom prst="ellipse">
              <a:avLst/>
            </a:prstGeom>
            <a:solidFill>
              <a:srgbClr val="E68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2" name="Google Shape;932;p72"/>
          <p:cNvSpPr txBox="1"/>
          <p:nvPr/>
        </p:nvSpPr>
        <p:spPr>
          <a:xfrm>
            <a:off x="4112950" y="678325"/>
            <a:ext cx="4760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800">
                <a:solidFill>
                  <a:srgbClr val="999999"/>
                </a:solidFill>
              </a:rPr>
              <a:t>Map data © Google.    Crayfish derived from Illustration in Söderhäll et al. (2022). </a:t>
            </a:r>
            <a:endParaRPr sz="800">
              <a:solidFill>
                <a:srgbClr val="999999"/>
              </a:solidFill>
            </a:endParaRPr>
          </a:p>
        </p:txBody>
      </p:sp>
      <p:sp>
        <p:nvSpPr>
          <p:cNvPr id="933" name="Google Shape;933;p72"/>
          <p:cNvSpPr txBox="1"/>
          <p:nvPr/>
        </p:nvSpPr>
        <p:spPr>
          <a:xfrm>
            <a:off x="4489275" y="3409500"/>
            <a:ext cx="2698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999999"/>
                </a:solidFill>
              </a:rPr>
              <a:t>Map data © Google</a:t>
            </a:r>
            <a:endParaRPr sz="800">
              <a:solidFill>
                <a:srgbClr val="999999"/>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7" name="Shape 937"/>
        <p:cNvGrpSpPr/>
        <p:nvPr/>
      </p:nvGrpSpPr>
      <p:grpSpPr>
        <a:xfrm>
          <a:off x="0" y="0"/>
          <a:ext cx="0" cy="0"/>
          <a:chOff x="0" y="0"/>
          <a:chExt cx="0" cy="0"/>
        </a:xfrm>
      </p:grpSpPr>
      <p:sp>
        <p:nvSpPr>
          <p:cNvPr id="938" name="Google Shape;938;p73"/>
          <p:cNvSpPr txBox="1"/>
          <p:nvPr>
            <p:ph idx="4294967295" type="body"/>
          </p:nvPr>
        </p:nvSpPr>
        <p:spPr>
          <a:xfrm>
            <a:off x="4773273" y="923701"/>
            <a:ext cx="4038600" cy="3670800"/>
          </a:xfrm>
          <a:prstGeom prst="rect">
            <a:avLst/>
          </a:prstGeom>
        </p:spPr>
        <p:txBody>
          <a:bodyPr anchorCtr="0" anchor="t" bIns="25700" lIns="51425" spcFirstLastPara="1" rIns="51425" wrap="square" tIns="25700">
            <a:normAutofit/>
          </a:bodyPr>
          <a:lstStyle/>
          <a:p>
            <a:pPr indent="-355600" lvl="0" marL="457200" rtl="0" algn="l">
              <a:spcBef>
                <a:spcPts val="1000"/>
              </a:spcBef>
              <a:spcAft>
                <a:spcPts val="0"/>
              </a:spcAft>
              <a:buSzPts val="2000"/>
              <a:buChar char="●"/>
            </a:pPr>
            <a:r>
              <a:rPr lang="en-GB" sz="2000"/>
              <a:t>Dissect and digest into single cells by incubation in 300 μl of 0.1% collagenase … at room temperature for 20 min on a rotating plate … then filtered through a 40 mm cell strainer</a:t>
            </a:r>
            <a:endParaRPr sz="2000"/>
          </a:p>
          <a:p>
            <a:pPr indent="-355600" lvl="0" marL="457200" rtl="0" algn="l">
              <a:spcBef>
                <a:spcPts val="1000"/>
              </a:spcBef>
              <a:spcAft>
                <a:spcPts val="0"/>
              </a:spcAft>
              <a:buSzPts val="2000"/>
              <a:buChar char="●"/>
            </a:pPr>
            <a:r>
              <a:rPr lang="en-GB" sz="2000"/>
              <a:t>Pool isolated cells from four animals for scRNA-seq</a:t>
            </a:r>
            <a:endParaRPr sz="2000"/>
          </a:p>
        </p:txBody>
      </p:sp>
      <p:sp>
        <p:nvSpPr>
          <p:cNvPr id="939" name="Google Shape;939;p73"/>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E</a:t>
            </a:r>
            <a:r>
              <a:rPr lang="en-GB"/>
              <a:t>xtraction protocol</a:t>
            </a:r>
            <a:endParaRPr/>
          </a:p>
        </p:txBody>
      </p:sp>
      <p:pic>
        <p:nvPicPr>
          <p:cNvPr id="940" name="Google Shape;940;p73"/>
          <p:cNvPicPr preferRelativeResize="0"/>
          <p:nvPr/>
        </p:nvPicPr>
        <p:blipFill rotWithShape="1">
          <a:blip r:embed="rId3">
            <a:alphaModFix/>
          </a:blip>
          <a:srcRect b="0" l="0" r="48856" t="0"/>
          <a:stretch/>
        </p:blipFill>
        <p:spPr>
          <a:xfrm>
            <a:off x="356175" y="941675"/>
            <a:ext cx="4417100" cy="3331017"/>
          </a:xfrm>
          <a:prstGeom prst="rect">
            <a:avLst/>
          </a:prstGeom>
          <a:noFill/>
          <a:ln>
            <a:noFill/>
          </a:ln>
        </p:spPr>
      </p:pic>
      <p:sp>
        <p:nvSpPr>
          <p:cNvPr id="941" name="Google Shape;941;p73"/>
          <p:cNvSpPr txBox="1"/>
          <p:nvPr/>
        </p:nvSpPr>
        <p:spPr>
          <a:xfrm>
            <a:off x="4112950" y="678325"/>
            <a:ext cx="4760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800">
                <a:solidFill>
                  <a:srgbClr val="999999"/>
                </a:solidFill>
              </a:rPr>
              <a:t>Protocol illustration derived from Illustration in Söderhäll et al. (2022). </a:t>
            </a:r>
            <a:endParaRPr sz="800">
              <a:solidFill>
                <a:srgbClr val="999999"/>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5" name="Shape 945"/>
        <p:cNvGrpSpPr/>
        <p:nvPr/>
      </p:nvGrpSpPr>
      <p:grpSpPr>
        <a:xfrm>
          <a:off x="0" y="0"/>
          <a:ext cx="0" cy="0"/>
          <a:chOff x="0" y="0"/>
          <a:chExt cx="0" cy="0"/>
        </a:xfrm>
      </p:grpSpPr>
      <p:sp>
        <p:nvSpPr>
          <p:cNvPr id="946" name="Google Shape;946;p74"/>
          <p:cNvSpPr txBox="1"/>
          <p:nvPr>
            <p:ph idx="4294967295" type="body"/>
          </p:nvPr>
        </p:nvSpPr>
        <p:spPr>
          <a:xfrm>
            <a:off x="2011150" y="1042850"/>
            <a:ext cx="6917100" cy="3497700"/>
          </a:xfrm>
          <a:prstGeom prst="rect">
            <a:avLst/>
          </a:prstGeom>
        </p:spPr>
        <p:txBody>
          <a:bodyPr anchorCtr="0" anchor="t" bIns="25700" lIns="51425" spcFirstLastPara="1" rIns="51425" wrap="square" tIns="25700">
            <a:noAutofit/>
          </a:bodyPr>
          <a:lstStyle/>
          <a:p>
            <a:pPr indent="0" lvl="0" marL="0" rtl="0" algn="l">
              <a:spcBef>
                <a:spcPts val="400"/>
              </a:spcBef>
              <a:spcAft>
                <a:spcPts val="0"/>
              </a:spcAft>
              <a:buClr>
                <a:schemeClr val="dk1"/>
              </a:buClr>
              <a:buSzPts val="1100"/>
              <a:buFont typeface="Arial"/>
              <a:buNone/>
            </a:pPr>
            <a:r>
              <a:rPr lang="en-GB" sz="2000"/>
              <a:t>Organism				Pacifastacus leniusculus</a:t>
            </a:r>
            <a:endParaRPr sz="2000"/>
          </a:p>
          <a:p>
            <a:pPr indent="0" lvl="0" marL="0" rtl="0" algn="l">
              <a:spcBef>
                <a:spcPts val="400"/>
              </a:spcBef>
              <a:spcAft>
                <a:spcPts val="0"/>
              </a:spcAft>
              <a:buClr>
                <a:schemeClr val="dk1"/>
              </a:buClr>
              <a:buSzPts val="1100"/>
              <a:buFont typeface="Arial"/>
              <a:buNone/>
            </a:pPr>
            <a:r>
              <a:rPr lang="en-GB" sz="2000"/>
              <a:t>Genotype				wild type genotype</a:t>
            </a:r>
            <a:endParaRPr sz="2000"/>
          </a:p>
          <a:p>
            <a:pPr indent="0" lvl="0" marL="0" rtl="0" algn="l">
              <a:spcBef>
                <a:spcPts val="400"/>
              </a:spcBef>
              <a:spcAft>
                <a:spcPts val="0"/>
              </a:spcAft>
              <a:buClr>
                <a:schemeClr val="dk1"/>
              </a:buClr>
              <a:buSzPts val="1100"/>
              <a:buFont typeface="Arial"/>
              <a:buNone/>
            </a:pPr>
            <a:r>
              <a:rPr lang="en-GB" sz="2000"/>
              <a:t>Geographical location	Sweden, Lake Erken</a:t>
            </a:r>
            <a:endParaRPr sz="2000"/>
          </a:p>
          <a:p>
            <a:pPr indent="0" lvl="0" marL="0" rtl="0" algn="l">
              <a:spcBef>
                <a:spcPts val="400"/>
              </a:spcBef>
              <a:spcAft>
                <a:spcPts val="0"/>
              </a:spcAft>
              <a:buClr>
                <a:schemeClr val="dk1"/>
              </a:buClr>
              <a:buSzPts val="1100"/>
              <a:buFont typeface="Arial"/>
              <a:buNone/>
            </a:pPr>
            <a:r>
              <a:rPr lang="en-GB" sz="2000"/>
              <a:t>Growth condition		laboratory aquarium since Sep 2020</a:t>
            </a:r>
            <a:endParaRPr sz="2000"/>
          </a:p>
          <a:p>
            <a:pPr indent="0" lvl="0" marL="0" rtl="0" algn="l">
              <a:spcBef>
                <a:spcPts val="400"/>
              </a:spcBef>
              <a:spcAft>
                <a:spcPts val="0"/>
              </a:spcAft>
              <a:buClr>
                <a:schemeClr val="dk1"/>
              </a:buClr>
              <a:buSzPts val="1100"/>
              <a:buFont typeface="Arial"/>
              <a:buNone/>
            </a:pPr>
            <a:r>
              <a:rPr lang="en-GB" sz="2000"/>
              <a:t>Sampling date			2020-11-06</a:t>
            </a:r>
            <a:endParaRPr sz="2000"/>
          </a:p>
          <a:p>
            <a:pPr indent="0" lvl="0" marL="0" rtl="0" algn="l">
              <a:spcBef>
                <a:spcPts val="400"/>
              </a:spcBef>
              <a:spcAft>
                <a:spcPts val="0"/>
              </a:spcAft>
              <a:buClr>
                <a:schemeClr val="dk1"/>
              </a:buClr>
              <a:buSzPts val="1100"/>
              <a:buFont typeface="Arial"/>
              <a:buNone/>
            </a:pPr>
            <a:r>
              <a:rPr lang="en-GB" sz="2000"/>
              <a:t>Developmental stage	adult</a:t>
            </a:r>
            <a:endParaRPr sz="2000"/>
          </a:p>
          <a:p>
            <a:pPr indent="0" lvl="0" marL="0" rtl="0" algn="l">
              <a:spcBef>
                <a:spcPts val="400"/>
              </a:spcBef>
              <a:spcAft>
                <a:spcPts val="0"/>
              </a:spcAft>
              <a:buClr>
                <a:schemeClr val="dk1"/>
              </a:buClr>
              <a:buSzPts val="1100"/>
              <a:buFont typeface="Arial"/>
              <a:buNone/>
            </a:pPr>
            <a:r>
              <a:rPr lang="en-GB" sz="2000"/>
              <a:t>Body weight			35</a:t>
            </a:r>
            <a:endParaRPr sz="2000"/>
          </a:p>
          <a:p>
            <a:pPr indent="0" lvl="0" marL="0" rtl="0" algn="l">
              <a:spcBef>
                <a:spcPts val="400"/>
              </a:spcBef>
              <a:spcAft>
                <a:spcPts val="0"/>
              </a:spcAft>
              <a:buClr>
                <a:schemeClr val="dk1"/>
              </a:buClr>
              <a:buSzPts val="1100"/>
              <a:buFont typeface="Arial"/>
              <a:buNone/>
            </a:pPr>
            <a:r>
              <a:rPr lang="en-GB" sz="2000"/>
              <a:t>Sex						male</a:t>
            </a:r>
            <a:endParaRPr sz="2000"/>
          </a:p>
          <a:p>
            <a:pPr indent="0" lvl="0" marL="0" rtl="0" algn="l">
              <a:spcBef>
                <a:spcPts val="400"/>
              </a:spcBef>
              <a:spcAft>
                <a:spcPts val="0"/>
              </a:spcAft>
              <a:buClr>
                <a:schemeClr val="dk1"/>
              </a:buClr>
              <a:buSzPts val="1100"/>
              <a:buFont typeface="Arial"/>
              <a:buNone/>
            </a:pPr>
            <a:r>
              <a:rPr lang="en-GB" sz="2000"/>
              <a:t>Organism part			hematopoietic system</a:t>
            </a:r>
            <a:endParaRPr sz="2000"/>
          </a:p>
          <a:p>
            <a:pPr indent="0" lvl="0" marL="0" rtl="0" algn="l">
              <a:spcBef>
                <a:spcPts val="400"/>
              </a:spcBef>
              <a:spcAft>
                <a:spcPts val="0"/>
              </a:spcAft>
              <a:buNone/>
            </a:pPr>
            <a:r>
              <a:rPr b="1" lang="en-GB" sz="2000"/>
              <a:t>Cell type				hemocyte</a:t>
            </a:r>
            <a:endParaRPr b="1" sz="2000"/>
          </a:p>
        </p:txBody>
      </p:sp>
      <p:sp>
        <p:nvSpPr>
          <p:cNvPr id="947" name="Google Shape;947;p7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Sample information</a:t>
            </a:r>
            <a:endParaRPr/>
          </a:p>
        </p:txBody>
      </p:sp>
      <p:sp>
        <p:nvSpPr>
          <p:cNvPr id="948" name="Google Shape;948;p74"/>
          <p:cNvSpPr/>
          <p:nvPr/>
        </p:nvSpPr>
        <p:spPr>
          <a:xfrm>
            <a:off x="1828575" y="1162400"/>
            <a:ext cx="47400" cy="9057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949" name="Google Shape;949;p74"/>
          <p:cNvSpPr/>
          <p:nvPr/>
        </p:nvSpPr>
        <p:spPr>
          <a:xfrm>
            <a:off x="1828575" y="2211950"/>
            <a:ext cx="47400" cy="16176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950" name="Google Shape;950;p74"/>
          <p:cNvSpPr/>
          <p:nvPr/>
        </p:nvSpPr>
        <p:spPr>
          <a:xfrm>
            <a:off x="1828575" y="4311375"/>
            <a:ext cx="47400" cy="2292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951" name="Google Shape;951;p74"/>
          <p:cNvSpPr txBox="1"/>
          <p:nvPr/>
        </p:nvSpPr>
        <p:spPr>
          <a:xfrm>
            <a:off x="393975" y="1004250"/>
            <a:ext cx="1434600" cy="492600"/>
          </a:xfrm>
          <a:prstGeom prst="rect">
            <a:avLst/>
          </a:prstGeom>
          <a:noFill/>
          <a:ln>
            <a:noFill/>
          </a:ln>
        </p:spPr>
        <p:txBody>
          <a:bodyPr anchorCtr="0" anchor="t" bIns="91425" lIns="91425" spcFirstLastPara="1" rIns="91425" wrap="square" tIns="91425">
            <a:spAutoFit/>
          </a:bodyPr>
          <a:lstStyle/>
          <a:p>
            <a:pPr indent="0" lvl="0" marL="0" rtl="0" algn="l">
              <a:spcBef>
                <a:spcPts val="400"/>
              </a:spcBef>
              <a:spcAft>
                <a:spcPts val="0"/>
              </a:spcAft>
              <a:buNone/>
            </a:pPr>
            <a:r>
              <a:rPr lang="en-GB" sz="2000">
                <a:solidFill>
                  <a:schemeClr val="dk1"/>
                </a:solidFill>
              </a:rPr>
              <a:t>Population</a:t>
            </a:r>
            <a:endParaRPr sz="2000"/>
          </a:p>
        </p:txBody>
      </p:sp>
      <p:sp>
        <p:nvSpPr>
          <p:cNvPr id="952" name="Google Shape;952;p74"/>
          <p:cNvSpPr txBox="1"/>
          <p:nvPr/>
        </p:nvSpPr>
        <p:spPr>
          <a:xfrm>
            <a:off x="393975" y="2068225"/>
            <a:ext cx="1434600" cy="492600"/>
          </a:xfrm>
          <a:prstGeom prst="rect">
            <a:avLst/>
          </a:prstGeom>
          <a:noFill/>
          <a:ln>
            <a:noFill/>
          </a:ln>
        </p:spPr>
        <p:txBody>
          <a:bodyPr anchorCtr="0" anchor="t" bIns="91425" lIns="91425" spcFirstLastPara="1" rIns="91425" wrap="square" tIns="91425">
            <a:spAutoFit/>
          </a:bodyPr>
          <a:lstStyle/>
          <a:p>
            <a:pPr indent="0" lvl="0" marL="0" rtl="0" algn="l">
              <a:spcBef>
                <a:spcPts val="400"/>
              </a:spcBef>
              <a:spcAft>
                <a:spcPts val="0"/>
              </a:spcAft>
              <a:buNone/>
            </a:pPr>
            <a:r>
              <a:rPr lang="en-GB" sz="2000">
                <a:solidFill>
                  <a:schemeClr val="dk1"/>
                </a:solidFill>
              </a:rPr>
              <a:t>Individual</a:t>
            </a:r>
            <a:endParaRPr sz="2000"/>
          </a:p>
        </p:txBody>
      </p:sp>
      <p:sp>
        <p:nvSpPr>
          <p:cNvPr id="953" name="Google Shape;953;p74"/>
          <p:cNvSpPr txBox="1"/>
          <p:nvPr/>
        </p:nvSpPr>
        <p:spPr>
          <a:xfrm>
            <a:off x="393975" y="3829550"/>
            <a:ext cx="1434600" cy="492600"/>
          </a:xfrm>
          <a:prstGeom prst="rect">
            <a:avLst/>
          </a:prstGeom>
          <a:noFill/>
          <a:ln>
            <a:noFill/>
          </a:ln>
        </p:spPr>
        <p:txBody>
          <a:bodyPr anchorCtr="0" anchor="t" bIns="91425" lIns="91425" spcFirstLastPara="1" rIns="91425" wrap="square" tIns="91425">
            <a:spAutoFit/>
          </a:bodyPr>
          <a:lstStyle/>
          <a:p>
            <a:pPr indent="0" lvl="0" marL="0" rtl="0" algn="l">
              <a:spcBef>
                <a:spcPts val="400"/>
              </a:spcBef>
              <a:spcAft>
                <a:spcPts val="0"/>
              </a:spcAft>
              <a:buNone/>
            </a:pPr>
            <a:r>
              <a:rPr lang="en-GB" sz="2000">
                <a:solidFill>
                  <a:schemeClr val="dk1"/>
                </a:solidFill>
              </a:rPr>
              <a:t>Specimen</a:t>
            </a:r>
            <a:endParaRPr sz="2000"/>
          </a:p>
        </p:txBody>
      </p:sp>
      <p:sp>
        <p:nvSpPr>
          <p:cNvPr id="954" name="Google Shape;954;p74"/>
          <p:cNvSpPr/>
          <p:nvPr/>
        </p:nvSpPr>
        <p:spPr>
          <a:xfrm>
            <a:off x="1828575" y="3966875"/>
            <a:ext cx="47400" cy="229200"/>
          </a:xfrm>
          <a:prstGeom prst="rect">
            <a:avLst/>
          </a:prstGeom>
          <a:solidFill>
            <a:srgbClr val="2F58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955" name="Google Shape;955;p74"/>
          <p:cNvSpPr txBox="1"/>
          <p:nvPr/>
        </p:nvSpPr>
        <p:spPr>
          <a:xfrm>
            <a:off x="393975" y="4179675"/>
            <a:ext cx="1434600" cy="492600"/>
          </a:xfrm>
          <a:prstGeom prst="rect">
            <a:avLst/>
          </a:prstGeom>
          <a:noFill/>
          <a:ln>
            <a:noFill/>
          </a:ln>
        </p:spPr>
        <p:txBody>
          <a:bodyPr anchorCtr="0" anchor="t" bIns="91425" lIns="91425" spcFirstLastPara="1" rIns="91425" wrap="square" tIns="91425">
            <a:spAutoFit/>
          </a:bodyPr>
          <a:lstStyle/>
          <a:p>
            <a:pPr indent="0" lvl="0" marL="0" rtl="0" algn="l">
              <a:spcBef>
                <a:spcPts val="400"/>
              </a:spcBef>
              <a:spcAft>
                <a:spcPts val="0"/>
              </a:spcAft>
              <a:buNone/>
            </a:pPr>
            <a:r>
              <a:rPr lang="en-GB" sz="2000">
                <a:solidFill>
                  <a:schemeClr val="dk1"/>
                </a:solidFill>
              </a:rPr>
              <a:t>Sample</a:t>
            </a:r>
            <a:endParaRPr sz="2000"/>
          </a:p>
        </p:txBody>
      </p:sp>
      <p:pic>
        <p:nvPicPr>
          <p:cNvPr id="956" name="Google Shape;956;p74"/>
          <p:cNvPicPr preferRelativeResize="0"/>
          <p:nvPr/>
        </p:nvPicPr>
        <p:blipFill>
          <a:blip r:embed="rId3">
            <a:alphaModFix/>
          </a:blip>
          <a:stretch>
            <a:fillRect/>
          </a:stretch>
        </p:blipFill>
        <p:spPr>
          <a:xfrm>
            <a:off x="6124800" y="756943"/>
            <a:ext cx="2726992" cy="319200"/>
          </a:xfrm>
          <a:prstGeom prst="rect">
            <a:avLst/>
          </a:prstGeom>
          <a:noFill/>
          <a:ln>
            <a:noFill/>
          </a:ln>
        </p:spPr>
      </p:pic>
      <p:sp>
        <p:nvSpPr>
          <p:cNvPr id="957" name="Google Shape;957;p74"/>
          <p:cNvSpPr txBox="1"/>
          <p:nvPr/>
        </p:nvSpPr>
        <p:spPr>
          <a:xfrm>
            <a:off x="208475" y="704099"/>
            <a:ext cx="47961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GB" sz="1000">
                <a:solidFill>
                  <a:srgbClr val="999999"/>
                </a:solidFill>
              </a:rPr>
              <a:t>ENA Checklist: ERC00001 – ENA default sample checklist</a:t>
            </a:r>
            <a:endParaRPr sz="1000">
              <a:solidFill>
                <a:srgbClr val="999999"/>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1" name="Shape 961"/>
        <p:cNvGrpSpPr/>
        <p:nvPr/>
      </p:nvGrpSpPr>
      <p:grpSpPr>
        <a:xfrm>
          <a:off x="0" y="0"/>
          <a:ext cx="0" cy="0"/>
          <a:chOff x="0" y="0"/>
          <a:chExt cx="0" cy="0"/>
        </a:xfrm>
      </p:grpSpPr>
      <p:sp>
        <p:nvSpPr>
          <p:cNvPr id="962" name="Google Shape;962;p75"/>
          <p:cNvSpPr txBox="1"/>
          <p:nvPr>
            <p:ph idx="4294967295" type="body"/>
          </p:nvPr>
        </p:nvSpPr>
        <p:spPr>
          <a:xfrm>
            <a:off x="341748" y="923701"/>
            <a:ext cx="4038600" cy="3670800"/>
          </a:xfrm>
          <a:prstGeom prst="rect">
            <a:avLst/>
          </a:prstGeom>
        </p:spPr>
        <p:txBody>
          <a:bodyPr anchorCtr="0" anchor="t" bIns="25700" lIns="51425" spcFirstLastPara="1" rIns="51425" wrap="square" tIns="25700">
            <a:normAutofit/>
          </a:bodyPr>
          <a:lstStyle/>
          <a:p>
            <a:pPr indent="-355600" lvl="0" marL="457200" rtl="0" algn="l">
              <a:spcBef>
                <a:spcPts val="1000"/>
              </a:spcBef>
              <a:spcAft>
                <a:spcPts val="0"/>
              </a:spcAft>
              <a:buSzPts val="2000"/>
              <a:buChar char="●"/>
            </a:pPr>
            <a:r>
              <a:rPr lang="en-GB" sz="2000"/>
              <a:t>Prepare sequencing libraries using Chromium Single Cell 3’ reagent kit v3 </a:t>
            </a:r>
            <a:br>
              <a:rPr lang="en-GB" sz="2000"/>
            </a:br>
            <a:r>
              <a:rPr lang="en-GB" sz="2000"/>
              <a:t>(cat# 1000075/1000073/120262, 10xGenomics)</a:t>
            </a:r>
            <a:endParaRPr sz="2000"/>
          </a:p>
          <a:p>
            <a:pPr indent="-298450" lvl="0" marL="457200" rtl="0" algn="l">
              <a:spcBef>
                <a:spcPts val="1000"/>
              </a:spcBef>
              <a:spcAft>
                <a:spcPts val="0"/>
              </a:spcAft>
              <a:buSzPts val="1100"/>
              <a:buChar char="●"/>
            </a:pPr>
            <a:r>
              <a:rPr lang="en-GB" sz="2000"/>
              <a:t>According to the manufacturer’s protocol </a:t>
            </a:r>
            <a:br>
              <a:rPr lang="en-GB"/>
            </a:br>
            <a:br>
              <a:rPr lang="en-GB"/>
            </a:br>
            <a:r>
              <a:rPr lang="en-GB" sz="1800"/>
              <a:t>CG000183 </a:t>
            </a:r>
            <a:br>
              <a:rPr lang="en-GB" sz="1800"/>
            </a:br>
            <a:r>
              <a:rPr lang="en-GB" sz="1800"/>
              <a:t>Single Cell 3’ Reagent Kit </a:t>
            </a:r>
            <a:br>
              <a:rPr lang="en-GB" sz="1800"/>
            </a:br>
            <a:r>
              <a:rPr lang="en-GB" sz="1800"/>
              <a:t>User Guide, v3 chemistry, </a:t>
            </a:r>
            <a:br>
              <a:rPr lang="en-GB" sz="1800"/>
            </a:br>
            <a:r>
              <a:rPr lang="en-GB" sz="1800"/>
              <a:t>10xGenomics</a:t>
            </a:r>
            <a:endParaRPr sz="2500"/>
          </a:p>
        </p:txBody>
      </p:sp>
      <p:sp>
        <p:nvSpPr>
          <p:cNvPr id="963" name="Google Shape;963;p7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Library construction protocol</a:t>
            </a:r>
            <a:endParaRPr/>
          </a:p>
        </p:txBody>
      </p:sp>
      <p:pic>
        <p:nvPicPr>
          <p:cNvPr id="964" name="Google Shape;964;p75"/>
          <p:cNvPicPr preferRelativeResize="0"/>
          <p:nvPr/>
        </p:nvPicPr>
        <p:blipFill rotWithShape="1">
          <a:blip r:embed="rId3">
            <a:alphaModFix/>
          </a:blip>
          <a:srcRect b="-7" l="40788" r="14765" t="20567"/>
          <a:stretch/>
        </p:blipFill>
        <p:spPr>
          <a:xfrm>
            <a:off x="5210899" y="1079987"/>
            <a:ext cx="3794800" cy="2615863"/>
          </a:xfrm>
          <a:prstGeom prst="rect">
            <a:avLst/>
          </a:prstGeom>
          <a:noFill/>
          <a:ln>
            <a:noFill/>
          </a:ln>
        </p:spPr>
      </p:pic>
      <p:sp>
        <p:nvSpPr>
          <p:cNvPr id="965" name="Google Shape;965;p75"/>
          <p:cNvSpPr txBox="1"/>
          <p:nvPr/>
        </p:nvSpPr>
        <p:spPr>
          <a:xfrm>
            <a:off x="4112950" y="678325"/>
            <a:ext cx="4760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800">
                <a:solidFill>
                  <a:srgbClr val="999999"/>
                </a:solidFill>
              </a:rPr>
              <a:t>Protocol illustration derived from Illustration in Söderhäll et al. (2022). </a:t>
            </a:r>
            <a:endParaRPr sz="800">
              <a:solidFill>
                <a:srgbClr val="999999"/>
              </a:solidFill>
            </a:endParaRPr>
          </a:p>
        </p:txBody>
      </p:sp>
      <p:pic>
        <p:nvPicPr>
          <p:cNvPr id="966" name="Google Shape;966;p75"/>
          <p:cNvPicPr preferRelativeResize="0"/>
          <p:nvPr/>
        </p:nvPicPr>
        <p:blipFill>
          <a:blip r:embed="rId4">
            <a:alphaModFix/>
          </a:blip>
          <a:stretch>
            <a:fillRect/>
          </a:stretch>
        </p:blipFill>
        <p:spPr>
          <a:xfrm rot="201536">
            <a:off x="3585821" y="2649999"/>
            <a:ext cx="1394454" cy="1806327"/>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0" name="Shape 970"/>
        <p:cNvGrpSpPr/>
        <p:nvPr/>
      </p:nvGrpSpPr>
      <p:grpSpPr>
        <a:xfrm>
          <a:off x="0" y="0"/>
          <a:ext cx="0" cy="0"/>
          <a:chOff x="0" y="0"/>
          <a:chExt cx="0" cy="0"/>
        </a:xfrm>
      </p:grpSpPr>
      <p:sp>
        <p:nvSpPr>
          <p:cNvPr id="971" name="Google Shape;971;p76"/>
          <p:cNvSpPr txBox="1"/>
          <p:nvPr>
            <p:ph idx="4294967295" type="body"/>
          </p:nvPr>
        </p:nvSpPr>
        <p:spPr>
          <a:xfrm>
            <a:off x="3803975" y="880200"/>
            <a:ext cx="5047800" cy="3714300"/>
          </a:xfrm>
          <a:prstGeom prst="rect">
            <a:avLst/>
          </a:prstGeom>
        </p:spPr>
        <p:txBody>
          <a:bodyPr anchorCtr="0" anchor="t" bIns="25700" lIns="51425" spcFirstLastPara="1" rIns="51425" wrap="square" tIns="25700">
            <a:normAutofit/>
          </a:bodyPr>
          <a:lstStyle/>
          <a:p>
            <a:pPr indent="-355600" lvl="0" marL="457200" rtl="0" algn="l">
              <a:spcBef>
                <a:spcPts val="1000"/>
              </a:spcBef>
              <a:spcAft>
                <a:spcPts val="0"/>
              </a:spcAft>
              <a:buSzPts val="2000"/>
              <a:buChar char="●"/>
            </a:pPr>
            <a:r>
              <a:rPr lang="en-GB" sz="2000"/>
              <a:t>28+8+0+91 bp read length</a:t>
            </a:r>
            <a:endParaRPr sz="2000"/>
          </a:p>
          <a:p>
            <a:pPr indent="-355600" lvl="0" marL="457200" rtl="0" algn="l">
              <a:spcBef>
                <a:spcPts val="1000"/>
              </a:spcBef>
              <a:spcAft>
                <a:spcPts val="0"/>
              </a:spcAft>
              <a:buSzPts val="2000"/>
              <a:buChar char="●"/>
            </a:pPr>
            <a:r>
              <a:rPr lang="en-GB" sz="2000"/>
              <a:t>NovaSeq 6000 system</a:t>
            </a:r>
            <a:endParaRPr sz="2000"/>
          </a:p>
          <a:p>
            <a:pPr indent="-355600" lvl="0" marL="457200" rtl="0" algn="l">
              <a:spcBef>
                <a:spcPts val="1000"/>
              </a:spcBef>
              <a:spcAft>
                <a:spcPts val="0"/>
              </a:spcAft>
              <a:buSzPts val="2000"/>
              <a:buChar char="●"/>
            </a:pPr>
            <a:r>
              <a:rPr lang="en-GB" sz="2000"/>
              <a:t>SP flowcell</a:t>
            </a:r>
            <a:endParaRPr sz="2000"/>
          </a:p>
          <a:p>
            <a:pPr indent="-355600" lvl="0" marL="457200" rtl="0" algn="l">
              <a:spcBef>
                <a:spcPts val="1000"/>
              </a:spcBef>
              <a:spcAft>
                <a:spcPts val="0"/>
              </a:spcAft>
              <a:buSzPts val="2000"/>
              <a:buChar char="●"/>
            </a:pPr>
            <a:r>
              <a:rPr lang="en-GB" sz="2000"/>
              <a:t>v1 sequencing chemistry</a:t>
            </a:r>
            <a:endParaRPr sz="2000"/>
          </a:p>
          <a:p>
            <a:pPr indent="-355600" lvl="0" marL="457200" rtl="0" algn="l">
              <a:spcBef>
                <a:spcPts val="1000"/>
              </a:spcBef>
              <a:spcAft>
                <a:spcPts val="0"/>
              </a:spcAft>
              <a:buSzPts val="2000"/>
              <a:buChar char="●"/>
            </a:pPr>
            <a:r>
              <a:rPr lang="en-GB" sz="2000"/>
              <a:t>Include a sequencing library for the phage PhiX as 1% spike-in in the sequencing run</a:t>
            </a:r>
            <a:endParaRPr sz="2000"/>
          </a:p>
        </p:txBody>
      </p:sp>
      <p:sp>
        <p:nvSpPr>
          <p:cNvPr id="972" name="Google Shape;972;p76"/>
          <p:cNvSpPr txBox="1"/>
          <p:nvPr>
            <p:ph idx="11" type="ftr"/>
          </p:nvPr>
        </p:nvSpPr>
        <p:spPr>
          <a:xfrm>
            <a:off x="3124200" y="4767263"/>
            <a:ext cx="2895600" cy="27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GB"/>
              <a:t>‹#›</a:t>
            </a:fld>
            <a:endParaRPr/>
          </a:p>
        </p:txBody>
      </p:sp>
      <p:sp>
        <p:nvSpPr>
          <p:cNvPr id="973" name="Google Shape;973;p76"/>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Sequencing protocol</a:t>
            </a:r>
            <a:endParaRPr/>
          </a:p>
        </p:txBody>
      </p:sp>
      <p:pic>
        <p:nvPicPr>
          <p:cNvPr id="974" name="Google Shape;974;p76"/>
          <p:cNvPicPr preferRelativeResize="0"/>
          <p:nvPr/>
        </p:nvPicPr>
        <p:blipFill>
          <a:blip r:embed="rId3">
            <a:alphaModFix/>
          </a:blip>
          <a:stretch>
            <a:fillRect/>
          </a:stretch>
        </p:blipFill>
        <p:spPr>
          <a:xfrm>
            <a:off x="0" y="736875"/>
            <a:ext cx="3857625" cy="3857625"/>
          </a:xfrm>
          <a:prstGeom prst="rect">
            <a:avLst/>
          </a:prstGeom>
          <a:noFill/>
          <a:ln>
            <a:noFill/>
          </a:ln>
        </p:spPr>
      </p:pic>
      <p:pic>
        <p:nvPicPr>
          <p:cNvPr id="975" name="Google Shape;975;p76"/>
          <p:cNvPicPr preferRelativeResize="0"/>
          <p:nvPr/>
        </p:nvPicPr>
        <p:blipFill>
          <a:blip r:embed="rId4">
            <a:alphaModFix/>
          </a:blip>
          <a:stretch>
            <a:fillRect/>
          </a:stretch>
        </p:blipFill>
        <p:spPr>
          <a:xfrm rot="493881">
            <a:off x="2439990" y="2784138"/>
            <a:ext cx="1201822" cy="1605093"/>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9" name="Shape 979"/>
        <p:cNvGrpSpPr/>
        <p:nvPr/>
      </p:nvGrpSpPr>
      <p:grpSpPr>
        <a:xfrm>
          <a:off x="0" y="0"/>
          <a:ext cx="0" cy="0"/>
          <a:chOff x="0" y="0"/>
          <a:chExt cx="0" cy="0"/>
        </a:xfrm>
      </p:grpSpPr>
      <p:sp>
        <p:nvSpPr>
          <p:cNvPr id="980" name="Google Shape;980;p77"/>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Files delivered by NGI</a:t>
            </a:r>
            <a:endParaRPr/>
          </a:p>
        </p:txBody>
      </p:sp>
      <p:pic>
        <p:nvPicPr>
          <p:cNvPr id="981" name="Google Shape;981;p77"/>
          <p:cNvPicPr preferRelativeResize="0"/>
          <p:nvPr/>
        </p:nvPicPr>
        <p:blipFill>
          <a:blip r:embed="rId3">
            <a:alphaModFix/>
          </a:blip>
          <a:stretch>
            <a:fillRect/>
          </a:stretch>
        </p:blipFill>
        <p:spPr>
          <a:xfrm>
            <a:off x="288225" y="3453025"/>
            <a:ext cx="5992749" cy="1178900"/>
          </a:xfrm>
          <a:prstGeom prst="rect">
            <a:avLst/>
          </a:prstGeom>
          <a:noFill/>
          <a:ln>
            <a:noFill/>
          </a:ln>
        </p:spPr>
      </p:pic>
      <p:pic>
        <p:nvPicPr>
          <p:cNvPr id="982" name="Google Shape;982;p77"/>
          <p:cNvPicPr preferRelativeResize="0"/>
          <p:nvPr/>
        </p:nvPicPr>
        <p:blipFill rotWithShape="1">
          <a:blip r:embed="rId4">
            <a:alphaModFix/>
          </a:blip>
          <a:srcRect b="46479" l="0" r="35649" t="6887"/>
          <a:stretch/>
        </p:blipFill>
        <p:spPr>
          <a:xfrm>
            <a:off x="288225" y="1067525"/>
            <a:ext cx="1735925" cy="2385500"/>
          </a:xfrm>
          <a:prstGeom prst="rect">
            <a:avLst/>
          </a:prstGeom>
          <a:noFill/>
          <a:ln>
            <a:noFill/>
          </a:ln>
        </p:spPr>
      </p:pic>
      <p:pic>
        <p:nvPicPr>
          <p:cNvPr id="983" name="Google Shape;983;p77"/>
          <p:cNvPicPr preferRelativeResize="0"/>
          <p:nvPr/>
        </p:nvPicPr>
        <p:blipFill>
          <a:blip r:embed="rId5">
            <a:alphaModFix/>
          </a:blip>
          <a:stretch>
            <a:fillRect/>
          </a:stretch>
        </p:blipFill>
        <p:spPr>
          <a:xfrm>
            <a:off x="2024150" y="778425"/>
            <a:ext cx="2764051" cy="2820049"/>
          </a:xfrm>
          <a:prstGeom prst="rect">
            <a:avLst/>
          </a:prstGeom>
          <a:noFill/>
          <a:ln>
            <a:noFill/>
          </a:ln>
        </p:spPr>
      </p:pic>
      <p:pic>
        <p:nvPicPr>
          <p:cNvPr id="984" name="Google Shape;984;p77"/>
          <p:cNvPicPr preferRelativeResize="0"/>
          <p:nvPr/>
        </p:nvPicPr>
        <p:blipFill rotWithShape="1">
          <a:blip r:embed="rId4">
            <a:alphaModFix/>
          </a:blip>
          <a:srcRect b="93109" l="0" r="2865" t="0"/>
          <a:stretch/>
        </p:blipFill>
        <p:spPr>
          <a:xfrm>
            <a:off x="6280975" y="3866250"/>
            <a:ext cx="2727625" cy="366896"/>
          </a:xfrm>
          <a:prstGeom prst="rect">
            <a:avLst/>
          </a:prstGeom>
          <a:noFill/>
          <a:ln>
            <a:noFill/>
          </a:ln>
        </p:spPr>
      </p:pic>
      <p:pic>
        <p:nvPicPr>
          <p:cNvPr id="985" name="Google Shape;985;p77"/>
          <p:cNvPicPr preferRelativeResize="0"/>
          <p:nvPr/>
        </p:nvPicPr>
        <p:blipFill>
          <a:blip r:embed="rId6">
            <a:alphaModFix/>
          </a:blip>
          <a:stretch>
            <a:fillRect/>
          </a:stretch>
        </p:blipFill>
        <p:spPr>
          <a:xfrm rot="201539">
            <a:off x="4516599" y="838925"/>
            <a:ext cx="2036701" cy="2638302"/>
          </a:xfrm>
          <a:prstGeom prst="rect">
            <a:avLst/>
          </a:prstGeom>
          <a:noFill/>
          <a:ln>
            <a:noFill/>
          </a:ln>
          <a:effectLst>
            <a:outerShdw blurRad="57150" rotWithShape="0" algn="bl" dir="5400000" dist="19050">
              <a:srgbClr val="000000">
                <a:alpha val="50000"/>
              </a:srgbClr>
            </a:outerShdw>
          </a:effectLst>
        </p:spPr>
      </p:pic>
      <p:pic>
        <p:nvPicPr>
          <p:cNvPr id="986" name="Google Shape;986;p77"/>
          <p:cNvPicPr preferRelativeResize="0"/>
          <p:nvPr/>
        </p:nvPicPr>
        <p:blipFill>
          <a:blip r:embed="rId7">
            <a:alphaModFix/>
          </a:blip>
          <a:stretch>
            <a:fillRect/>
          </a:stretch>
        </p:blipFill>
        <p:spPr>
          <a:xfrm>
            <a:off x="5874950" y="1294275"/>
            <a:ext cx="3269056" cy="26278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